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6" r:id="rId13"/>
    <p:sldId id="269" r:id="rId14"/>
    <p:sldId id="265" r:id="rId15"/>
    <p:sldId id="267" r:id="rId16"/>
    <p:sldId id="268" r:id="rId17"/>
  </p:sldIdLst>
  <p:sldSz cx="9144000" cy="5143500" type="screen16x9"/>
  <p:notesSz cx="5143500" cy="9144000"/>
  <p:defaultTextStyle>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16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4" d="100"/>
          <a:sy n="144" d="100"/>
        </p:scale>
        <p:origin x="654" y="114"/>
      </p:cViewPr>
      <p:guideLst>
        <p:guide pos="2880"/>
        <p:guide orient="horz" pos="1620"/>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25921209" name="Slide Image Placeholder 1"/>
          <p:cNvSpPr>
            <a:spLocks noGrp="1" noRot="1" noChangeAspect="1"/>
          </p:cNvSpPr>
          <p:nvPr>
            <p:ph type="sldImg"/>
          </p:nvPr>
        </p:nvSpPr>
        <p:spPr bwMode="auto"/>
      </p:sp>
      <p:sp>
        <p:nvSpPr>
          <p:cNvPr id="1097001981" name="Notes Placeholder 2"/>
          <p:cNvSpPr>
            <a:spLocks noGrp="1"/>
          </p:cNvSpPr>
          <p:nvPr>
            <p:ph type="body" idx="1"/>
          </p:nvPr>
        </p:nvSpPr>
        <p:spPr bwMode="auto"/>
        <p:txBody>
          <a:bodyPr/>
          <a:lstStyle/>
          <a:p>
            <a:pPr>
              <a:defRPr/>
            </a:pPr>
            <a:endParaRPr lang="en-US"/>
          </a:p>
        </p:txBody>
      </p:sp>
      <p:sp>
        <p:nvSpPr>
          <p:cNvPr id="1648477878" name="Slide Number Placeholder 3"/>
          <p:cNvSpPr>
            <a:spLocks noGrp="1"/>
          </p:cNvSpPr>
          <p:nvPr>
            <p:ph type="sldNum" sz="quarter" idx="10"/>
          </p:nvPr>
        </p:nvSpPr>
        <p:spPr bwMode="auto"/>
        <p:txBody>
          <a:bodyPr/>
          <a:lstStyle/>
          <a:p>
            <a:pPr>
              <a:defRPr/>
            </a:pPr>
            <a:fld id="{0C9D26DD-B951-22BF-2A9F-276ECCDD8E1A}"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36545275" name="Slide Image Placeholder 1"/>
          <p:cNvSpPr>
            <a:spLocks noGrp="1" noRot="1" noChangeAspect="1"/>
          </p:cNvSpPr>
          <p:nvPr>
            <p:ph type="sldImg"/>
          </p:nvPr>
        </p:nvSpPr>
        <p:spPr bwMode="auto"/>
      </p:sp>
      <p:sp>
        <p:nvSpPr>
          <p:cNvPr id="1405385557" name="Notes Placeholder 2"/>
          <p:cNvSpPr>
            <a:spLocks noGrp="1"/>
          </p:cNvSpPr>
          <p:nvPr>
            <p:ph type="body" idx="1"/>
          </p:nvPr>
        </p:nvSpPr>
        <p:spPr bwMode="auto"/>
        <p:txBody>
          <a:bodyPr/>
          <a:lstStyle/>
          <a:p>
            <a:pPr>
              <a:defRPr/>
            </a:pPr>
            <a:endParaRPr lang="en-US"/>
          </a:p>
        </p:txBody>
      </p:sp>
      <p:sp>
        <p:nvSpPr>
          <p:cNvPr id="1546325588" name="Slide Number Placeholder 3"/>
          <p:cNvSpPr>
            <a:spLocks noGrp="1"/>
          </p:cNvSpPr>
          <p:nvPr>
            <p:ph type="sldNum" sz="quarter" idx="10"/>
          </p:nvPr>
        </p:nvSpPr>
        <p:spPr bwMode="auto"/>
        <p:txBody>
          <a:bodyPr/>
          <a:lstStyle/>
          <a:p>
            <a:pPr>
              <a:defRPr/>
            </a:pPr>
            <a:fld id="{5AEDB4A7-5071-18BD-B6B4-38E977FFB6F8}"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87759" name="Slide Image Placeholder 1"/>
          <p:cNvSpPr>
            <a:spLocks noGrp="1" noRot="1" noChangeAspect="1"/>
          </p:cNvSpPr>
          <p:nvPr>
            <p:ph type="sldImg"/>
          </p:nvPr>
        </p:nvSpPr>
        <p:spPr bwMode="auto"/>
      </p:sp>
      <p:sp>
        <p:nvSpPr>
          <p:cNvPr id="2046052894" name="Notes Placeholder 2"/>
          <p:cNvSpPr>
            <a:spLocks noGrp="1"/>
          </p:cNvSpPr>
          <p:nvPr>
            <p:ph type="body" idx="1"/>
          </p:nvPr>
        </p:nvSpPr>
        <p:spPr bwMode="auto"/>
        <p:txBody>
          <a:bodyPr/>
          <a:lstStyle/>
          <a:p>
            <a:pPr>
              <a:defRPr/>
            </a:pPr>
            <a:endParaRPr lang="en-US"/>
          </a:p>
        </p:txBody>
      </p:sp>
      <p:sp>
        <p:nvSpPr>
          <p:cNvPr id="215785606" name="Slide Number Placeholder 3"/>
          <p:cNvSpPr>
            <a:spLocks noGrp="1"/>
          </p:cNvSpPr>
          <p:nvPr>
            <p:ph type="sldNum" sz="quarter" idx="10"/>
          </p:nvPr>
        </p:nvSpPr>
        <p:spPr bwMode="auto"/>
        <p:txBody>
          <a:bodyPr/>
          <a:lstStyle/>
          <a:p>
            <a:pPr>
              <a:defRPr/>
            </a:pPr>
            <a:fld id="{D58C9147-EE3C-77A9-5C72-1889BA554ECA}"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userDrawn="1">
  <p:cSld name="Title Slide">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
        <p:nvSpPr>
          <p:cNvPr id="3" name="Subtitle 2"/>
          <p:cNvSpPr>
            <a:spLocks noGrp="1"/>
          </p:cNvSpPr>
          <p:nvPr>
            <p:ph type="subTitle" idx="1"/>
          </p:nvPr>
        </p:nvSpPr>
        <p:spPr bwMode="auto">
          <a:xfrm>
            <a:off x="1403646" y="2409732"/>
            <a:ext cx="6400800" cy="1314450"/>
          </a:xfrm>
        </p:spPr>
        <p:txBody>
          <a:bodyPr>
            <a:normAutofit/>
          </a:bodyPr>
          <a:lstStyle>
            <a:lvl1pPr marL="0" indent="0" algn="ctr">
              <a:buNone/>
              <a:defRPr sz="3200">
                <a:solidFill>
                  <a:schemeClr val="accent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t>Click to edit Master subtitle style</a:t>
            </a:r>
          </a:p>
        </p:txBody>
      </p:sp>
      <p:sp>
        <p:nvSpPr>
          <p:cNvPr id="12" name="Title 1"/>
          <p:cNvSpPr>
            <a:spLocks noGrp="1"/>
          </p:cNvSpPr>
          <p:nvPr>
            <p:ph type="title"/>
          </p:nvPr>
        </p:nvSpPr>
        <p:spPr bwMode="auto">
          <a:xfrm>
            <a:off x="690040" y="903642"/>
            <a:ext cx="7754712" cy="1433036"/>
          </a:xfrm>
        </p:spPr>
        <p:txBody>
          <a:bodyPr anchor="b"/>
          <a:lstStyle>
            <a:lvl1pPr algn="ctr">
              <a:defRPr sz="5400" b="0" cap="none">
                <a:solidFill>
                  <a:schemeClr val="accent1">
                    <a:lumMod val="75000"/>
                  </a:schemeClr>
                </a:solidFill>
              </a:defRPr>
            </a:lvl1pPr>
          </a:lstStyle>
          <a:p>
            <a:pPr>
              <a:defRPr/>
            </a:pPr>
            <a:r>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showMasterPhAnim="0" userDrawn="1">
  <p:cSld name="Title and Content">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3" name="Content Placeholder 2"/>
          <p:cNvSpPr>
            <a:spLocks noGrp="1"/>
          </p:cNvSpPr>
          <p:nvPr>
            <p:ph idx="1"/>
          </p:nvPr>
        </p:nvSpPr>
        <p:spPr bwMode="auto"/>
        <p:txBody>
          <a:body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
        <p:nvSpPr>
          <p:cNvPr id="11" name="Title 10"/>
          <p:cNvSpPr>
            <a:spLocks noGrp="1"/>
          </p:cNvSpPr>
          <p:nvPr>
            <p:ph type="title"/>
          </p:nvPr>
        </p:nvSpPr>
        <p:spPr bwMode="auto"/>
        <p:txBody>
          <a:bodyPr/>
          <a:lstStyle/>
          <a:p>
            <a:pPr>
              <a:defRPr/>
            </a:pPr>
            <a:r>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showMasterPhAnim="0" userDrawn="1">
  <p:cSld name="Section Header">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3" name="Text Placeholder 2"/>
          <p:cNvSpPr>
            <a:spLocks noGrp="1"/>
          </p:cNvSpPr>
          <p:nvPr>
            <p:ph type="body" idx="1"/>
          </p:nvPr>
        </p:nvSpPr>
        <p:spPr bwMode="auto">
          <a:xfrm>
            <a:off x="699248" y="1113588"/>
            <a:ext cx="7734746" cy="3078342"/>
          </a:xfrm>
        </p:spPr>
        <p:txBody>
          <a:bodyPr anchor="t">
            <a:normAutofit/>
          </a:bodyPr>
          <a:lstStyle>
            <a:lvl1pPr marL="0" indent="0" algn="ctr">
              <a:buNone/>
              <a:defRPr sz="280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t>Click to edit Master text styles</a:t>
            </a:r>
          </a:p>
        </p:txBody>
      </p:sp>
      <p:sp>
        <p:nvSpPr>
          <p:cNvPr id="13" name="Title 10"/>
          <p:cNvSpPr>
            <a:spLocks noGrp="1"/>
          </p:cNvSpPr>
          <p:nvPr>
            <p:ph type="title"/>
          </p:nvPr>
        </p:nvSpPr>
        <p:spPr bwMode="auto">
          <a:xfrm>
            <a:off x="693868" y="87473"/>
            <a:ext cx="7756263" cy="790687"/>
          </a:xfrm>
        </p:spPr>
        <p:txBody>
          <a:bodyPr/>
          <a:lstStyle/>
          <a:p>
            <a:pPr>
              <a:defRPr/>
            </a:pPr>
            <a:r>
              <a:t>Click to edit Master title style</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showMasterPhAnim="0" userDrawn="1">
  <p:cSld name="Two Content">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12" name="Title 11"/>
          <p:cNvSpPr>
            <a:spLocks noGrp="1"/>
          </p:cNvSpPr>
          <p:nvPr>
            <p:ph type="title"/>
          </p:nvPr>
        </p:nvSpPr>
        <p:spPr bwMode="auto"/>
        <p:txBody>
          <a:bodyPr/>
          <a:lstStyle>
            <a:lvl1pPr>
              <a:defRPr>
                <a:solidFill>
                  <a:schemeClr val="tx2"/>
                </a:solidFill>
              </a:defRPr>
            </a:lvl1pPr>
          </a:lstStyle>
          <a:p>
            <a:pPr>
              <a:defRPr/>
            </a:pPr>
            <a:r>
              <a:t>Click to edit Master title style</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
        <p:nvSpPr>
          <p:cNvPr id="18" name="Content Placeholder 3"/>
          <p:cNvSpPr>
            <a:spLocks noGrp="1"/>
          </p:cNvSpPr>
          <p:nvPr>
            <p:ph sz="half" idx="2"/>
          </p:nvPr>
        </p:nvSpPr>
        <p:spPr bwMode="auto">
          <a:xfrm>
            <a:off x="539551" y="1167594"/>
            <a:ext cx="3803904" cy="3422827"/>
          </a:xfrm>
        </p:spPr>
        <p:txBody>
          <a:bodyPr/>
          <a:lstStyle>
            <a:lvl1pPr marL="174625" indent="-174625">
              <a:defRPr sz="2400"/>
            </a:lvl1pPr>
            <a:lvl2pPr marL="533400" indent="-174625">
              <a:defRPr sz="2000"/>
            </a:lvl2pPr>
            <a:lvl3pPr marL="892175" indent="-172720">
              <a:tabLst>
                <a:tab pos="804545" algn="l"/>
              </a:tabLst>
              <a:defRPr sz="1800"/>
            </a:lvl3pPr>
            <a:lvl4pPr marL="1252220" indent="-174625">
              <a:defRPr sz="1600"/>
            </a:lvl4pPr>
            <a:lvl5pPr marL="1524000" indent="-174625">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9" name="Content Placeholder 3"/>
          <p:cNvSpPr>
            <a:spLocks noGrp="1"/>
          </p:cNvSpPr>
          <p:nvPr>
            <p:ph sz="half" idx="13"/>
          </p:nvPr>
        </p:nvSpPr>
        <p:spPr bwMode="auto">
          <a:xfrm>
            <a:off x="4716015" y="1167594"/>
            <a:ext cx="3803904" cy="3422827"/>
          </a:xfrm>
        </p:spPr>
        <p:txBody>
          <a:bodyPr/>
          <a:lstStyle>
            <a:lvl1pPr marL="174625" indent="-174625">
              <a:defRPr sz="2400"/>
            </a:lvl1pPr>
            <a:lvl2pPr marL="533400" indent="-174625">
              <a:defRPr sz="2000"/>
            </a:lvl2pPr>
            <a:lvl3pPr marL="892175" indent="-172720">
              <a:tabLst>
                <a:tab pos="804545" algn="l"/>
              </a:tabLst>
              <a:defRPr sz="1800"/>
            </a:lvl3pPr>
            <a:lvl4pPr marL="1252220" indent="-174625">
              <a:defRPr sz="1600"/>
            </a:lvl4pPr>
            <a:lvl5pPr marL="1524000" indent="-174625">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showMasterPhAnim="0" userDrawn="1">
  <p:cSld name="Comparison">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lvl1pPr>
              <a:defRPr/>
            </a:lvl1pPr>
          </a:lstStyle>
          <a:p>
            <a:pPr>
              <a:defRPr/>
            </a:pPr>
            <a:r>
              <a:t>Click to edit Master title style</a:t>
            </a:r>
          </a:p>
        </p:txBody>
      </p:sp>
      <p:sp>
        <p:nvSpPr>
          <p:cNvPr id="3" name="Text Placeholder 2"/>
          <p:cNvSpPr>
            <a:spLocks noGrp="1"/>
          </p:cNvSpPr>
          <p:nvPr>
            <p:ph type="body" idx="1"/>
          </p:nvPr>
        </p:nvSpPr>
        <p:spPr bwMode="auto">
          <a:xfrm>
            <a:off x="539551" y="1167593"/>
            <a:ext cx="3810438" cy="493776"/>
          </a:xfrm>
        </p:spPr>
        <p:txBody>
          <a:bodyPr anchor="b"/>
          <a:lstStyle>
            <a:lvl1pPr marL="0" indent="0" algn="ctr">
              <a:buNone/>
              <a:defRPr sz="2400" b="0">
                <a:solidFill>
                  <a:schemeClr val="accent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t>Click to edit Master text styles</a:t>
            </a:r>
          </a:p>
        </p:txBody>
      </p:sp>
      <p:sp>
        <p:nvSpPr>
          <p:cNvPr id="4" name="Content Placeholder 3"/>
          <p:cNvSpPr>
            <a:spLocks noGrp="1"/>
          </p:cNvSpPr>
          <p:nvPr>
            <p:ph sz="half" idx="2"/>
          </p:nvPr>
        </p:nvSpPr>
        <p:spPr bwMode="auto">
          <a:xfrm>
            <a:off x="539551" y="1869671"/>
            <a:ext cx="3803904" cy="2720749"/>
          </a:xfrm>
        </p:spPr>
        <p:txBody>
          <a:bodyPr/>
          <a:lstStyle>
            <a:lvl1pPr marL="174625" indent="-174625">
              <a:defRPr sz="2400"/>
            </a:lvl1pPr>
            <a:lvl2pPr marL="533400" indent="-174625">
              <a:defRPr sz="2000"/>
            </a:lvl2pPr>
            <a:lvl3pPr marL="892175" indent="-172720">
              <a:tabLst>
                <a:tab pos="804545" algn="l"/>
              </a:tabLst>
              <a:defRPr sz="1800"/>
            </a:lvl3pPr>
            <a:lvl4pPr marL="1252220" indent="-174625">
              <a:defRPr sz="1600"/>
            </a:lvl4pPr>
            <a:lvl5pPr marL="1524000" indent="-174625">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5" name="Text Placeholder 4"/>
          <p:cNvSpPr>
            <a:spLocks noGrp="1"/>
          </p:cNvSpPr>
          <p:nvPr>
            <p:ph type="body" sz="quarter" idx="3"/>
          </p:nvPr>
        </p:nvSpPr>
        <p:spPr bwMode="auto">
          <a:xfrm>
            <a:off x="4788023" y="1167593"/>
            <a:ext cx="3805585" cy="493776"/>
          </a:xfrm>
        </p:spPr>
        <p:txBody>
          <a:bodyPr anchor="b"/>
          <a:lstStyle>
            <a:lvl1pPr marL="0" indent="0" algn="ctr">
              <a:buNone/>
              <a:defRPr sz="2400" b="0">
                <a:solidFill>
                  <a:schemeClr val="accent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t>Click to edit Master text styles</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
        <p:nvSpPr>
          <p:cNvPr id="19" name="Content Placeholder 3"/>
          <p:cNvSpPr>
            <a:spLocks noGrp="1"/>
          </p:cNvSpPr>
          <p:nvPr>
            <p:ph sz="half" idx="13"/>
          </p:nvPr>
        </p:nvSpPr>
        <p:spPr bwMode="auto">
          <a:xfrm>
            <a:off x="4716015" y="1869672"/>
            <a:ext cx="3803904" cy="2835049"/>
          </a:xfrm>
        </p:spPr>
        <p:txBody>
          <a:bodyPr/>
          <a:lstStyle>
            <a:lvl1pPr marL="174625" indent="-174625">
              <a:defRPr sz="2400"/>
            </a:lvl1pPr>
            <a:lvl2pPr marL="533400" indent="-174625">
              <a:defRPr sz="2000"/>
            </a:lvl2pPr>
            <a:lvl3pPr marL="892175" indent="-172720">
              <a:tabLst>
                <a:tab pos="804545" algn="l"/>
              </a:tabLst>
              <a:defRPr sz="1800"/>
            </a:lvl3pPr>
            <a:lvl4pPr marL="1252220" indent="-174625">
              <a:defRPr sz="1600"/>
            </a:lvl4pPr>
            <a:lvl5pPr marL="1524000" indent="-174625">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showMasterPhAnim="0" userDrawn="1">
  <p:cSld name="Title Only">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t>Click to edit Master title style</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showMasterPhAnim="0" userDrawn="1">
  <p:cSld name="Blank">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showMasterPhAnim="0" userDrawn="1">
  <p:cSld name="Content with Caption">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5034579" y="447730"/>
            <a:ext cx="3422482" cy="1415190"/>
          </a:xfrm>
        </p:spPr>
        <p:txBody>
          <a:bodyPr anchor="b"/>
          <a:lstStyle>
            <a:lvl1pPr algn="l">
              <a:defRPr sz="2800" b="0"/>
            </a:lvl1pPr>
          </a:lstStyle>
          <a:p>
            <a:pPr>
              <a:defRPr/>
            </a:pPr>
            <a:r>
              <a:t>Click to edit Master title style</a:t>
            </a:r>
          </a:p>
        </p:txBody>
      </p:sp>
      <p:sp>
        <p:nvSpPr>
          <p:cNvPr id="3" name="Content Placeholder 2"/>
          <p:cNvSpPr>
            <a:spLocks noGrp="1"/>
          </p:cNvSpPr>
          <p:nvPr>
            <p:ph idx="1"/>
          </p:nvPr>
        </p:nvSpPr>
        <p:spPr bwMode="auto">
          <a:xfrm>
            <a:off x="692001" y="419548"/>
            <a:ext cx="4116666" cy="4175073"/>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4" name="Text Placeholder 3"/>
          <p:cNvSpPr>
            <a:spLocks noGrp="1"/>
          </p:cNvSpPr>
          <p:nvPr>
            <p:ph type="body" sz="half" idx="2"/>
          </p:nvPr>
        </p:nvSpPr>
        <p:spPr bwMode="auto">
          <a:xfrm>
            <a:off x="5034579" y="1964181"/>
            <a:ext cx="3411724" cy="2626642"/>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t>Click to edit Master text styles</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showMasterPhAnim="0" userDrawn="1">
  <p:cSld name="Picture with Caption">
    <p:bg>
      <p:bgPr>
        <a:blipFill>
          <a:blip r:embed="rId2">
            <a:lum/>
          </a:blip>
          <a:stretch>
            <a:fillRect/>
          </a:stretch>
        </a:blipFill>
        <a:effectLst/>
      </p:bgPr>
    </p:bg>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77730" y="3501613"/>
            <a:ext cx="7767020" cy="483546"/>
          </a:xfrm>
        </p:spPr>
        <p:txBody>
          <a:bodyPr anchor="b"/>
          <a:lstStyle>
            <a:lvl1pPr algn="ctr">
              <a:defRPr sz="2800" b="0"/>
            </a:lvl1pPr>
          </a:lstStyle>
          <a:p>
            <a:pPr>
              <a:defRPr/>
            </a:pPr>
            <a:r>
              <a:t>Click to edit Master title style</a:t>
            </a:r>
          </a:p>
        </p:txBody>
      </p:sp>
      <p:sp>
        <p:nvSpPr>
          <p:cNvPr id="4" name="Text Placeholder 3"/>
          <p:cNvSpPr>
            <a:spLocks noGrp="1"/>
          </p:cNvSpPr>
          <p:nvPr>
            <p:ph type="body" sz="half" idx="2"/>
          </p:nvPr>
        </p:nvSpPr>
        <p:spPr bwMode="auto">
          <a:xfrm>
            <a:off x="688488" y="3993228"/>
            <a:ext cx="7756263" cy="603646"/>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t>Click to edit Master text styles</a:t>
            </a:r>
          </a:p>
        </p:txBody>
      </p:sp>
      <p:sp>
        <p:nvSpPr>
          <p:cNvPr id="11" name="Picture Placeholder 2"/>
          <p:cNvSpPr>
            <a:spLocks noGrp="1"/>
          </p:cNvSpPr>
          <p:nvPr>
            <p:ph type="pic" idx="1"/>
          </p:nvPr>
        </p:nvSpPr>
        <p:spPr bwMode="auto">
          <a:xfrm>
            <a:off x="1907704" y="465515"/>
            <a:ext cx="5197090" cy="2923363"/>
          </a:xfrm>
        </p:spPr>
        <p:txBody>
          <a:bodyPr/>
          <a:lstStyle>
            <a:lvl1pPr marL="0" indent="0">
              <a:buNone/>
              <a:defRPr sz="3200">
                <a:solidFill>
                  <a:schemeClr val="accent1">
                    <a:lumMod val="7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t>Click icon to add picture</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lum/>
          </a:blip>
          <a:stretch>
            <a:fillRect/>
          </a:stretch>
        </a:blipFill>
        <a:effectLst/>
      </p:bgPr>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693868" y="87473"/>
            <a:ext cx="7756263" cy="790687"/>
          </a:xfrm>
          <a:prstGeom prst="rect">
            <a:avLst/>
          </a:prstGeom>
        </p:spPr>
        <p:txBody>
          <a:bodyPr vert="horz" lIns="91440" tIns="45720" rIns="91440" bIns="45720" rtlCol="0" anchor="ctr">
            <a:noAutofit/>
          </a:bodyPr>
          <a:lstStyle/>
          <a:p>
            <a:pPr>
              <a:defRPr/>
            </a:pPr>
            <a:r>
              <a:t>Click to edit Master title style</a:t>
            </a:r>
          </a:p>
        </p:txBody>
      </p:sp>
      <p:sp>
        <p:nvSpPr>
          <p:cNvPr id="3" name="Text Placeholder 2"/>
          <p:cNvSpPr>
            <a:spLocks noGrp="1"/>
          </p:cNvSpPr>
          <p:nvPr>
            <p:ph type="body" idx="1"/>
          </p:nvPr>
        </p:nvSpPr>
        <p:spPr bwMode="auto">
          <a:xfrm>
            <a:off x="699247" y="1329611"/>
            <a:ext cx="7745504" cy="3240360"/>
          </a:xfrm>
          <a:prstGeom prst="rect">
            <a:avLst/>
          </a:prstGeom>
        </p:spPr>
        <p:txBody>
          <a:bodyPr vert="horz" lIns="91440" tIns="45720" rIns="91440" bIns="45720" rtlCol="0">
            <a:normAutofit/>
          </a:body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8" name="Date Placeholder 4"/>
          <p:cNvSpPr>
            <a:spLocks noGrp="1"/>
          </p:cNvSpPr>
          <p:nvPr>
            <p:ph type="dt" sz="half" idx="10"/>
          </p:nvPr>
        </p:nvSpPr>
        <p:spPr bwMode="auto">
          <a:xfrm>
            <a:off x="433534" y="4623976"/>
            <a:ext cx="2133599" cy="273843"/>
          </a:xfrm>
          <a:prstGeom prst="rect">
            <a:avLst/>
          </a:prstGeom>
        </p:spPr>
        <p:txBody>
          <a:bodyPr/>
          <a:lstStyle>
            <a:lvl1pPr>
              <a:defRPr>
                <a:solidFill>
                  <a:srgbClr val="603636"/>
                </a:solidFill>
              </a:defRPr>
            </a:lvl1pPr>
          </a:lstStyle>
          <a:p>
            <a:pPr>
              <a:defRPr/>
            </a:pPr>
            <a:fld id="{51E84241-D031-42DE-84E4-CC10C30232F4}" type="datetimeFigureOut">
              <a:rPr/>
            </a:fld>
            <a:endParaRPr/>
          </a:p>
        </p:txBody>
      </p:sp>
      <p:sp>
        <p:nvSpPr>
          <p:cNvPr id="9" name="Footer Placeholder 5"/>
          <p:cNvSpPr>
            <a:spLocks noGrp="1"/>
          </p:cNvSpPr>
          <p:nvPr>
            <p:ph type="ftr" sz="quarter" idx="11"/>
          </p:nvPr>
        </p:nvSpPr>
        <p:spPr bwMode="auto">
          <a:xfrm>
            <a:off x="3100536" y="4623976"/>
            <a:ext cx="2895598" cy="273843"/>
          </a:xfrm>
          <a:prstGeom prst="rect">
            <a:avLst/>
          </a:prstGeom>
        </p:spPr>
        <p:txBody>
          <a:bodyPr/>
          <a:lstStyle>
            <a:lvl1pPr>
              <a:defRPr>
                <a:solidFill>
                  <a:srgbClr val="603636"/>
                </a:solidFill>
              </a:defRPr>
            </a:lvl1pPr>
          </a:lstStyle>
          <a:p>
            <a:pPr>
              <a:defRPr/>
            </a:pPr>
          </a:p>
        </p:txBody>
      </p:sp>
      <p:sp>
        <p:nvSpPr>
          <p:cNvPr id="10" name="Slide Number Placeholder 6"/>
          <p:cNvSpPr>
            <a:spLocks noGrp="1"/>
          </p:cNvSpPr>
          <p:nvPr>
            <p:ph type="sldNum" sz="quarter" idx="12"/>
          </p:nvPr>
        </p:nvSpPr>
        <p:spPr bwMode="auto">
          <a:xfrm>
            <a:off x="6529536" y="4623976"/>
            <a:ext cx="2133599" cy="273843"/>
          </a:xfrm>
          <a:prstGeom prst="rect">
            <a:avLst/>
          </a:prstGeom>
        </p:spPr>
        <p:txBody>
          <a:bodyPr/>
          <a:lstStyle>
            <a:lvl1pPr>
              <a:defRPr>
                <a:solidFill>
                  <a:srgbClr val="603636"/>
                </a:solidFill>
              </a:defRPr>
            </a:lvl1pPr>
          </a:lstStyle>
          <a:p>
            <a:pPr>
              <a:defRPr/>
            </a:pPr>
            <a:fld id="{6B5AA3AA-5EA9-4976-BF6C-9891F6110747}"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a:spcBef>
          <a:spcPts val="0"/>
        </a:spcBef>
        <a:buNone/>
        <a:defRPr sz="4400">
          <a:solidFill>
            <a:schemeClr val="tx2"/>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p:titleStyle>
    <p:bodyStyle>
      <a:lvl1pPr marL="342900" indent="-342900" algn="l" defTabSz="914400">
        <a:spcBef>
          <a:spcPts val="0"/>
        </a:spcBef>
        <a:buClrTx/>
        <a:buFont typeface="Arial" panose="020B0604020202020204"/>
        <a:buChar char="•"/>
        <a:defRPr sz="2400">
          <a:solidFill>
            <a:schemeClr val="tx2">
              <a:lumMod val="75000"/>
            </a:schemeClr>
          </a:solidFill>
          <a:latin typeface="+mn-lt"/>
          <a:ea typeface="+mn-ea"/>
          <a:cs typeface="+mn-cs"/>
        </a:defRPr>
      </a:lvl1pPr>
      <a:lvl2pPr marL="754380" indent="-342900" algn="l" defTabSz="914400">
        <a:spcBef>
          <a:spcPts val="0"/>
        </a:spcBef>
        <a:buClrTx/>
        <a:buFont typeface="Times New Roman" panose="02020603050405020304"/>
        <a:buChar char="–"/>
        <a:defRPr sz="2200">
          <a:solidFill>
            <a:schemeClr val="tx2">
              <a:lumMod val="75000"/>
            </a:schemeClr>
          </a:solidFill>
          <a:latin typeface="+mn-lt"/>
          <a:ea typeface="+mn-ea"/>
          <a:cs typeface="+mn-cs"/>
        </a:defRPr>
      </a:lvl2pPr>
      <a:lvl3pPr marL="1120140" indent="-342900" algn="l" defTabSz="914400">
        <a:spcBef>
          <a:spcPts val="0"/>
        </a:spcBef>
        <a:buClrTx/>
        <a:buFont typeface="Arial" panose="020B0604020202020204"/>
        <a:buChar char="•"/>
        <a:defRPr sz="2000">
          <a:solidFill>
            <a:schemeClr val="tx2">
              <a:lumMod val="75000"/>
            </a:schemeClr>
          </a:solidFill>
          <a:latin typeface="+mn-lt"/>
          <a:ea typeface="+mn-ea"/>
          <a:cs typeface="+mn-cs"/>
        </a:defRPr>
      </a:lvl3pPr>
      <a:lvl4pPr marL="1474470" indent="-285750" algn="l" defTabSz="914400">
        <a:spcBef>
          <a:spcPts val="0"/>
        </a:spcBef>
        <a:buClrTx/>
        <a:buFont typeface="Times New Roman" panose="02020603050405020304"/>
        <a:buChar char="–"/>
        <a:defRPr sz="1800">
          <a:solidFill>
            <a:schemeClr val="tx2">
              <a:lumMod val="75000"/>
            </a:schemeClr>
          </a:solidFill>
          <a:latin typeface="+mn-lt"/>
          <a:ea typeface="+mn-ea"/>
          <a:cs typeface="+mn-cs"/>
        </a:defRPr>
      </a:lvl4pPr>
      <a:lvl5pPr marL="1794510" indent="-285750" algn="l" defTabSz="914400">
        <a:spcBef>
          <a:spcPts val="0"/>
        </a:spcBef>
        <a:buClrTx/>
        <a:buFont typeface="Times New Roman" panose="02020603050405020304"/>
        <a:buChar char="»"/>
        <a:defRPr sz="1600">
          <a:solidFill>
            <a:schemeClr val="tx2">
              <a:lumMod val="75000"/>
            </a:schemeClr>
          </a:solidFill>
          <a:latin typeface="+mn-lt"/>
          <a:ea typeface="+mn-ea"/>
          <a:cs typeface="+mn-cs"/>
        </a:defRPr>
      </a:lvl5pPr>
      <a:lvl6pPr marL="2148840" indent="-274320" algn="l" defTabSz="914400">
        <a:spcBef>
          <a:spcPts val="400"/>
        </a:spcBef>
        <a:buClr>
          <a:schemeClr val="accent1"/>
        </a:buClr>
        <a:buFont typeface="Wingdings" panose="05000000000000000000"/>
        <a:buChar char=""/>
        <a:defRPr sz="1400">
          <a:solidFill>
            <a:schemeClr val="tx1"/>
          </a:solidFill>
          <a:latin typeface="+mn-lt"/>
          <a:ea typeface="+mn-ea"/>
          <a:cs typeface="+mn-cs"/>
        </a:defRPr>
      </a:lvl6pPr>
      <a:lvl7pPr marL="2468880" indent="-274320" algn="l" defTabSz="914400">
        <a:spcBef>
          <a:spcPts val="400"/>
        </a:spcBef>
        <a:buClr>
          <a:schemeClr val="accent1"/>
        </a:buClr>
        <a:buFont typeface="Wingdings" panose="05000000000000000000"/>
        <a:buChar char=""/>
        <a:defRPr sz="1400">
          <a:solidFill>
            <a:schemeClr val="tx1"/>
          </a:solidFill>
          <a:latin typeface="+mn-lt"/>
          <a:ea typeface="+mn-ea"/>
          <a:cs typeface="+mn-cs"/>
        </a:defRPr>
      </a:lvl7pPr>
      <a:lvl8pPr marL="2788920" indent="-274320" algn="l" defTabSz="914400">
        <a:spcBef>
          <a:spcPts val="400"/>
        </a:spcBef>
        <a:buClr>
          <a:schemeClr val="accent1"/>
        </a:buClr>
        <a:buFont typeface="Wingdings" panose="05000000000000000000"/>
        <a:buChar char=""/>
        <a:defRPr sz="1400">
          <a:solidFill>
            <a:schemeClr val="tx1"/>
          </a:solidFill>
          <a:latin typeface="+mn-lt"/>
          <a:ea typeface="+mn-ea"/>
          <a:cs typeface="+mn-cs"/>
        </a:defRPr>
      </a:lvl8pPr>
      <a:lvl9pPr marL="3108960" indent="-274320" algn="l" defTabSz="914400">
        <a:spcBef>
          <a:spcPts val="400"/>
        </a:spcBef>
        <a:buClr>
          <a:schemeClr val="accent1"/>
        </a:buClr>
        <a:buFont typeface="Wingdings" panose="05000000000000000000"/>
        <a:buChar char=""/>
        <a:defRPr sz="1400">
          <a:solidFill>
            <a:schemeClr val="tx1"/>
          </a:solidFill>
          <a:latin typeface="+mn-lt"/>
          <a:ea typeface="+mn-ea"/>
          <a:cs typeface="+mn-cs"/>
        </a:defRPr>
      </a:lvl9pPr>
    </p:bodyStyle>
    <p:other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10.xml"/><Relationship Id="rId2" Type="http://schemas.openxmlformats.org/officeDocument/2006/relationships/tags" Target="../tags/tag2.xml"/><Relationship Id="rId19" Type="http://schemas.openxmlformats.org/officeDocument/2006/relationships/slideLayout" Target="../slideLayouts/slideLayout2.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54864" cy="5070348"/>
          </a:xfrm>
          <a:prstGeom prst="rect">
            <a:avLst/>
          </a:prstGeom>
          <a:solidFill>
            <a:srgbClr val="FF6B35"/>
          </a:solidFill>
        </p:spPr>
      </p:sp>
      <p:sp>
        <p:nvSpPr>
          <p:cNvPr id="5" name="Text 3"/>
          <p:cNvSpPr/>
          <p:nvPr/>
        </p:nvSpPr>
        <p:spPr bwMode="auto">
          <a:xfrm>
            <a:off x="6400800" y="1005840"/>
            <a:ext cx="1828800" cy="1371600"/>
          </a:xfrm>
          <a:prstGeom prst="rect">
            <a:avLst/>
          </a:prstGeom>
          <a:noFill/>
        </p:spPr>
        <p:txBody>
          <a:bodyPr wrap="square" rtlCol="0" anchor="ctr"/>
          <a:lstStyle/>
          <a:p>
            <a:pPr marL="0" indent="0" algn="ctr">
              <a:buNone/>
              <a:defRPr/>
            </a:pPr>
            <a:endParaRPr lang="en-US" sz="6000"/>
          </a:p>
        </p:txBody>
      </p:sp>
      <p:sp>
        <p:nvSpPr>
          <p:cNvPr id="10" name="Text 8"/>
          <p:cNvSpPr/>
          <p:nvPr/>
        </p:nvSpPr>
        <p:spPr bwMode="auto">
          <a:xfrm>
            <a:off x="365760" y="594360"/>
            <a:ext cx="5120640" cy="1005840"/>
          </a:xfrm>
          <a:prstGeom prst="rect">
            <a:avLst/>
          </a:prstGeom>
          <a:noFill/>
        </p:spPr>
        <p:txBody>
          <a:bodyPr wrap="square" rtlCol="0" anchor="ctr"/>
          <a:lstStyle/>
          <a:p>
            <a:pPr marL="0" indent="0">
              <a:buNone/>
              <a:defRPr/>
            </a:pPr>
            <a:r>
              <a:rPr lang="en-US" sz="5400" b="1">
                <a:solidFill>
                  <a:srgbClr val="FFFFFF"/>
                </a:solidFill>
                <a:latin typeface="Impact" panose="020B0806030902050204"/>
                <a:ea typeface="Impact" panose="020B0806030902050204"/>
                <a:cs typeface="Impact" panose="020B0806030902050204"/>
              </a:rPr>
              <a:t>RANSOMWARE</a:t>
            </a:r>
            <a:endParaRPr lang="en-US" sz="5400"/>
          </a:p>
        </p:txBody>
      </p:sp>
      <p:sp>
        <p:nvSpPr>
          <p:cNvPr id="11" name="Text 9"/>
          <p:cNvSpPr/>
          <p:nvPr/>
        </p:nvSpPr>
        <p:spPr bwMode="auto">
          <a:xfrm>
            <a:off x="365760" y="1600200"/>
            <a:ext cx="5029200" cy="457200"/>
          </a:xfrm>
          <a:prstGeom prst="rect">
            <a:avLst/>
          </a:prstGeom>
          <a:noFill/>
        </p:spPr>
        <p:txBody>
          <a:bodyPr wrap="square" rtlCol="0" anchor="ctr"/>
          <a:lstStyle/>
          <a:p>
            <a:pPr marL="0" indent="0">
              <a:buNone/>
              <a:defRPr/>
            </a:pPr>
            <a:r>
              <a:rPr lang="en-US" sz="1500" i="1">
                <a:solidFill>
                  <a:srgbClr val="FF6B35"/>
                </a:solidFill>
              </a:rPr>
              <a:t>El Secuestro Digital de la Información</a:t>
            </a:r>
            <a:endParaRPr lang="en-US" sz="1500"/>
          </a:p>
        </p:txBody>
      </p:sp>
      <p:sp>
        <p:nvSpPr>
          <p:cNvPr id="12" name="Shape 10"/>
          <p:cNvSpPr/>
          <p:nvPr/>
        </p:nvSpPr>
        <p:spPr bwMode="auto">
          <a:xfrm>
            <a:off x="365760" y="2176272"/>
            <a:ext cx="3200400" cy="36576"/>
          </a:xfrm>
          <a:prstGeom prst="rect">
            <a:avLst/>
          </a:prstGeom>
          <a:solidFill>
            <a:srgbClr val="EF4444"/>
          </a:solidFill>
        </p:spPr>
      </p:sp>
      <p:sp>
        <p:nvSpPr>
          <p:cNvPr id="13" name="Text 11"/>
          <p:cNvSpPr/>
          <p:nvPr/>
        </p:nvSpPr>
        <p:spPr bwMode="auto">
          <a:xfrm>
            <a:off x="365760" y="2304288"/>
            <a:ext cx="5029200" cy="594360"/>
          </a:xfrm>
          <a:prstGeom prst="rect">
            <a:avLst/>
          </a:prstGeom>
          <a:noFill/>
        </p:spPr>
        <p:txBody>
          <a:bodyPr wrap="square" rtlCol="0" anchor="ctr"/>
          <a:lstStyle/>
          <a:p>
            <a:pPr marL="0" indent="0">
              <a:buNone/>
              <a:defRPr/>
            </a:pPr>
            <a:r>
              <a:rPr lang="en-US" sz="1200">
                <a:solidFill>
                  <a:srgbClr val="D1D5DB"/>
                </a:solidFill>
              </a:rPr>
              <a:t>Introduccion a la Ciberseguridad</a:t>
            </a:r>
            <a:endParaRPr lang="en-US" sz="1200"/>
          </a:p>
          <a:p>
            <a:pPr marL="0" indent="0">
              <a:buNone/>
              <a:defRPr/>
            </a:pPr>
            <a:r>
              <a:rPr lang="en-US" sz="1200">
                <a:solidFill>
                  <a:srgbClr val="D1D5DB"/>
                </a:solidFill>
              </a:rPr>
              <a:t>ITM - 2026</a:t>
            </a:r>
            <a:endParaRPr lang="en-US" sz="1200"/>
          </a:p>
        </p:txBody>
      </p:sp>
      <p:sp>
        <p:nvSpPr>
          <p:cNvPr id="14" name="Shape 12"/>
          <p:cNvSpPr/>
          <p:nvPr/>
        </p:nvSpPr>
        <p:spPr bwMode="auto">
          <a:xfrm>
            <a:off x="365760" y="3063240"/>
            <a:ext cx="5029200" cy="1600200"/>
          </a:xfrm>
          <a:prstGeom prst="rect">
            <a:avLst/>
          </a:prstGeom>
          <a:solidFill>
            <a:srgbClr val="1F2937"/>
          </a:solidFill>
          <a:ln w="12700">
            <a:solidFill>
              <a:srgbClr val="FF6B35"/>
            </a:solidFill>
            <a:prstDash val="solid"/>
          </a:ln>
        </p:spPr>
      </p:sp>
      <p:sp>
        <p:nvSpPr>
          <p:cNvPr id="15" name="Text 13"/>
          <p:cNvSpPr/>
          <p:nvPr/>
        </p:nvSpPr>
        <p:spPr bwMode="auto">
          <a:xfrm>
            <a:off x="502920" y="3154680"/>
            <a:ext cx="4754880" cy="274320"/>
          </a:xfrm>
          <a:prstGeom prst="rect">
            <a:avLst/>
          </a:prstGeom>
          <a:noFill/>
        </p:spPr>
        <p:txBody>
          <a:bodyPr wrap="square" rtlCol="0" anchor="ctr"/>
          <a:lstStyle/>
          <a:p>
            <a:pPr marL="0" indent="0">
              <a:buNone/>
              <a:defRPr/>
            </a:pPr>
            <a:r>
              <a:rPr lang="en-US" sz="900" b="1" spc="200">
                <a:solidFill>
                  <a:srgbClr val="FF6B35"/>
                </a:solidFill>
              </a:rPr>
              <a:t>INTEGRANTES DEL EQUIPO</a:t>
            </a:r>
            <a:endParaRPr lang="en-US" sz="900"/>
          </a:p>
        </p:txBody>
      </p:sp>
      <p:sp>
        <p:nvSpPr>
          <p:cNvPr id="16" name="Text 14"/>
          <p:cNvSpPr/>
          <p:nvPr/>
        </p:nvSpPr>
        <p:spPr bwMode="auto">
          <a:xfrm>
            <a:off x="502920" y="3214712"/>
            <a:ext cx="4754880" cy="1005840"/>
          </a:xfrm>
          <a:prstGeom prst="rect">
            <a:avLst/>
          </a:prstGeom>
          <a:noFill/>
        </p:spPr>
        <p:txBody>
          <a:bodyPr wrap="square" rtlCol="0" anchor="ctr"/>
          <a:lstStyle/>
          <a:p>
            <a:pPr marL="0" indent="0">
              <a:buNone/>
              <a:defRPr/>
            </a:pPr>
            <a:r>
              <a:rPr lang="en-US" sz="1300">
                <a:solidFill>
                  <a:srgbClr val="D1D5DB"/>
                </a:solidFill>
              </a:rPr>
              <a:t>▸  Cristian Cortes</a:t>
            </a:r>
            <a:endParaRPr lang="en-US" sz="1300"/>
          </a:p>
          <a:p>
            <a:pPr marL="0" indent="0">
              <a:buNone/>
              <a:defRPr/>
            </a:pPr>
            <a:r>
              <a:rPr lang="en-US" sz="1300">
                <a:solidFill>
                  <a:srgbClr val="D1D5DB"/>
                </a:solidFill>
              </a:rPr>
              <a:t>▸  Veronica Lopez</a:t>
            </a:r>
            <a:endParaRPr lang="en-US" sz="1300">
              <a:solidFill>
                <a:srgbClr val="D1D5DB"/>
              </a:solidFill>
            </a:endParaRPr>
          </a:p>
          <a:p>
            <a:pPr marL="0" indent="0">
              <a:buNone/>
              <a:defRPr/>
            </a:pPr>
            <a:r>
              <a:rPr lang="en-US" sz="1300">
                <a:solidFill>
                  <a:srgbClr val="D1D5DB"/>
                </a:solidFill>
              </a:rPr>
              <a:t>▸  Daniel Aguirre</a:t>
            </a:r>
            <a:endParaRPr lang="en-US" sz="13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890504428" name="Shape 0"/>
          <p:cNvSpPr/>
          <p:nvPr/>
        </p:nvSpPr>
        <p:spPr bwMode="auto">
          <a:xfrm>
            <a:off x="0" y="0"/>
            <a:ext cx="9144000" cy="73152"/>
          </a:xfrm>
          <a:prstGeom prst="rect">
            <a:avLst/>
          </a:prstGeom>
          <a:solidFill>
            <a:srgbClr val="EF4444"/>
          </a:solidFill>
        </p:spPr>
      </p:sp>
      <p:sp>
        <p:nvSpPr>
          <p:cNvPr id="1476576613" name="Shape 1"/>
          <p:cNvSpPr/>
          <p:nvPr/>
        </p:nvSpPr>
        <p:spPr bwMode="auto">
          <a:xfrm>
            <a:off x="0" y="73152"/>
            <a:ext cx="9144000" cy="777240"/>
          </a:xfrm>
          <a:prstGeom prst="rect">
            <a:avLst/>
          </a:prstGeom>
          <a:solidFill>
            <a:srgbClr val="161B22"/>
          </a:solidFill>
        </p:spPr>
      </p:sp>
      <p:sp>
        <p:nvSpPr>
          <p:cNvPr id="1999983732" name="Text 2"/>
          <p:cNvSpPr/>
          <p:nvPr/>
        </p:nvSpPr>
        <p:spPr bwMode="auto">
          <a:xfrm>
            <a:off x="338328" y="96012"/>
            <a:ext cx="8412480" cy="731520"/>
          </a:xfrm>
          <a:prstGeom prst="rect">
            <a:avLst/>
          </a:prstGeom>
          <a:noFill/>
        </p:spPr>
        <p:txBody>
          <a:bodyPr wrap="square" rtlCol="0" anchor="ctr"/>
          <a:lstStyle/>
          <a:p>
            <a:pPr marL="0" indent="0">
              <a:buNone/>
              <a:defRPr/>
            </a:pPr>
            <a:r>
              <a:rPr lang="en-US" sz="2200" b="1">
                <a:solidFill>
                  <a:srgbClr val="FFFFFF"/>
                </a:solidFill>
              </a:rPr>
              <a:t>  </a:t>
            </a:r>
            <a:r>
              <a:rPr lang="es-ES" sz="2200" b="1">
                <a:solidFill>
                  <a:srgbClr val="FFFFFF"/>
                </a:solidFill>
              </a:rPr>
              <a:t>    </a:t>
            </a:r>
            <a:r>
              <a:rPr lang="es-ES" sz="2200" b="1">
                <a:solidFill>
                  <a:srgbClr val="FFFFFF"/>
                </a:solidFill>
              </a:rPr>
              <a:t>¿QUÉ ES RANSOMWER?</a:t>
            </a:r>
            <a:endParaRPr lang="en-US" sz="2200"/>
          </a:p>
        </p:txBody>
      </p:sp>
      <p:sp>
        <p:nvSpPr>
          <p:cNvPr id="955369799" name="Shape 3"/>
          <p:cNvSpPr/>
          <p:nvPr/>
        </p:nvSpPr>
        <p:spPr bwMode="auto">
          <a:xfrm>
            <a:off x="292608" y="1005840"/>
            <a:ext cx="8595360" cy="1280160"/>
          </a:xfrm>
          <a:prstGeom prst="rect">
            <a:avLst/>
          </a:prstGeom>
          <a:solidFill>
            <a:srgbClr val="1A0A00"/>
          </a:solidFill>
          <a:ln w="25400">
            <a:solidFill>
              <a:srgbClr val="FF6B35"/>
            </a:solidFill>
            <a:prstDash val="solid"/>
          </a:ln>
        </p:spPr>
      </p:sp>
      <p:sp>
        <p:nvSpPr>
          <p:cNvPr id="1033989015" name="Shape 4"/>
          <p:cNvSpPr/>
          <p:nvPr/>
        </p:nvSpPr>
        <p:spPr bwMode="auto">
          <a:xfrm>
            <a:off x="274320" y="1005840"/>
            <a:ext cx="64008" cy="1280160"/>
          </a:xfrm>
          <a:prstGeom prst="rect">
            <a:avLst/>
          </a:prstGeom>
          <a:solidFill>
            <a:srgbClr val="FF6B35"/>
          </a:solidFill>
        </p:spPr>
      </p:sp>
      <p:sp>
        <p:nvSpPr>
          <p:cNvPr id="430614371" name="Text 6"/>
          <p:cNvSpPr/>
          <p:nvPr/>
        </p:nvSpPr>
        <p:spPr bwMode="auto">
          <a:xfrm>
            <a:off x="475487" y="1119020"/>
            <a:ext cx="8229600" cy="1085716"/>
          </a:xfrm>
          <a:prstGeom prst="rect">
            <a:avLst/>
          </a:prstGeom>
          <a:noFill/>
        </p:spPr>
        <p:txBody>
          <a:bodyPr wrap="square" rtlCol="0" anchor="ctr"/>
          <a:lstStyle/>
          <a:p>
            <a:pPr>
              <a:defRPr/>
            </a:pPr>
            <a:r>
              <a:rPr lang="es-ES" sz="1200" b="0" i="0" u="none" spc="22">
                <a:solidFill>
                  <a:schemeClr val="bg1"/>
                </a:solidFill>
                <a:latin typeface="Times New Roman" panose="02020603050405020304"/>
                <a:ea typeface="Times New Roman" panose="02020603050405020304"/>
                <a:cs typeface="Times New Roman" panose="02020603050405020304"/>
              </a:rPr>
              <a:t>E</a:t>
            </a:r>
            <a:r>
              <a:rPr sz="1200" b="0" i="0" u="none" spc="22">
                <a:solidFill>
                  <a:schemeClr val="bg1"/>
                </a:solidFill>
                <a:latin typeface="Times New Roman" panose="02020603050405020304"/>
                <a:ea typeface="Times New Roman" panose="02020603050405020304"/>
                <a:cs typeface="Times New Roman" panose="02020603050405020304"/>
              </a:rPr>
              <a:t>s </a:t>
            </a:r>
            <a:r>
              <a:rPr lang="es-ES" sz="1200" b="0" i="0" u="none" spc="22">
                <a:solidFill>
                  <a:schemeClr val="bg1"/>
                </a:solidFill>
                <a:latin typeface="Times New Roman" panose="02020603050405020304"/>
                <a:ea typeface="Times New Roman" panose="02020603050405020304"/>
                <a:cs typeface="Times New Roman" panose="02020603050405020304"/>
              </a:rPr>
              <a:t>un </a:t>
            </a:r>
            <a:r>
              <a:rPr sz="1200" b="0" i="0" u="none" spc="22">
                <a:solidFill>
                  <a:schemeClr val="bg1"/>
                </a:solidFill>
                <a:latin typeface="Times New Roman" panose="02020603050405020304"/>
                <a:ea typeface="Times New Roman" panose="02020603050405020304"/>
                <a:cs typeface="Times New Roman" panose="02020603050405020304"/>
              </a:rPr>
              <a:t>malware que cifra los archivos importantes de la víctima a cambio de un pago </a:t>
            </a:r>
            <a:r>
              <a:rPr sz="1200" b="1" i="0" u="none" spc="21">
                <a:solidFill>
                  <a:schemeClr val="bg1"/>
                </a:solidFill>
                <a:latin typeface="Times New Roman" panose="02020603050405020304"/>
                <a:ea typeface="Times New Roman" panose="02020603050405020304"/>
                <a:cs typeface="Times New Roman" panose="02020603050405020304"/>
              </a:rPr>
              <a:t>(rescate) </a:t>
            </a:r>
            <a:r>
              <a:rPr sz="1200" b="0" i="0" u="none" spc="21">
                <a:solidFill>
                  <a:schemeClr val="bg1"/>
                </a:solidFill>
                <a:latin typeface="Times New Roman" panose="02020603050405020304"/>
                <a:ea typeface="Times New Roman" panose="02020603050405020304"/>
                <a:cs typeface="Times New Roman" panose="02020603050405020304"/>
              </a:rPr>
              <a:t>para restaurar el acceso. Si se realiza el pago, las víctimas reciben una clave de descifrado. Si no se realiza el pago, el atacante publica los datos en la dark web o bloquea el acceso al archivo cifrado permanentemente.</a:t>
            </a:r>
            <a:endParaRPr sz="1200">
              <a:solidFill>
                <a:schemeClr val="bg1"/>
              </a:solidFill>
              <a:latin typeface="Arial" panose="020B0604020202020204"/>
              <a:cs typeface="Arial" panose="020B0604020202020204"/>
            </a:endParaRPr>
          </a:p>
          <a:p>
            <a:pPr marL="0" indent="0">
              <a:buNone/>
              <a:defRPr/>
            </a:pPr>
            <a:endParaRPr lang="en-US" sz="1200"/>
          </a:p>
          <a:p>
            <a:pPr marL="0" indent="0">
              <a:buNone/>
              <a:defRPr/>
            </a:pPr>
            <a:r>
              <a:rPr lang="es-ES" sz="1200" b="1">
                <a:solidFill>
                  <a:srgbClr val="FFC000"/>
                </a:solidFill>
              </a:rPr>
              <a:t>Nota</a:t>
            </a:r>
            <a:r>
              <a:rPr lang="es-ES" sz="1200" b="1">
                <a:solidFill>
                  <a:srgbClr val="FFC000"/>
                </a:solidFill>
              </a:rPr>
              <a:t>: </a:t>
            </a:r>
            <a:r>
              <a:rPr sz="1200" b="0" i="0" u="none">
                <a:solidFill>
                  <a:schemeClr val="bg1"/>
                </a:solidFill>
                <a:latin typeface="Times New Roman" panose="02020603050405020304"/>
                <a:ea typeface="Times New Roman" panose="02020603050405020304"/>
                <a:cs typeface="Times New Roman" panose="02020603050405020304"/>
              </a:rPr>
              <a:t>El ransomware ya no solo secuestra información,</a:t>
            </a:r>
            <a:r>
              <a:rPr lang="es-ES" sz="1200" b="0" i="0" u="none">
                <a:solidFill>
                  <a:schemeClr val="bg1"/>
                </a:solidFill>
                <a:latin typeface="Times New Roman" panose="02020603050405020304"/>
                <a:ea typeface="Times New Roman" panose="02020603050405020304"/>
                <a:cs typeface="Times New Roman" panose="02020603050405020304"/>
              </a:rPr>
              <a:t> </a:t>
            </a:r>
            <a:r>
              <a:rPr sz="1200" b="0" i="0" u="none">
                <a:solidFill>
                  <a:schemeClr val="bg1"/>
                </a:solidFill>
                <a:latin typeface="Times New Roman" panose="02020603050405020304"/>
                <a:ea typeface="Times New Roman" panose="02020603050405020304"/>
                <a:cs typeface="Times New Roman" panose="02020603050405020304"/>
              </a:rPr>
              <a:t>ahora es un </a:t>
            </a:r>
            <a:r>
              <a:rPr sz="1200" b="1" i="0" u="none">
                <a:solidFill>
                  <a:schemeClr val="bg1"/>
                </a:solidFill>
                <a:latin typeface="Times New Roman" panose="02020603050405020304"/>
                <a:ea typeface="Times New Roman" panose="02020603050405020304"/>
                <a:cs typeface="Times New Roman" panose="02020603050405020304"/>
              </a:rPr>
              <a:t>modelo de negocio criminal organizado (RaaS)</a:t>
            </a:r>
            <a:r>
              <a:rPr sz="1200" b="0" i="0" u="none">
                <a:solidFill>
                  <a:schemeClr val="bg1"/>
                </a:solidFill>
                <a:latin typeface="Times New Roman" panose="02020603050405020304"/>
                <a:ea typeface="Times New Roman" panose="02020603050405020304"/>
                <a:cs typeface="Times New Roman" panose="02020603050405020304"/>
              </a:rPr>
              <a:t>.</a:t>
            </a:r>
            <a:r>
              <a:rPr lang="es-ES" sz="1200" b="0" i="0" u="none">
                <a:solidFill>
                  <a:schemeClr val="bg1"/>
                </a:solidFill>
                <a:latin typeface="Times New Roman" panose="02020603050405020304"/>
                <a:ea typeface="Times New Roman" panose="02020603050405020304"/>
                <a:cs typeface="Times New Roman" panose="02020603050405020304"/>
              </a:rPr>
              <a:t> D</a:t>
            </a:r>
            <a:r>
              <a:rPr sz="1200" b="0" i="0" u="none">
                <a:solidFill>
                  <a:schemeClr val="bg1"/>
                </a:solidFill>
                <a:latin typeface="Times New Roman" panose="02020603050405020304"/>
                <a:ea typeface="Times New Roman" panose="02020603050405020304"/>
                <a:cs typeface="Times New Roman" panose="02020603050405020304"/>
              </a:rPr>
              <a:t>onde el ransomware se ofrece como un </a:t>
            </a:r>
            <a:r>
              <a:rPr sz="1200" b="1" i="0" u="none">
                <a:solidFill>
                  <a:schemeClr val="bg1"/>
                </a:solidFill>
                <a:latin typeface="Times New Roman" panose="02020603050405020304"/>
                <a:ea typeface="Times New Roman" panose="02020603050405020304"/>
                <a:cs typeface="Times New Roman" panose="02020603050405020304"/>
              </a:rPr>
              <a:t>servicio listo para usar</a:t>
            </a:r>
            <a:r>
              <a:rPr sz="1200" b="0" i="0" u="none">
                <a:solidFill>
                  <a:schemeClr val="bg1"/>
                </a:solidFill>
                <a:latin typeface="Times New Roman" panose="02020603050405020304"/>
                <a:ea typeface="Times New Roman" panose="02020603050405020304"/>
                <a:cs typeface="Times New Roman" panose="02020603050405020304"/>
              </a:rPr>
              <a:t>, igual que un SaaS pero ilegal.</a:t>
            </a:r>
            <a:endParaRPr sz="1200">
              <a:solidFill>
                <a:schemeClr val="bg1"/>
              </a:solidFill>
            </a:endParaRPr>
          </a:p>
        </p:txBody>
      </p:sp>
      <p:sp>
        <p:nvSpPr>
          <p:cNvPr id="339983176" name="Shape 7"/>
          <p:cNvSpPr/>
          <p:nvPr/>
        </p:nvSpPr>
        <p:spPr bwMode="auto">
          <a:xfrm>
            <a:off x="274320" y="2487167"/>
            <a:ext cx="4160519" cy="1615908"/>
          </a:xfrm>
          <a:prstGeom prst="rect">
            <a:avLst/>
          </a:prstGeom>
          <a:solidFill>
            <a:srgbClr val="1F2937"/>
          </a:solidFill>
          <a:ln w="6350">
            <a:solidFill>
              <a:srgbClr val="6B7280"/>
            </a:solidFill>
            <a:prstDash val="solid"/>
          </a:ln>
        </p:spPr>
      </p:sp>
      <p:sp>
        <p:nvSpPr>
          <p:cNvPr id="1388208369" name="Text 9"/>
          <p:cNvSpPr/>
          <p:nvPr/>
        </p:nvSpPr>
        <p:spPr bwMode="auto">
          <a:xfrm>
            <a:off x="1024128" y="2596896"/>
            <a:ext cx="3291840" cy="256032"/>
          </a:xfrm>
          <a:prstGeom prst="rect">
            <a:avLst/>
          </a:prstGeom>
          <a:noFill/>
        </p:spPr>
        <p:txBody>
          <a:bodyPr wrap="square" rtlCol="0" anchor="ctr"/>
          <a:lstStyle/>
          <a:p>
            <a:pPr marL="0" indent="0">
              <a:buNone/>
              <a:defRPr/>
            </a:pPr>
            <a:r>
              <a:rPr sz="1200" b="1" i="0" u="none">
                <a:solidFill>
                  <a:srgbClr val="FFC000"/>
                </a:solidFill>
                <a:latin typeface="Times New Roman" panose="02020603050405020304"/>
                <a:ea typeface="Times New Roman" panose="02020603050405020304"/>
                <a:cs typeface="Times New Roman" panose="02020603050405020304"/>
              </a:rPr>
              <a:t>¿Qué hace?</a:t>
            </a:r>
            <a:endParaRPr lang="en-US" sz="1300"/>
          </a:p>
        </p:txBody>
      </p:sp>
      <p:sp>
        <p:nvSpPr>
          <p:cNvPr id="1219654771" name="Text 10"/>
          <p:cNvSpPr/>
          <p:nvPr/>
        </p:nvSpPr>
        <p:spPr bwMode="auto">
          <a:xfrm>
            <a:off x="1024128" y="2938930"/>
            <a:ext cx="3291840" cy="712384"/>
          </a:xfrm>
          <a:prstGeom prst="rect">
            <a:avLst/>
          </a:prstGeom>
          <a:noFill/>
        </p:spPr>
        <p:txBody>
          <a:bodyPr wrap="square" rtlCol="0" anchor="ctr"/>
          <a:lstStyle/>
          <a:p>
            <a:pPr marL="217805" indent="-217805">
              <a:buFont typeface="Arial" panose="020B0604020202020204"/>
              <a:buChar char="•"/>
              <a:defRPr/>
            </a:pPr>
            <a:r>
              <a:rPr sz="1200" b="0" i="0" u="none">
                <a:solidFill>
                  <a:schemeClr val="bg1"/>
                </a:solidFill>
                <a:latin typeface="Times New Roman" panose="02020603050405020304"/>
                <a:ea typeface="Times New Roman" panose="02020603050405020304"/>
                <a:cs typeface="Times New Roman" panose="02020603050405020304"/>
              </a:rPr>
              <a:t>Cifra archivos (AES / RSA)</a:t>
            </a:r>
            <a:endParaRPr>
              <a:solidFill>
                <a:schemeClr val="bg1"/>
              </a:solidFill>
            </a:endParaRPr>
          </a:p>
          <a:p>
            <a:pPr marL="217805" indent="-217805">
              <a:buFont typeface="Arial" panose="020B0604020202020204"/>
              <a:buChar char="•"/>
              <a:defRPr/>
            </a:pPr>
            <a:r>
              <a:rPr sz="1200" b="0" i="0" u="none">
                <a:solidFill>
                  <a:schemeClr val="bg1"/>
                </a:solidFill>
                <a:latin typeface="Times New Roman" panose="02020603050405020304"/>
                <a:ea typeface="Times New Roman" panose="02020603050405020304"/>
                <a:cs typeface="Times New Roman" panose="02020603050405020304"/>
              </a:rPr>
              <a:t>Bloquea sistemas</a:t>
            </a:r>
            <a:endParaRPr>
              <a:solidFill>
                <a:schemeClr val="bg1"/>
              </a:solidFill>
            </a:endParaRPr>
          </a:p>
          <a:p>
            <a:pPr marL="217805" indent="-217805">
              <a:buFont typeface="Arial" panose="020B0604020202020204"/>
              <a:buChar char="•"/>
              <a:defRPr/>
            </a:pPr>
            <a:r>
              <a:rPr sz="1200" b="0" i="0" u="none">
                <a:solidFill>
                  <a:schemeClr val="bg1"/>
                </a:solidFill>
                <a:latin typeface="Times New Roman" panose="02020603050405020304"/>
                <a:ea typeface="Times New Roman" panose="02020603050405020304"/>
                <a:cs typeface="Times New Roman" panose="02020603050405020304"/>
              </a:rPr>
              <a:t>Exfiltra información sensible</a:t>
            </a:r>
            <a:endParaRPr>
              <a:solidFill>
                <a:schemeClr val="bg1"/>
              </a:solidFill>
            </a:endParaRPr>
          </a:p>
          <a:p>
            <a:pPr marL="217805" indent="-217805">
              <a:buFont typeface="Arial" panose="020B0604020202020204"/>
              <a:buChar char="•"/>
              <a:defRPr/>
            </a:pPr>
            <a:r>
              <a:rPr sz="1200" b="0" i="0" u="none">
                <a:solidFill>
                  <a:schemeClr val="bg1"/>
                </a:solidFill>
                <a:latin typeface="Times New Roman" panose="02020603050405020304"/>
                <a:ea typeface="Times New Roman" panose="02020603050405020304"/>
                <a:cs typeface="Times New Roman" panose="02020603050405020304"/>
              </a:rPr>
              <a:t>Amenaza con filtrarla (extorsión)</a:t>
            </a:r>
            <a:endParaRPr lang="en-US" sz="1000"/>
          </a:p>
        </p:txBody>
      </p:sp>
      <p:sp>
        <p:nvSpPr>
          <p:cNvPr id="555668316" name="Shape 11"/>
          <p:cNvSpPr/>
          <p:nvPr/>
        </p:nvSpPr>
        <p:spPr bwMode="auto">
          <a:xfrm>
            <a:off x="4617720" y="2487167"/>
            <a:ext cx="4160519" cy="1615908"/>
          </a:xfrm>
          <a:prstGeom prst="rect">
            <a:avLst/>
          </a:prstGeom>
          <a:solidFill>
            <a:srgbClr val="1F2937"/>
          </a:solidFill>
          <a:ln w="6350">
            <a:solidFill>
              <a:srgbClr val="6B7280"/>
            </a:solidFill>
            <a:prstDash val="solid"/>
          </a:ln>
        </p:spPr>
      </p:sp>
      <p:sp>
        <p:nvSpPr>
          <p:cNvPr id="1258684645" name="Text 13"/>
          <p:cNvSpPr/>
          <p:nvPr/>
        </p:nvSpPr>
        <p:spPr bwMode="auto">
          <a:xfrm>
            <a:off x="5367528" y="2596896"/>
            <a:ext cx="3291840" cy="292608"/>
          </a:xfrm>
          <a:prstGeom prst="rect">
            <a:avLst/>
          </a:prstGeom>
          <a:noFill/>
        </p:spPr>
        <p:txBody>
          <a:bodyPr wrap="square" rtlCol="0" anchor="ctr"/>
          <a:lstStyle/>
          <a:p>
            <a:pPr marL="0" indent="0">
              <a:buNone/>
              <a:defRPr/>
            </a:pPr>
            <a:r>
              <a:rPr sz="1200" b="1" i="0" u="none">
                <a:solidFill>
                  <a:srgbClr val="FFC000"/>
                </a:solidFill>
                <a:latin typeface="Times New Roman" panose="02020603050405020304"/>
                <a:ea typeface="Times New Roman" panose="02020603050405020304"/>
                <a:cs typeface="Times New Roman" panose="02020603050405020304"/>
              </a:rPr>
              <a:t>¿Cómo gana dinero el atacante?</a:t>
            </a:r>
            <a:endParaRPr sz="1300" b="1">
              <a:solidFill>
                <a:srgbClr val="FFC000"/>
              </a:solidFill>
            </a:endParaRPr>
          </a:p>
        </p:txBody>
      </p:sp>
      <p:sp>
        <p:nvSpPr>
          <p:cNvPr id="303932096" name="Text 14"/>
          <p:cNvSpPr/>
          <p:nvPr/>
        </p:nvSpPr>
        <p:spPr bwMode="auto">
          <a:xfrm>
            <a:off x="5413248" y="2894075"/>
            <a:ext cx="3291840" cy="757238"/>
          </a:xfrm>
          <a:prstGeom prst="rect">
            <a:avLst/>
          </a:prstGeom>
          <a:noFill/>
        </p:spPr>
        <p:txBody>
          <a:bodyPr wrap="square" rtlCol="0" anchor="ctr"/>
          <a:lstStyle/>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Pago en criptomonedas (BTC / Monero)</a:t>
            </a:r>
            <a:endParaRPr sz="1000">
              <a:solidFill>
                <a:schemeClr val="bg1"/>
              </a:solidFill>
            </a:endParaRPr>
          </a:p>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Doble o triple extorsión:</a:t>
            </a:r>
            <a:endParaRPr sz="1000">
              <a:solidFill>
                <a:schemeClr val="bg1"/>
              </a:solidFill>
            </a:endParaRPr>
          </a:p>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Cifrado</a:t>
            </a:r>
            <a:endParaRPr sz="1000">
              <a:solidFill>
                <a:schemeClr val="bg1"/>
              </a:solidFill>
            </a:endParaRPr>
          </a:p>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Filtración</a:t>
            </a:r>
            <a:endParaRPr sz="1000">
              <a:solidFill>
                <a:schemeClr val="bg1"/>
              </a:solidFill>
            </a:endParaRPr>
          </a:p>
          <a:p>
            <a:pPr marL="195580" indent="-195580">
              <a:buFont typeface="Arial" panose="020B0604020202020204"/>
              <a:buChar char="•"/>
              <a:defRPr/>
            </a:pPr>
            <a:r>
              <a:rPr sz="1000" b="0" i="0" u="none">
                <a:solidFill>
                  <a:schemeClr val="bg1"/>
                </a:solidFill>
                <a:latin typeface="Times New Roman" panose="02020603050405020304"/>
                <a:ea typeface="Times New Roman" panose="02020603050405020304"/>
                <a:cs typeface="Times New Roman" panose="02020603050405020304"/>
              </a:rPr>
              <a:t>Ataques adicionales (DDoS)</a:t>
            </a:r>
            <a:endParaRPr sz="1000"/>
          </a:p>
        </p:txBody>
      </p:sp>
      <p:pic>
        <p:nvPicPr>
          <p:cNvPr id="1627329688" name="Imagen 1627329687"/>
          <p:cNvPicPr>
            <a:picLocks noChangeAspect="1"/>
          </p:cNvPicPr>
          <p:nvPr/>
        </p:nvPicPr>
        <p:blipFill>
          <a:blip r:embed="rId1"/>
          <a:srcRect l="13555" t="11354" r="11501" b="16849"/>
          <a:stretch>
            <a:fillRect/>
          </a:stretch>
        </p:blipFill>
        <p:spPr bwMode="auto">
          <a:xfrm>
            <a:off x="226393" y="260853"/>
            <a:ext cx="593570" cy="401837"/>
          </a:xfrm>
          <a:prstGeom prst="rect">
            <a:avLst/>
          </a:prstGeom>
        </p:spPr>
      </p:pic>
      <p:pic>
        <p:nvPicPr>
          <p:cNvPr id="1180067717" name="Imagen 1180067716"/>
          <p:cNvPicPr>
            <a:picLocks noChangeAspect="1"/>
          </p:cNvPicPr>
          <p:nvPr/>
        </p:nvPicPr>
        <p:blipFill>
          <a:blip r:embed="rId2"/>
          <a:stretch>
            <a:fillRect/>
          </a:stretch>
        </p:blipFill>
        <p:spPr bwMode="auto">
          <a:xfrm>
            <a:off x="338327" y="2852928"/>
            <a:ext cx="685800" cy="666857"/>
          </a:xfrm>
          <a:prstGeom prst="rect">
            <a:avLst/>
          </a:prstGeom>
        </p:spPr>
      </p:pic>
      <p:pic>
        <p:nvPicPr>
          <p:cNvPr id="531170144" name="Imagen 531170143"/>
          <p:cNvPicPr>
            <a:picLocks noChangeAspect="1"/>
          </p:cNvPicPr>
          <p:nvPr/>
        </p:nvPicPr>
        <p:blipFill>
          <a:blip r:embed="rId3"/>
          <a:stretch>
            <a:fillRect/>
          </a:stretch>
        </p:blipFill>
        <p:spPr bwMode="auto">
          <a:xfrm>
            <a:off x="4723216" y="2852928"/>
            <a:ext cx="644311" cy="66685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OBJETIVO</a:t>
            </a:r>
            <a:endParaRPr lang="en-US" sz="2200"/>
          </a:p>
        </p:txBody>
      </p:sp>
      <p:sp>
        <p:nvSpPr>
          <p:cNvPr id="5" name="Shape 3"/>
          <p:cNvSpPr/>
          <p:nvPr/>
        </p:nvSpPr>
        <p:spPr bwMode="auto">
          <a:xfrm>
            <a:off x="292608" y="1005840"/>
            <a:ext cx="8595360" cy="1280160"/>
          </a:xfrm>
          <a:prstGeom prst="rect">
            <a:avLst/>
          </a:prstGeom>
          <a:solidFill>
            <a:srgbClr val="1A0A00"/>
          </a:solidFill>
          <a:ln w="25400">
            <a:solidFill>
              <a:srgbClr val="FF6B35"/>
            </a:solidFill>
            <a:prstDash val="solid"/>
          </a:ln>
        </p:spPr>
      </p:sp>
      <p:sp>
        <p:nvSpPr>
          <p:cNvPr id="6" name="Shape 4"/>
          <p:cNvSpPr/>
          <p:nvPr/>
        </p:nvSpPr>
        <p:spPr bwMode="auto">
          <a:xfrm>
            <a:off x="274320" y="1005840"/>
            <a:ext cx="64008" cy="1280160"/>
          </a:xfrm>
          <a:prstGeom prst="rect">
            <a:avLst/>
          </a:prstGeom>
          <a:solidFill>
            <a:srgbClr val="FF6B35"/>
          </a:solidFill>
        </p:spPr>
      </p:sp>
      <p:sp>
        <p:nvSpPr>
          <p:cNvPr id="7" name="Text 5"/>
          <p:cNvSpPr/>
          <p:nvPr/>
        </p:nvSpPr>
        <p:spPr bwMode="auto">
          <a:xfrm>
            <a:off x="475488" y="1051560"/>
            <a:ext cx="8229600" cy="292608"/>
          </a:xfrm>
          <a:prstGeom prst="rect">
            <a:avLst/>
          </a:prstGeom>
          <a:noFill/>
        </p:spPr>
        <p:txBody>
          <a:bodyPr wrap="square" rtlCol="0" anchor="ctr"/>
          <a:lstStyle/>
          <a:p>
            <a:pPr marL="0" indent="0">
              <a:buNone/>
              <a:defRPr/>
            </a:pPr>
            <a:r>
              <a:rPr lang="en-US" sz="1100" b="1" spc="100">
                <a:solidFill>
                  <a:srgbClr val="FF6B35"/>
                </a:solidFill>
              </a:rPr>
              <a:t>Objetivo General</a:t>
            </a:r>
            <a:endParaRPr lang="en-US" sz="1100"/>
          </a:p>
        </p:txBody>
      </p:sp>
      <p:sp>
        <p:nvSpPr>
          <p:cNvPr id="8" name="Text 6"/>
          <p:cNvSpPr/>
          <p:nvPr/>
        </p:nvSpPr>
        <p:spPr bwMode="auto">
          <a:xfrm>
            <a:off x="475488" y="1197864"/>
            <a:ext cx="8229600" cy="868680"/>
          </a:xfrm>
          <a:prstGeom prst="rect">
            <a:avLst/>
          </a:prstGeom>
          <a:noFill/>
        </p:spPr>
        <p:txBody>
          <a:bodyPr wrap="square" rtlCol="0" anchor="ctr"/>
          <a:lstStyle/>
          <a:p>
            <a:pPr marL="0" indent="0">
              <a:buNone/>
              <a:defRPr/>
            </a:pPr>
            <a:r>
              <a:rPr lang="en-US" sz="1200">
                <a:solidFill>
                  <a:srgbClr val="D1D5DB"/>
                </a:solidFill>
              </a:rPr>
              <a:t>Comprender la amenaza del Ransomware desde su evolución histórica hasta el panorama actual 2024–2025: mecanismos de ataque, impacto estadístico verificado en Colombia y el mundo, grupos más activos del momento, y las estrategias modernas de prevención y respuesta ante incidentes.</a:t>
            </a:r>
            <a:endParaRPr lang="en-US" sz="1200"/>
          </a:p>
        </p:txBody>
      </p:sp>
      <p:sp>
        <p:nvSpPr>
          <p:cNvPr id="9" name="Shape 7"/>
          <p:cNvSpPr/>
          <p:nvPr/>
        </p:nvSpPr>
        <p:spPr bwMode="auto">
          <a:xfrm>
            <a:off x="274320" y="2487168"/>
            <a:ext cx="4160519" cy="1051560"/>
          </a:xfrm>
          <a:prstGeom prst="rect">
            <a:avLst/>
          </a:prstGeom>
          <a:solidFill>
            <a:srgbClr val="1F2937"/>
          </a:solidFill>
          <a:ln w="6350">
            <a:solidFill>
              <a:srgbClr val="6B7280"/>
            </a:solidFill>
            <a:prstDash val="solid"/>
          </a:ln>
        </p:spPr>
      </p:sp>
      <p:sp>
        <p:nvSpPr>
          <p:cNvPr id="10" name="Text 8"/>
          <p:cNvSpPr/>
          <p:nvPr/>
        </p:nvSpPr>
        <p:spPr bwMode="auto">
          <a:xfrm>
            <a:off x="365760" y="2596896"/>
            <a:ext cx="594360" cy="594360"/>
          </a:xfrm>
          <a:prstGeom prst="rect">
            <a:avLst/>
          </a:prstGeom>
          <a:noFill/>
        </p:spPr>
        <p:txBody>
          <a:bodyPr wrap="square" rtlCol="0" anchor="ctr"/>
          <a:lstStyle/>
          <a:p>
            <a:pPr marL="0" indent="0" algn="ctr">
              <a:buNone/>
              <a:defRPr/>
            </a:pPr>
            <a:r>
              <a:rPr lang="en-US" sz="2200">
                <a:solidFill>
                  <a:srgbClr val="000000"/>
                </a:solidFill>
              </a:rPr>
              <a:t>📖</a:t>
            </a:r>
            <a:endParaRPr lang="en-US" sz="2200"/>
          </a:p>
        </p:txBody>
      </p:sp>
      <p:sp>
        <p:nvSpPr>
          <p:cNvPr id="11" name="Text 9"/>
          <p:cNvSpPr/>
          <p:nvPr/>
        </p:nvSpPr>
        <p:spPr bwMode="auto">
          <a:xfrm>
            <a:off x="1024128" y="2578608"/>
            <a:ext cx="3291840" cy="292608"/>
          </a:xfrm>
          <a:prstGeom prst="rect">
            <a:avLst/>
          </a:prstGeom>
          <a:noFill/>
        </p:spPr>
        <p:txBody>
          <a:bodyPr wrap="square" rtlCol="0" anchor="ctr"/>
          <a:lstStyle/>
          <a:p>
            <a:pPr marL="0" indent="0">
              <a:buNone/>
              <a:defRPr/>
            </a:pPr>
            <a:r>
              <a:rPr lang="en-US" sz="1300" b="1">
                <a:solidFill>
                  <a:srgbClr val="FF6B35"/>
                </a:solidFill>
              </a:rPr>
              <a:t>Conocer</a:t>
            </a:r>
            <a:endParaRPr lang="en-US" sz="1300"/>
          </a:p>
        </p:txBody>
      </p:sp>
      <p:sp>
        <p:nvSpPr>
          <p:cNvPr id="12" name="Text 10"/>
          <p:cNvSpPr/>
          <p:nvPr/>
        </p:nvSpPr>
        <p:spPr bwMode="auto">
          <a:xfrm>
            <a:off x="1024128" y="2782360"/>
            <a:ext cx="3291840" cy="594360"/>
          </a:xfrm>
          <a:prstGeom prst="rect">
            <a:avLst/>
          </a:prstGeom>
          <a:noFill/>
        </p:spPr>
        <p:txBody>
          <a:bodyPr wrap="square" rtlCol="0" anchor="ctr"/>
          <a:lstStyle/>
          <a:p>
            <a:pPr marL="0" indent="0">
              <a:buNone/>
              <a:defRPr/>
            </a:pPr>
            <a:r>
              <a:rPr lang="en-US" sz="1000">
                <a:solidFill>
                  <a:srgbClr val="D1D5DB"/>
                </a:solidFill>
              </a:rPr>
              <a:t>El origen y la evolución del ransomware: de AIDS Trojan (1989) al modelo RaaS con grupos como Qilin y Akira (2025).</a:t>
            </a:r>
            <a:endParaRPr lang="en-US" sz="1000"/>
          </a:p>
        </p:txBody>
      </p:sp>
      <p:sp>
        <p:nvSpPr>
          <p:cNvPr id="13" name="Shape 11"/>
          <p:cNvSpPr/>
          <p:nvPr/>
        </p:nvSpPr>
        <p:spPr bwMode="auto">
          <a:xfrm>
            <a:off x="4617720" y="2487168"/>
            <a:ext cx="4160519" cy="1051560"/>
          </a:xfrm>
          <a:prstGeom prst="rect">
            <a:avLst/>
          </a:prstGeom>
          <a:solidFill>
            <a:srgbClr val="1F2937"/>
          </a:solidFill>
          <a:ln w="6350">
            <a:solidFill>
              <a:srgbClr val="6B7280"/>
            </a:solidFill>
            <a:prstDash val="solid"/>
          </a:ln>
        </p:spPr>
      </p:sp>
      <p:sp>
        <p:nvSpPr>
          <p:cNvPr id="14" name="Text 12"/>
          <p:cNvSpPr/>
          <p:nvPr/>
        </p:nvSpPr>
        <p:spPr bwMode="auto">
          <a:xfrm>
            <a:off x="4709160" y="2596896"/>
            <a:ext cx="594360" cy="594360"/>
          </a:xfrm>
          <a:prstGeom prst="rect">
            <a:avLst/>
          </a:prstGeom>
          <a:noFill/>
        </p:spPr>
        <p:txBody>
          <a:bodyPr wrap="square" rtlCol="0" anchor="ctr"/>
          <a:lstStyle/>
          <a:p>
            <a:pPr marL="0" indent="0" algn="ctr">
              <a:buNone/>
              <a:defRPr/>
            </a:pPr>
            <a:r>
              <a:rPr lang="en-US" sz="2200">
                <a:solidFill>
                  <a:srgbClr val="000000"/>
                </a:solidFill>
              </a:rPr>
              <a:t>⚙️</a:t>
            </a:r>
            <a:endParaRPr lang="en-US" sz="2200"/>
          </a:p>
        </p:txBody>
      </p:sp>
      <p:sp>
        <p:nvSpPr>
          <p:cNvPr id="15" name="Text 13"/>
          <p:cNvSpPr/>
          <p:nvPr/>
        </p:nvSpPr>
        <p:spPr bwMode="auto">
          <a:xfrm>
            <a:off x="5367528" y="2578608"/>
            <a:ext cx="3291840" cy="292608"/>
          </a:xfrm>
          <a:prstGeom prst="rect">
            <a:avLst/>
          </a:prstGeom>
          <a:noFill/>
        </p:spPr>
        <p:txBody>
          <a:bodyPr wrap="square" rtlCol="0" anchor="ctr"/>
          <a:lstStyle/>
          <a:p>
            <a:pPr marL="0" indent="0">
              <a:buNone/>
              <a:defRPr/>
            </a:pPr>
            <a:r>
              <a:rPr lang="en-US" sz="1300" b="1">
                <a:solidFill>
                  <a:srgbClr val="FF6B35"/>
                </a:solidFill>
              </a:rPr>
              <a:t>Entender</a:t>
            </a:r>
            <a:endParaRPr lang="en-US" sz="1300"/>
          </a:p>
        </p:txBody>
      </p:sp>
      <p:sp>
        <p:nvSpPr>
          <p:cNvPr id="16" name="Text 14"/>
          <p:cNvSpPr/>
          <p:nvPr/>
        </p:nvSpPr>
        <p:spPr bwMode="auto">
          <a:xfrm>
            <a:off x="5367528" y="2711196"/>
            <a:ext cx="3291840" cy="594360"/>
          </a:xfrm>
          <a:prstGeom prst="rect">
            <a:avLst/>
          </a:prstGeom>
          <a:noFill/>
        </p:spPr>
        <p:txBody>
          <a:bodyPr wrap="square" rtlCol="0" anchor="ctr"/>
          <a:lstStyle/>
          <a:p>
            <a:pPr marL="0" indent="0">
              <a:buNone/>
              <a:defRPr/>
            </a:pPr>
            <a:r>
              <a:rPr lang="en-US" sz="1000">
                <a:solidFill>
                  <a:srgbClr val="D1D5DB"/>
                </a:solidFill>
              </a:rPr>
              <a:t>El funcionamiento técnico: fases del ataque, cifrado AES/RSA, doble y triple extorsión, comunicación C&amp;C.</a:t>
            </a:r>
            <a:endParaRPr lang="en-US" sz="1000"/>
          </a:p>
        </p:txBody>
      </p:sp>
      <p:sp>
        <p:nvSpPr>
          <p:cNvPr id="17" name="Shape 15"/>
          <p:cNvSpPr/>
          <p:nvPr/>
        </p:nvSpPr>
        <p:spPr bwMode="auto">
          <a:xfrm>
            <a:off x="274320" y="3675888"/>
            <a:ext cx="4160519" cy="1051560"/>
          </a:xfrm>
          <a:prstGeom prst="rect">
            <a:avLst/>
          </a:prstGeom>
          <a:solidFill>
            <a:srgbClr val="1F2937"/>
          </a:solidFill>
          <a:ln w="6350">
            <a:solidFill>
              <a:srgbClr val="6B7280"/>
            </a:solidFill>
            <a:prstDash val="solid"/>
          </a:ln>
        </p:spPr>
      </p:sp>
      <p:sp>
        <p:nvSpPr>
          <p:cNvPr id="18" name="Text 16"/>
          <p:cNvSpPr/>
          <p:nvPr/>
        </p:nvSpPr>
        <p:spPr bwMode="auto">
          <a:xfrm>
            <a:off x="365760" y="3785616"/>
            <a:ext cx="594360" cy="594360"/>
          </a:xfrm>
          <a:prstGeom prst="rect">
            <a:avLst/>
          </a:prstGeom>
          <a:noFill/>
        </p:spPr>
        <p:txBody>
          <a:bodyPr wrap="square" rtlCol="0" anchor="ctr"/>
          <a:lstStyle/>
          <a:p>
            <a:pPr marL="0" indent="0" algn="ctr">
              <a:buNone/>
              <a:defRPr/>
            </a:pPr>
            <a:r>
              <a:rPr lang="en-US" sz="2200">
                <a:solidFill>
                  <a:srgbClr val="000000"/>
                </a:solidFill>
              </a:rPr>
              <a:t>📊</a:t>
            </a:r>
            <a:endParaRPr lang="en-US" sz="2200"/>
          </a:p>
        </p:txBody>
      </p:sp>
      <p:sp>
        <p:nvSpPr>
          <p:cNvPr id="19" name="Text 17"/>
          <p:cNvSpPr/>
          <p:nvPr/>
        </p:nvSpPr>
        <p:spPr bwMode="auto">
          <a:xfrm>
            <a:off x="1024128" y="3767328"/>
            <a:ext cx="3291840" cy="292608"/>
          </a:xfrm>
          <a:prstGeom prst="rect">
            <a:avLst/>
          </a:prstGeom>
          <a:noFill/>
        </p:spPr>
        <p:txBody>
          <a:bodyPr wrap="square" rtlCol="0" anchor="ctr"/>
          <a:lstStyle/>
          <a:p>
            <a:pPr marL="0" indent="0">
              <a:buNone/>
              <a:defRPr/>
            </a:pPr>
            <a:r>
              <a:rPr lang="en-US" sz="1300" b="1">
                <a:solidFill>
                  <a:srgbClr val="FF6B35"/>
                </a:solidFill>
              </a:rPr>
              <a:t>Analizar</a:t>
            </a:r>
            <a:endParaRPr lang="en-US" sz="1300"/>
          </a:p>
        </p:txBody>
      </p:sp>
      <p:sp>
        <p:nvSpPr>
          <p:cNvPr id="20" name="Text 18"/>
          <p:cNvSpPr/>
          <p:nvPr/>
        </p:nvSpPr>
        <p:spPr bwMode="auto">
          <a:xfrm>
            <a:off x="1024128" y="3950407"/>
            <a:ext cx="3291840" cy="594360"/>
          </a:xfrm>
          <a:prstGeom prst="rect">
            <a:avLst/>
          </a:prstGeom>
          <a:noFill/>
        </p:spPr>
        <p:txBody>
          <a:bodyPr wrap="square" rtlCol="0" anchor="ctr"/>
          <a:lstStyle/>
          <a:p>
            <a:pPr marL="0" indent="0">
              <a:buNone/>
              <a:defRPr/>
            </a:pPr>
            <a:r>
              <a:rPr lang="en-US" sz="1000">
                <a:solidFill>
                  <a:srgbClr val="D1D5DB"/>
                </a:solidFill>
              </a:rPr>
              <a:t>Estadísticas actualizadas 2024–2025: 8,159 víctimas globales, $75M mayor rescate, 35,000 intentos en Colombia.</a:t>
            </a:r>
            <a:endParaRPr lang="en-US" sz="1000"/>
          </a:p>
        </p:txBody>
      </p:sp>
      <p:sp>
        <p:nvSpPr>
          <p:cNvPr id="21" name="Shape 19"/>
          <p:cNvSpPr/>
          <p:nvPr/>
        </p:nvSpPr>
        <p:spPr bwMode="auto">
          <a:xfrm>
            <a:off x="4617720" y="3675888"/>
            <a:ext cx="4160519" cy="1051560"/>
          </a:xfrm>
          <a:prstGeom prst="rect">
            <a:avLst/>
          </a:prstGeom>
          <a:solidFill>
            <a:srgbClr val="1F2937"/>
          </a:solidFill>
          <a:ln w="6350">
            <a:solidFill>
              <a:srgbClr val="6B7280"/>
            </a:solidFill>
            <a:prstDash val="solid"/>
          </a:ln>
        </p:spPr>
      </p:sp>
      <p:sp>
        <p:nvSpPr>
          <p:cNvPr id="22" name="Text 20"/>
          <p:cNvSpPr/>
          <p:nvPr/>
        </p:nvSpPr>
        <p:spPr bwMode="auto">
          <a:xfrm>
            <a:off x="4709160" y="3785616"/>
            <a:ext cx="594360" cy="594360"/>
          </a:xfrm>
          <a:prstGeom prst="rect">
            <a:avLst/>
          </a:prstGeom>
          <a:noFill/>
        </p:spPr>
        <p:txBody>
          <a:bodyPr wrap="square" rtlCol="0" anchor="ctr"/>
          <a:lstStyle/>
          <a:p>
            <a:pPr marL="0" indent="0" algn="ctr">
              <a:buNone/>
              <a:defRPr/>
            </a:pPr>
            <a:r>
              <a:rPr lang="en-US" sz="2200">
                <a:solidFill>
                  <a:srgbClr val="000000"/>
                </a:solidFill>
              </a:rPr>
              <a:t>🛡️</a:t>
            </a:r>
            <a:endParaRPr lang="en-US" sz="2200"/>
          </a:p>
        </p:txBody>
      </p:sp>
      <p:sp>
        <p:nvSpPr>
          <p:cNvPr id="23" name="Text 21"/>
          <p:cNvSpPr/>
          <p:nvPr/>
        </p:nvSpPr>
        <p:spPr bwMode="auto">
          <a:xfrm>
            <a:off x="5367528" y="3767328"/>
            <a:ext cx="3291840" cy="292608"/>
          </a:xfrm>
          <a:prstGeom prst="rect">
            <a:avLst/>
          </a:prstGeom>
          <a:noFill/>
        </p:spPr>
        <p:txBody>
          <a:bodyPr wrap="square" rtlCol="0" anchor="ctr"/>
          <a:lstStyle/>
          <a:p>
            <a:pPr marL="0" indent="0">
              <a:buNone/>
              <a:defRPr/>
            </a:pPr>
            <a:r>
              <a:rPr lang="en-US" sz="1300" b="1">
                <a:solidFill>
                  <a:srgbClr val="FF6B35"/>
                </a:solidFill>
              </a:rPr>
              <a:t>Aplicar</a:t>
            </a:r>
            <a:endParaRPr lang="en-US" sz="1300"/>
          </a:p>
        </p:txBody>
      </p:sp>
      <p:sp>
        <p:nvSpPr>
          <p:cNvPr id="24" name="Text 22"/>
          <p:cNvSpPr/>
          <p:nvPr/>
        </p:nvSpPr>
        <p:spPr bwMode="auto">
          <a:xfrm>
            <a:off x="5367528" y="3854196"/>
            <a:ext cx="3291840" cy="594360"/>
          </a:xfrm>
          <a:prstGeom prst="rect">
            <a:avLst/>
          </a:prstGeom>
          <a:noFill/>
        </p:spPr>
        <p:txBody>
          <a:bodyPr wrap="square" rtlCol="0" anchor="ctr"/>
          <a:lstStyle/>
          <a:p>
            <a:pPr marL="0" indent="0">
              <a:buNone/>
              <a:defRPr/>
            </a:pPr>
            <a:r>
              <a:rPr lang="en-US" sz="1000">
                <a:solidFill>
                  <a:srgbClr val="D1D5DB"/>
                </a:solidFill>
              </a:rPr>
              <a:t>Contramedidas actualizadas: Zero Trust, MFA resistente a phishing, EDR/XDR y marcos NIST/ISO 27001.</a:t>
            </a:r>
            <a:endParaRPr lang="en-US" sz="10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ANTECEDENTES Y ORIGEN</a:t>
            </a:r>
            <a:endParaRPr lang="en-US" sz="2200"/>
          </a:p>
        </p:txBody>
      </p:sp>
      <p:sp>
        <p:nvSpPr>
          <p:cNvPr id="5" name="Shape 3"/>
          <p:cNvSpPr/>
          <p:nvPr/>
        </p:nvSpPr>
        <p:spPr bwMode="auto">
          <a:xfrm>
            <a:off x="1737360" y="1005840"/>
            <a:ext cx="36576" cy="3794760"/>
          </a:xfrm>
          <a:prstGeom prst="rect">
            <a:avLst/>
          </a:prstGeom>
          <a:solidFill>
            <a:srgbClr val="6B7280"/>
          </a:solidFill>
        </p:spPr>
      </p:sp>
      <p:sp>
        <p:nvSpPr>
          <p:cNvPr id="6" name="Shape 4"/>
          <p:cNvSpPr/>
          <p:nvPr/>
        </p:nvSpPr>
        <p:spPr bwMode="auto">
          <a:xfrm>
            <a:off x="1554480" y="1097280"/>
            <a:ext cx="402336" cy="402336"/>
          </a:xfrm>
          <a:prstGeom prst="ellipse">
            <a:avLst/>
          </a:prstGeom>
          <a:solidFill>
            <a:srgbClr val="6B7280"/>
          </a:solidFill>
        </p:spPr>
      </p:sp>
      <p:sp>
        <p:nvSpPr>
          <p:cNvPr id="7" name="Text 5"/>
          <p:cNvSpPr/>
          <p:nvPr/>
        </p:nvSpPr>
        <p:spPr bwMode="auto">
          <a:xfrm>
            <a:off x="91440" y="1060704"/>
            <a:ext cx="1371600" cy="365760"/>
          </a:xfrm>
          <a:prstGeom prst="rect">
            <a:avLst/>
          </a:prstGeom>
          <a:noFill/>
        </p:spPr>
        <p:txBody>
          <a:bodyPr wrap="square" rtlCol="0" anchor="ctr"/>
          <a:lstStyle/>
          <a:p>
            <a:pPr marL="0" indent="0" algn="r">
              <a:buNone/>
              <a:defRPr/>
            </a:pPr>
            <a:r>
              <a:rPr lang="en-US" sz="1100" b="1">
                <a:solidFill>
                  <a:srgbClr val="6B7280"/>
                </a:solidFill>
              </a:rPr>
              <a:t>1989</a:t>
            </a:r>
            <a:endParaRPr lang="en-US" sz="1100"/>
          </a:p>
        </p:txBody>
      </p:sp>
      <p:sp>
        <p:nvSpPr>
          <p:cNvPr id="8" name="Shape 6"/>
          <p:cNvSpPr/>
          <p:nvPr/>
        </p:nvSpPr>
        <p:spPr bwMode="auto">
          <a:xfrm>
            <a:off x="2240280" y="969264"/>
            <a:ext cx="6583680" cy="658368"/>
          </a:xfrm>
          <a:prstGeom prst="rect">
            <a:avLst/>
          </a:prstGeom>
          <a:solidFill>
            <a:srgbClr val="1F2937"/>
          </a:solidFill>
          <a:ln w="6350">
            <a:solidFill>
              <a:srgbClr val="6B7280"/>
            </a:solidFill>
            <a:prstDash val="solid"/>
          </a:ln>
        </p:spPr>
      </p:sp>
      <p:sp>
        <p:nvSpPr>
          <p:cNvPr id="9" name="Text 7"/>
          <p:cNvSpPr/>
          <p:nvPr/>
        </p:nvSpPr>
        <p:spPr bwMode="auto">
          <a:xfrm>
            <a:off x="2377440" y="1014984"/>
            <a:ext cx="4114800" cy="274320"/>
          </a:xfrm>
          <a:prstGeom prst="rect">
            <a:avLst/>
          </a:prstGeom>
          <a:noFill/>
        </p:spPr>
        <p:txBody>
          <a:bodyPr wrap="square" rtlCol="0" anchor="ctr"/>
          <a:lstStyle/>
          <a:p>
            <a:pPr marL="0" indent="0">
              <a:buNone/>
              <a:defRPr/>
            </a:pPr>
            <a:r>
              <a:rPr lang="en-US" sz="1100" b="1">
                <a:solidFill>
                  <a:srgbClr val="6B7280"/>
                </a:solidFill>
              </a:rPr>
              <a:t>AIDS Trojan — El Primer Ransomware</a:t>
            </a:r>
            <a:endParaRPr lang="en-US" sz="1100"/>
          </a:p>
        </p:txBody>
      </p:sp>
      <p:sp>
        <p:nvSpPr>
          <p:cNvPr id="10" name="Text 8"/>
          <p:cNvSpPr/>
          <p:nvPr/>
        </p:nvSpPr>
        <p:spPr bwMode="auto">
          <a:xfrm>
            <a:off x="2377440" y="1271016"/>
            <a:ext cx="6309360" cy="320040"/>
          </a:xfrm>
          <a:prstGeom prst="rect">
            <a:avLst/>
          </a:prstGeom>
          <a:noFill/>
        </p:spPr>
        <p:txBody>
          <a:bodyPr wrap="square" rtlCol="0" anchor="ctr"/>
          <a:lstStyle/>
          <a:p>
            <a:pPr marL="0" indent="0">
              <a:buNone/>
              <a:defRPr/>
            </a:pPr>
            <a:r>
              <a:rPr lang="en-US" sz="850">
                <a:solidFill>
                  <a:srgbClr val="D1D5DB"/>
                </a:solidFill>
              </a:rPr>
              <a:t>Joseph Popp distribuye 20,000 disquetes en conferencia de OMS. Cifra nombres de archivos; exige $189. Primer caso documentado de extorsión digital.</a:t>
            </a:r>
            <a:endParaRPr lang="en-US" sz="850"/>
          </a:p>
        </p:txBody>
      </p:sp>
      <p:sp>
        <p:nvSpPr>
          <p:cNvPr id="11" name="Shape 9"/>
          <p:cNvSpPr/>
          <p:nvPr/>
        </p:nvSpPr>
        <p:spPr bwMode="auto">
          <a:xfrm>
            <a:off x="1554480" y="1856232"/>
            <a:ext cx="402336" cy="402336"/>
          </a:xfrm>
          <a:prstGeom prst="ellipse">
            <a:avLst/>
          </a:prstGeom>
          <a:solidFill>
            <a:srgbClr val="FBBF24"/>
          </a:solidFill>
        </p:spPr>
      </p:sp>
      <p:sp>
        <p:nvSpPr>
          <p:cNvPr id="12" name="Text 10"/>
          <p:cNvSpPr/>
          <p:nvPr/>
        </p:nvSpPr>
        <p:spPr bwMode="auto">
          <a:xfrm>
            <a:off x="91440" y="1819656"/>
            <a:ext cx="1371600" cy="365760"/>
          </a:xfrm>
          <a:prstGeom prst="rect">
            <a:avLst/>
          </a:prstGeom>
          <a:noFill/>
        </p:spPr>
        <p:txBody>
          <a:bodyPr wrap="square" rtlCol="0" anchor="ctr"/>
          <a:lstStyle/>
          <a:p>
            <a:pPr marL="0" indent="0" algn="r">
              <a:buNone/>
              <a:defRPr/>
            </a:pPr>
            <a:r>
              <a:rPr lang="en-US" sz="1100" b="1">
                <a:solidFill>
                  <a:srgbClr val="FBBF24"/>
                </a:solidFill>
              </a:rPr>
              <a:t>2005–12</a:t>
            </a:r>
            <a:endParaRPr lang="en-US" sz="1100"/>
          </a:p>
        </p:txBody>
      </p:sp>
      <p:sp>
        <p:nvSpPr>
          <p:cNvPr id="13" name="Shape 11"/>
          <p:cNvSpPr/>
          <p:nvPr/>
        </p:nvSpPr>
        <p:spPr bwMode="auto">
          <a:xfrm>
            <a:off x="2240280" y="1728216"/>
            <a:ext cx="6583680" cy="658368"/>
          </a:xfrm>
          <a:prstGeom prst="rect">
            <a:avLst/>
          </a:prstGeom>
          <a:solidFill>
            <a:srgbClr val="1F2937"/>
          </a:solidFill>
          <a:ln w="6350">
            <a:solidFill>
              <a:srgbClr val="FBBF24"/>
            </a:solidFill>
            <a:prstDash val="solid"/>
          </a:ln>
        </p:spPr>
      </p:sp>
      <p:sp>
        <p:nvSpPr>
          <p:cNvPr id="14" name="Text 12"/>
          <p:cNvSpPr/>
          <p:nvPr/>
        </p:nvSpPr>
        <p:spPr bwMode="auto">
          <a:xfrm>
            <a:off x="2377440" y="1773936"/>
            <a:ext cx="4114800" cy="274320"/>
          </a:xfrm>
          <a:prstGeom prst="rect">
            <a:avLst/>
          </a:prstGeom>
          <a:noFill/>
        </p:spPr>
        <p:txBody>
          <a:bodyPr wrap="square" rtlCol="0" anchor="ctr"/>
          <a:lstStyle/>
          <a:p>
            <a:pPr marL="0" indent="0">
              <a:buNone/>
              <a:defRPr/>
            </a:pPr>
            <a:r>
              <a:rPr lang="en-US" sz="1100" b="1">
                <a:solidFill>
                  <a:srgbClr val="FBBF24"/>
                </a:solidFill>
              </a:rPr>
              <a:t>Era del Cifrado Real (GPCoder → Reveton)</a:t>
            </a:r>
            <a:endParaRPr lang="en-US" sz="1100"/>
          </a:p>
        </p:txBody>
      </p:sp>
      <p:sp>
        <p:nvSpPr>
          <p:cNvPr id="15" name="Text 13"/>
          <p:cNvSpPr/>
          <p:nvPr/>
        </p:nvSpPr>
        <p:spPr bwMode="auto">
          <a:xfrm>
            <a:off x="2377440" y="2029968"/>
            <a:ext cx="6309360" cy="320040"/>
          </a:xfrm>
          <a:prstGeom prst="rect">
            <a:avLst/>
          </a:prstGeom>
          <a:noFill/>
        </p:spPr>
        <p:txBody>
          <a:bodyPr wrap="square" rtlCol="0" anchor="ctr"/>
          <a:lstStyle/>
          <a:p>
            <a:pPr marL="0" indent="0">
              <a:buNone/>
              <a:defRPr/>
            </a:pPr>
            <a:r>
              <a:rPr lang="en-US" sz="850">
                <a:solidFill>
                  <a:srgbClr val="D1D5DB"/>
                </a:solidFill>
              </a:rPr>
              <a:t>GPCoder (2005) introduce cifrado RSA. Reveton (2012) implementa 'Ransomware de policía': finge ser autoridad y exige multas. Primera monetización masiva.</a:t>
            </a:r>
            <a:endParaRPr lang="en-US" sz="850"/>
          </a:p>
        </p:txBody>
      </p:sp>
      <p:sp>
        <p:nvSpPr>
          <p:cNvPr id="16" name="Shape 14"/>
          <p:cNvSpPr/>
          <p:nvPr/>
        </p:nvSpPr>
        <p:spPr bwMode="auto">
          <a:xfrm>
            <a:off x="1554480" y="2615184"/>
            <a:ext cx="402336" cy="402336"/>
          </a:xfrm>
          <a:prstGeom prst="ellipse">
            <a:avLst/>
          </a:prstGeom>
          <a:solidFill>
            <a:srgbClr val="F97316"/>
          </a:solidFill>
        </p:spPr>
      </p:sp>
      <p:sp>
        <p:nvSpPr>
          <p:cNvPr id="17" name="Text 15"/>
          <p:cNvSpPr/>
          <p:nvPr/>
        </p:nvSpPr>
        <p:spPr bwMode="auto">
          <a:xfrm>
            <a:off x="91440" y="2578608"/>
            <a:ext cx="1371600" cy="365760"/>
          </a:xfrm>
          <a:prstGeom prst="rect">
            <a:avLst/>
          </a:prstGeom>
          <a:noFill/>
        </p:spPr>
        <p:txBody>
          <a:bodyPr wrap="square" rtlCol="0" anchor="ctr"/>
          <a:lstStyle/>
          <a:p>
            <a:pPr marL="0" indent="0" algn="r">
              <a:buNone/>
              <a:defRPr/>
            </a:pPr>
            <a:r>
              <a:rPr lang="en-US" sz="1100" b="1">
                <a:solidFill>
                  <a:srgbClr val="F97316"/>
                </a:solidFill>
              </a:rPr>
              <a:t>2013–16</a:t>
            </a:r>
            <a:endParaRPr lang="en-US" sz="1100"/>
          </a:p>
        </p:txBody>
      </p:sp>
      <p:sp>
        <p:nvSpPr>
          <p:cNvPr id="18" name="Shape 16"/>
          <p:cNvSpPr/>
          <p:nvPr/>
        </p:nvSpPr>
        <p:spPr bwMode="auto">
          <a:xfrm>
            <a:off x="2240280" y="2487168"/>
            <a:ext cx="6583680" cy="658368"/>
          </a:xfrm>
          <a:prstGeom prst="rect">
            <a:avLst/>
          </a:prstGeom>
          <a:solidFill>
            <a:srgbClr val="1F2937"/>
          </a:solidFill>
          <a:ln w="6350">
            <a:solidFill>
              <a:srgbClr val="F97316"/>
            </a:solidFill>
            <a:prstDash val="solid"/>
          </a:ln>
        </p:spPr>
      </p:sp>
      <p:sp>
        <p:nvSpPr>
          <p:cNvPr id="19" name="Text 17"/>
          <p:cNvSpPr/>
          <p:nvPr/>
        </p:nvSpPr>
        <p:spPr bwMode="auto">
          <a:xfrm>
            <a:off x="2377440" y="2532888"/>
            <a:ext cx="4114800" cy="274320"/>
          </a:xfrm>
          <a:prstGeom prst="rect">
            <a:avLst/>
          </a:prstGeom>
          <a:noFill/>
        </p:spPr>
        <p:txBody>
          <a:bodyPr wrap="square" rtlCol="0" anchor="ctr"/>
          <a:lstStyle/>
          <a:p>
            <a:pPr marL="0" indent="0">
              <a:buNone/>
              <a:defRPr/>
            </a:pPr>
            <a:r>
              <a:rPr lang="en-US" sz="1100" b="1">
                <a:solidFill>
                  <a:srgbClr val="F97316"/>
                </a:solidFill>
              </a:rPr>
              <a:t>CryptoLocker — La Revolución Moderna</a:t>
            </a:r>
            <a:endParaRPr lang="en-US" sz="1100"/>
          </a:p>
        </p:txBody>
      </p:sp>
      <p:sp>
        <p:nvSpPr>
          <p:cNvPr id="20" name="Text 18"/>
          <p:cNvSpPr/>
          <p:nvPr/>
        </p:nvSpPr>
        <p:spPr bwMode="auto">
          <a:xfrm>
            <a:off x="2377440" y="2788920"/>
            <a:ext cx="6309360" cy="320040"/>
          </a:xfrm>
          <a:prstGeom prst="rect">
            <a:avLst/>
          </a:prstGeom>
          <a:noFill/>
        </p:spPr>
        <p:txBody>
          <a:bodyPr wrap="square" rtlCol="0" anchor="ctr"/>
          <a:lstStyle/>
          <a:p>
            <a:pPr marL="0" indent="0">
              <a:buNone/>
              <a:defRPr/>
            </a:pPr>
            <a:r>
              <a:rPr lang="en-US" sz="850">
                <a:solidFill>
                  <a:srgbClr val="D1D5DB"/>
                </a:solidFill>
              </a:rPr>
              <a:t>RSA-2048 con clave en C&amp;C. +500,000 víctimas. Introduce Bitcoin para pagos anónimos. Gameover Zeus lo propaga. Primer ransomware moderno verdaderamente exitoso.</a:t>
            </a:r>
            <a:endParaRPr lang="en-US" sz="850"/>
          </a:p>
        </p:txBody>
      </p:sp>
      <p:sp>
        <p:nvSpPr>
          <p:cNvPr id="21" name="Shape 19"/>
          <p:cNvSpPr/>
          <p:nvPr/>
        </p:nvSpPr>
        <p:spPr bwMode="auto">
          <a:xfrm>
            <a:off x="1554480" y="3374136"/>
            <a:ext cx="402336" cy="402336"/>
          </a:xfrm>
          <a:prstGeom prst="ellipse">
            <a:avLst/>
          </a:prstGeom>
          <a:solidFill>
            <a:srgbClr val="EF4444"/>
          </a:solidFill>
        </p:spPr>
      </p:sp>
      <p:sp>
        <p:nvSpPr>
          <p:cNvPr id="22" name="Text 20"/>
          <p:cNvSpPr/>
          <p:nvPr/>
        </p:nvSpPr>
        <p:spPr bwMode="auto">
          <a:xfrm>
            <a:off x="91440" y="3337560"/>
            <a:ext cx="1371600" cy="365760"/>
          </a:xfrm>
          <a:prstGeom prst="rect">
            <a:avLst/>
          </a:prstGeom>
          <a:noFill/>
        </p:spPr>
        <p:txBody>
          <a:bodyPr wrap="square" rtlCol="0" anchor="ctr"/>
          <a:lstStyle/>
          <a:p>
            <a:pPr marL="0" indent="0" algn="r">
              <a:buNone/>
              <a:defRPr/>
            </a:pPr>
            <a:r>
              <a:rPr lang="en-US" sz="1100" b="1">
                <a:solidFill>
                  <a:srgbClr val="EF4444"/>
                </a:solidFill>
              </a:rPr>
              <a:t>2017</a:t>
            </a:r>
            <a:endParaRPr lang="en-US" sz="1100"/>
          </a:p>
        </p:txBody>
      </p:sp>
      <p:sp>
        <p:nvSpPr>
          <p:cNvPr id="23" name="Shape 21"/>
          <p:cNvSpPr/>
          <p:nvPr/>
        </p:nvSpPr>
        <p:spPr bwMode="auto">
          <a:xfrm>
            <a:off x="2240280" y="3246120"/>
            <a:ext cx="6583680" cy="658368"/>
          </a:xfrm>
          <a:prstGeom prst="rect">
            <a:avLst/>
          </a:prstGeom>
          <a:solidFill>
            <a:srgbClr val="1F2937"/>
          </a:solidFill>
          <a:ln w="6350">
            <a:solidFill>
              <a:srgbClr val="EF4444"/>
            </a:solidFill>
            <a:prstDash val="solid"/>
          </a:ln>
        </p:spPr>
      </p:sp>
      <p:sp>
        <p:nvSpPr>
          <p:cNvPr id="24" name="Text 22"/>
          <p:cNvSpPr/>
          <p:nvPr/>
        </p:nvSpPr>
        <p:spPr bwMode="auto">
          <a:xfrm>
            <a:off x="2377440" y="3291840"/>
            <a:ext cx="4114800" cy="274320"/>
          </a:xfrm>
          <a:prstGeom prst="rect">
            <a:avLst/>
          </a:prstGeom>
          <a:noFill/>
        </p:spPr>
        <p:txBody>
          <a:bodyPr wrap="square" rtlCol="0" anchor="ctr"/>
          <a:lstStyle/>
          <a:p>
            <a:pPr marL="0" indent="0">
              <a:buNone/>
              <a:defRPr/>
            </a:pPr>
            <a:r>
              <a:rPr lang="en-US" sz="1100" b="1">
                <a:solidFill>
                  <a:srgbClr val="EF4444"/>
                </a:solidFill>
              </a:rPr>
              <a:t>WannaCry &amp; NotPetya — Arma Geopolítica</a:t>
            </a:r>
            <a:endParaRPr lang="en-US" sz="1100"/>
          </a:p>
        </p:txBody>
      </p:sp>
      <p:sp>
        <p:nvSpPr>
          <p:cNvPr id="25" name="Text 23"/>
          <p:cNvSpPr/>
          <p:nvPr/>
        </p:nvSpPr>
        <p:spPr bwMode="auto">
          <a:xfrm>
            <a:off x="2377440" y="3547872"/>
            <a:ext cx="6309360" cy="320040"/>
          </a:xfrm>
          <a:prstGeom prst="rect">
            <a:avLst/>
          </a:prstGeom>
          <a:noFill/>
        </p:spPr>
        <p:txBody>
          <a:bodyPr wrap="square" rtlCol="0" anchor="ctr"/>
          <a:lstStyle/>
          <a:p>
            <a:pPr marL="0" indent="0">
              <a:buNone/>
              <a:defRPr/>
            </a:pPr>
            <a:r>
              <a:rPr lang="en-US" sz="850">
                <a:solidFill>
                  <a:srgbClr val="D1D5DB"/>
                </a:solidFill>
              </a:rPr>
              <a:t>WannaCry: 230,000 equipos en 150 países en 4 horas (EternalBlue/NSA). NHS paralizado. NotPetya: $10B en daños, atribuido a Rusia. Ransomware como arma de Estado.</a:t>
            </a:r>
            <a:endParaRPr lang="en-US" sz="850"/>
          </a:p>
        </p:txBody>
      </p:sp>
      <p:sp>
        <p:nvSpPr>
          <p:cNvPr id="26" name="Shape 24"/>
          <p:cNvSpPr/>
          <p:nvPr/>
        </p:nvSpPr>
        <p:spPr bwMode="auto">
          <a:xfrm>
            <a:off x="1554480" y="4133088"/>
            <a:ext cx="402336" cy="402336"/>
          </a:xfrm>
          <a:prstGeom prst="ellipse">
            <a:avLst/>
          </a:prstGeom>
          <a:solidFill>
            <a:srgbClr val="FF6B35"/>
          </a:solidFill>
        </p:spPr>
      </p:sp>
      <p:sp>
        <p:nvSpPr>
          <p:cNvPr id="27" name="Text 25"/>
          <p:cNvSpPr/>
          <p:nvPr/>
        </p:nvSpPr>
        <p:spPr bwMode="auto">
          <a:xfrm>
            <a:off x="91440" y="4096512"/>
            <a:ext cx="1371600" cy="365760"/>
          </a:xfrm>
          <a:prstGeom prst="rect">
            <a:avLst/>
          </a:prstGeom>
          <a:noFill/>
        </p:spPr>
        <p:txBody>
          <a:bodyPr wrap="square" rtlCol="0" anchor="ctr"/>
          <a:lstStyle/>
          <a:p>
            <a:pPr marL="0" indent="0" algn="r">
              <a:buNone/>
              <a:defRPr/>
            </a:pPr>
            <a:r>
              <a:rPr lang="en-US" sz="1100" b="1">
                <a:solidFill>
                  <a:srgbClr val="FF6B35"/>
                </a:solidFill>
              </a:rPr>
              <a:t>2020–25</a:t>
            </a:r>
            <a:endParaRPr lang="en-US" sz="1100"/>
          </a:p>
        </p:txBody>
      </p:sp>
      <p:sp>
        <p:nvSpPr>
          <p:cNvPr id="28" name="Shape 26"/>
          <p:cNvSpPr/>
          <p:nvPr/>
        </p:nvSpPr>
        <p:spPr bwMode="auto">
          <a:xfrm>
            <a:off x="2240280" y="4005072"/>
            <a:ext cx="6583680" cy="658368"/>
          </a:xfrm>
          <a:prstGeom prst="rect">
            <a:avLst/>
          </a:prstGeom>
          <a:solidFill>
            <a:srgbClr val="1F2937"/>
          </a:solidFill>
          <a:ln w="6350">
            <a:solidFill>
              <a:srgbClr val="FF6B35"/>
            </a:solidFill>
            <a:prstDash val="solid"/>
          </a:ln>
        </p:spPr>
      </p:sp>
      <p:sp>
        <p:nvSpPr>
          <p:cNvPr id="29" name="Text 27"/>
          <p:cNvSpPr/>
          <p:nvPr/>
        </p:nvSpPr>
        <p:spPr bwMode="auto">
          <a:xfrm>
            <a:off x="2377440" y="4050792"/>
            <a:ext cx="4114800" cy="274320"/>
          </a:xfrm>
          <a:prstGeom prst="rect">
            <a:avLst/>
          </a:prstGeom>
          <a:noFill/>
        </p:spPr>
        <p:txBody>
          <a:bodyPr wrap="square" rtlCol="0" anchor="ctr"/>
          <a:lstStyle/>
          <a:p>
            <a:pPr marL="0" indent="0">
              <a:buNone/>
              <a:defRPr/>
            </a:pPr>
            <a:r>
              <a:rPr lang="en-US" sz="1100" b="1">
                <a:solidFill>
                  <a:srgbClr val="FF6B35"/>
                </a:solidFill>
              </a:rPr>
              <a:t>RaaS &amp; Qilin/Akira — Era Actual</a:t>
            </a:r>
            <a:endParaRPr lang="en-US" sz="1100"/>
          </a:p>
        </p:txBody>
      </p:sp>
      <p:sp>
        <p:nvSpPr>
          <p:cNvPr id="30" name="Text 28"/>
          <p:cNvSpPr/>
          <p:nvPr/>
        </p:nvSpPr>
        <p:spPr bwMode="auto">
          <a:xfrm>
            <a:off x="2377440" y="4306824"/>
            <a:ext cx="6309360" cy="320040"/>
          </a:xfrm>
          <a:prstGeom prst="rect">
            <a:avLst/>
          </a:prstGeom>
          <a:noFill/>
        </p:spPr>
        <p:txBody>
          <a:bodyPr wrap="square" rtlCol="0" anchor="ctr"/>
          <a:lstStyle/>
          <a:p>
            <a:pPr marL="0" indent="0">
              <a:buNone/>
              <a:defRPr/>
            </a:pPr>
            <a:r>
              <a:rPr lang="en-US" sz="850">
                <a:solidFill>
                  <a:srgbClr val="D1D5DB"/>
                </a:solidFill>
              </a:rPr>
              <a:t>RaaS democratiza ataques. LockBit cae (Op. Cronos, 2024). Qilin: 1,001 víctimas en 2025, #1 global. Akira: $244M extorsionados. Change Healthcare: 193M afectados.</a:t>
            </a:r>
            <a:endParaRPr lang="en-US" sz="8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1854346021" name="Shape 0"/>
          <p:cNvSpPr/>
          <p:nvPr/>
        </p:nvSpPr>
        <p:spPr bwMode="auto">
          <a:xfrm>
            <a:off x="0" y="0"/>
            <a:ext cx="9144000" cy="73152"/>
          </a:xfrm>
          <a:prstGeom prst="rect">
            <a:avLst/>
          </a:prstGeom>
          <a:solidFill>
            <a:srgbClr val="EF4444"/>
          </a:solidFill>
        </p:spPr>
      </p:sp>
      <p:pic>
        <p:nvPicPr>
          <p:cNvPr id="2125052431" name="Imagen 2125052430"/>
          <p:cNvPicPr>
            <a:picLocks noChangeAspect="1"/>
          </p:cNvPicPr>
          <p:nvPr/>
        </p:nvPicPr>
        <p:blipFill>
          <a:blip r:embed="rId1"/>
          <a:stretch>
            <a:fillRect/>
          </a:stretch>
        </p:blipFill>
        <p:spPr bwMode="auto">
          <a:xfrm>
            <a:off x="0" y="73151"/>
            <a:ext cx="9143999" cy="508233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1840398895" name="Shape 0"/>
          <p:cNvSpPr/>
          <p:nvPr/>
        </p:nvSpPr>
        <p:spPr bwMode="auto">
          <a:xfrm>
            <a:off x="0" y="0"/>
            <a:ext cx="9144000" cy="73152"/>
          </a:xfrm>
          <a:prstGeom prst="rect">
            <a:avLst/>
          </a:prstGeom>
          <a:solidFill>
            <a:srgbClr val="EF4444"/>
          </a:solidFill>
        </p:spPr>
      </p:sp>
      <p:sp>
        <p:nvSpPr>
          <p:cNvPr id="557791710" name="Shape 1"/>
          <p:cNvSpPr/>
          <p:nvPr/>
        </p:nvSpPr>
        <p:spPr bwMode="auto">
          <a:xfrm>
            <a:off x="0" y="73152"/>
            <a:ext cx="9144000" cy="777240"/>
          </a:xfrm>
          <a:prstGeom prst="rect">
            <a:avLst/>
          </a:prstGeom>
          <a:solidFill>
            <a:srgbClr val="161B22"/>
          </a:solidFill>
        </p:spPr>
      </p:sp>
      <p:sp>
        <p:nvSpPr>
          <p:cNvPr id="1691640826" name="Text 2"/>
          <p:cNvSpPr/>
          <p:nvPr/>
        </p:nvSpPr>
        <p:spPr bwMode="auto">
          <a:xfrm>
            <a:off x="338327" y="96012"/>
            <a:ext cx="8412480" cy="365760"/>
          </a:xfrm>
          <a:prstGeom prst="rect">
            <a:avLst/>
          </a:prstGeom>
          <a:noFill/>
        </p:spPr>
        <p:txBody>
          <a:bodyPr wrap="square" rtlCol="0" anchor="ctr"/>
          <a:lstStyle/>
          <a:p>
            <a:pPr marL="0" indent="0">
              <a:buNone/>
              <a:defRPr/>
            </a:pPr>
            <a:r>
              <a:rPr lang="en-US" sz="2200" b="1">
                <a:solidFill>
                  <a:srgbClr val="FFFFFF"/>
                </a:solidFill>
              </a:rPr>
              <a:t>  </a:t>
            </a:r>
            <a:r>
              <a:rPr lang="es-ES" sz="2200" b="1">
                <a:solidFill>
                  <a:srgbClr val="FFFFFF"/>
                </a:solidFill>
              </a:rPr>
              <a:t>   </a:t>
            </a:r>
            <a:r>
              <a:rPr lang="es-ES" sz="2200" b="1">
                <a:solidFill>
                  <a:srgbClr val="FFFFFF"/>
                </a:solidFill>
              </a:rPr>
              <a:t> </a:t>
            </a:r>
            <a:r>
              <a:rPr lang="en-US" sz="2200" b="1" i="0" u="none" strike="noStrike" cap="none" spc="0">
                <a:solidFill>
                  <a:schemeClr val="bg1"/>
                </a:solidFill>
                <a:latin typeface="+mn-lt"/>
                <a:ea typeface="+mn-ea"/>
                <a:cs typeface="+mn-cs"/>
              </a:rPr>
              <a:t>RANSOMWARE-AS-A-SERVICE (RaaS)</a:t>
            </a:r>
            <a:endParaRPr lang="en-US" sz="2200"/>
          </a:p>
        </p:txBody>
      </p:sp>
      <p:sp>
        <p:nvSpPr>
          <p:cNvPr id="2008789462" name="Shape 3"/>
          <p:cNvSpPr/>
          <p:nvPr/>
        </p:nvSpPr>
        <p:spPr bwMode="auto">
          <a:xfrm>
            <a:off x="274320" y="552901"/>
            <a:ext cx="8595360" cy="566118"/>
          </a:xfrm>
          <a:prstGeom prst="rect">
            <a:avLst/>
          </a:prstGeom>
          <a:solidFill>
            <a:srgbClr val="1A0A00"/>
          </a:solidFill>
          <a:ln w="25400">
            <a:solidFill>
              <a:srgbClr val="FF6B35"/>
            </a:solidFill>
            <a:prstDash val="solid"/>
          </a:ln>
        </p:spPr>
      </p:sp>
      <p:sp>
        <p:nvSpPr>
          <p:cNvPr id="374846362" name="Shape 4"/>
          <p:cNvSpPr/>
          <p:nvPr/>
        </p:nvSpPr>
        <p:spPr bwMode="auto">
          <a:xfrm>
            <a:off x="274320" y="552901"/>
            <a:ext cx="64008" cy="566118"/>
          </a:xfrm>
          <a:prstGeom prst="rect">
            <a:avLst/>
          </a:prstGeom>
          <a:solidFill>
            <a:srgbClr val="FF6B35"/>
          </a:solidFill>
        </p:spPr>
      </p:sp>
      <p:sp>
        <p:nvSpPr>
          <p:cNvPr id="773782033" name="Text 6"/>
          <p:cNvSpPr/>
          <p:nvPr/>
        </p:nvSpPr>
        <p:spPr bwMode="auto">
          <a:xfrm>
            <a:off x="274320" y="779261"/>
            <a:ext cx="8229600" cy="339757"/>
          </a:xfrm>
          <a:prstGeom prst="rect">
            <a:avLst/>
          </a:prstGeom>
          <a:noFill/>
        </p:spPr>
        <p:txBody>
          <a:bodyPr wrap="square" rtlCol="0" anchor="ctr"/>
          <a:lstStyle/>
          <a:p>
            <a:pPr>
              <a:defRPr/>
            </a:pPr>
            <a:r>
              <a:rPr lang="es-ES" sz="1200" b="0" i="0" u="none" strike="noStrike" cap="none" spc="0">
                <a:solidFill>
                  <a:schemeClr val="bg1"/>
                </a:solidFill>
                <a:latin typeface="Times New Roman" panose="02020603050405020304"/>
                <a:ea typeface="Arial" panose="020B0604020202020204"/>
                <a:cs typeface="Arial" panose="020B0604020202020204"/>
              </a:rPr>
              <a:t>E</a:t>
            </a:r>
            <a:r>
              <a:rPr lang="en-US" sz="1200" b="0" i="0" u="none" strike="noStrike" cap="none" spc="0">
                <a:solidFill>
                  <a:schemeClr val="bg1"/>
                </a:solidFill>
                <a:latin typeface="+mn-lt"/>
                <a:ea typeface="+mn-ea"/>
                <a:cs typeface="+mn-cs"/>
              </a:rPr>
              <a:t>s un modelo de negocio criminal donde desarrolladores (operadores) crean y distribuyen malware ransomware, mientras que terceros (afiliados) ejecutan los ataques a cambio de comisiones.</a:t>
            </a:r>
            <a:endParaRPr sz="1200">
              <a:solidFill>
                <a:schemeClr val="bg1"/>
              </a:solidFill>
              <a:latin typeface="Arial" panose="020B0604020202020204"/>
              <a:cs typeface="Arial" panose="020B0604020202020204"/>
            </a:endParaRPr>
          </a:p>
          <a:p>
            <a:pPr marL="0" indent="0">
              <a:buNone/>
              <a:defRPr/>
            </a:pPr>
            <a:endParaRPr lang="en-US" sz="1200"/>
          </a:p>
          <a:p>
            <a:pPr marL="0" indent="0">
              <a:buNone/>
              <a:defRPr/>
            </a:pPr>
            <a:endParaRPr sz="1200">
              <a:solidFill>
                <a:schemeClr val="bg1"/>
              </a:solidFill>
            </a:endParaRPr>
          </a:p>
        </p:txBody>
      </p:sp>
      <p:pic>
        <p:nvPicPr>
          <p:cNvPr id="551677158" name="Imagen 551677157"/>
          <p:cNvPicPr>
            <a:picLocks noChangeAspect="1"/>
          </p:cNvPicPr>
          <p:nvPr/>
        </p:nvPicPr>
        <p:blipFill>
          <a:blip r:embed="rId1"/>
          <a:srcRect b="6115"/>
          <a:stretch>
            <a:fillRect/>
          </a:stretch>
        </p:blipFill>
        <p:spPr bwMode="auto">
          <a:xfrm>
            <a:off x="1391334" y="1185629"/>
            <a:ext cx="6908752" cy="389799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CÓMO FUNCIONA — CADENA DE ATAQUE 2025</a:t>
            </a:r>
            <a:endParaRPr lang="en-US" sz="2200"/>
          </a:p>
        </p:txBody>
      </p:sp>
      <p:sp>
        <p:nvSpPr>
          <p:cNvPr id="5" name="Shape 3"/>
          <p:cNvSpPr/>
          <p:nvPr/>
        </p:nvSpPr>
        <p:spPr bwMode="auto">
          <a:xfrm>
            <a:off x="182880" y="1051560"/>
            <a:ext cx="2834640" cy="1691640"/>
          </a:xfrm>
          <a:prstGeom prst="rect">
            <a:avLst/>
          </a:prstGeom>
          <a:solidFill>
            <a:srgbClr val="1F2937"/>
          </a:solidFill>
          <a:ln w="19050">
            <a:solidFill>
              <a:srgbClr val="EF4444"/>
            </a:solidFill>
            <a:prstDash val="solid"/>
          </a:ln>
        </p:spPr>
      </p:sp>
      <p:sp>
        <p:nvSpPr>
          <p:cNvPr id="6" name="Shape 4"/>
          <p:cNvSpPr/>
          <p:nvPr/>
        </p:nvSpPr>
        <p:spPr bwMode="auto">
          <a:xfrm>
            <a:off x="274320" y="1143000"/>
            <a:ext cx="457200" cy="457200"/>
          </a:xfrm>
          <a:prstGeom prst="ellipse">
            <a:avLst/>
          </a:prstGeom>
          <a:solidFill>
            <a:srgbClr val="EF4444"/>
          </a:solidFill>
        </p:spPr>
      </p:sp>
      <p:sp>
        <p:nvSpPr>
          <p:cNvPr id="7" name="Text 5"/>
          <p:cNvSpPr/>
          <p:nvPr/>
        </p:nvSpPr>
        <p:spPr bwMode="auto">
          <a:xfrm>
            <a:off x="274320" y="1161288"/>
            <a:ext cx="457200" cy="365760"/>
          </a:xfrm>
          <a:prstGeom prst="rect">
            <a:avLst/>
          </a:prstGeom>
          <a:noFill/>
        </p:spPr>
        <p:txBody>
          <a:bodyPr wrap="square" rtlCol="0" anchor="ctr"/>
          <a:lstStyle/>
          <a:p>
            <a:pPr marL="0" indent="0" algn="ctr">
              <a:buNone/>
              <a:defRPr/>
            </a:pPr>
            <a:r>
              <a:rPr lang="en-US" sz="1300" b="1">
                <a:solidFill>
                  <a:srgbClr val="0D1117"/>
                </a:solidFill>
              </a:rPr>
              <a:t>1</a:t>
            </a:r>
            <a:endParaRPr lang="en-US" sz="1300"/>
          </a:p>
        </p:txBody>
      </p:sp>
      <p:sp>
        <p:nvSpPr>
          <p:cNvPr id="8" name="Text 6"/>
          <p:cNvSpPr/>
          <p:nvPr/>
        </p:nvSpPr>
        <p:spPr bwMode="auto">
          <a:xfrm>
            <a:off x="822960" y="1124712"/>
            <a:ext cx="2103120" cy="457200"/>
          </a:xfrm>
          <a:prstGeom prst="rect">
            <a:avLst/>
          </a:prstGeom>
          <a:noFill/>
        </p:spPr>
        <p:txBody>
          <a:bodyPr wrap="square" rtlCol="0" anchor="ctr"/>
          <a:lstStyle/>
          <a:p>
            <a:pPr marL="0" indent="0">
              <a:buNone/>
              <a:defRPr/>
            </a:pPr>
            <a:r>
              <a:rPr lang="en-US" sz="1200" b="1">
                <a:solidFill>
                  <a:srgbClr val="EF4444"/>
                </a:solidFill>
              </a:rPr>
              <a:t>📧 Acceso Inicial</a:t>
            </a:r>
            <a:endParaRPr lang="en-US" sz="1200"/>
          </a:p>
        </p:txBody>
      </p:sp>
      <p:sp>
        <p:nvSpPr>
          <p:cNvPr id="9" name="Text 7"/>
          <p:cNvSpPr/>
          <p:nvPr/>
        </p:nvSpPr>
        <p:spPr bwMode="auto">
          <a:xfrm>
            <a:off x="292608" y="1645920"/>
            <a:ext cx="2633472" cy="1024128"/>
          </a:xfrm>
          <a:prstGeom prst="rect">
            <a:avLst/>
          </a:prstGeom>
          <a:noFill/>
        </p:spPr>
        <p:txBody>
          <a:bodyPr wrap="square" rtlCol="0" anchor="ctr"/>
          <a:lstStyle/>
          <a:p>
            <a:pPr marL="0" indent="0">
              <a:buNone/>
              <a:defRPr/>
            </a:pPr>
            <a:r>
              <a:rPr lang="en-US" sz="950">
                <a:solidFill>
                  <a:srgbClr val="D1D5DB"/>
                </a:solidFill>
              </a:rPr>
              <a:t>Vuln. explotadas (32%), </a:t>
            </a:r>
            <a:r>
              <a:rPr lang="en-US" sz="950">
                <a:solidFill>
                  <a:srgbClr val="D1D5DB"/>
                </a:solidFill>
              </a:rPr>
              <a:t>credenciales</a:t>
            </a:r>
            <a:r>
              <a:rPr lang="en-US" sz="950">
                <a:solidFill>
                  <a:srgbClr val="D1D5DB"/>
                </a:solidFill>
              </a:rPr>
              <a:t> </a:t>
            </a:r>
            <a:r>
              <a:rPr lang="en-US" sz="950">
                <a:solidFill>
                  <a:srgbClr val="D1D5DB"/>
                </a:solidFill>
              </a:rPr>
              <a:t>comprometidas</a:t>
            </a:r>
            <a:r>
              <a:rPr lang="en-US" sz="950">
                <a:solidFill>
                  <a:srgbClr val="D1D5DB"/>
                </a:solidFill>
              </a:rPr>
              <a:t> (23%), phishing (18%). </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Tiempo medio: 9 días hasta ejecución. (Sophos 2025)</a:t>
            </a:r>
            <a:endParaRPr lang="en-US" sz="950"/>
          </a:p>
        </p:txBody>
      </p:sp>
      <p:sp>
        <p:nvSpPr>
          <p:cNvPr id="10" name="Shape 8"/>
          <p:cNvSpPr/>
          <p:nvPr/>
        </p:nvSpPr>
        <p:spPr bwMode="auto">
          <a:xfrm>
            <a:off x="3154680" y="1051560"/>
            <a:ext cx="2834640" cy="1691640"/>
          </a:xfrm>
          <a:prstGeom prst="rect">
            <a:avLst/>
          </a:prstGeom>
          <a:solidFill>
            <a:srgbClr val="1F2937"/>
          </a:solidFill>
          <a:ln w="19050">
            <a:solidFill>
              <a:srgbClr val="F97316"/>
            </a:solidFill>
            <a:prstDash val="solid"/>
          </a:ln>
        </p:spPr>
      </p:sp>
      <p:sp>
        <p:nvSpPr>
          <p:cNvPr id="11" name="Shape 9"/>
          <p:cNvSpPr/>
          <p:nvPr/>
        </p:nvSpPr>
        <p:spPr bwMode="auto">
          <a:xfrm>
            <a:off x="3246120" y="1143000"/>
            <a:ext cx="457200" cy="457200"/>
          </a:xfrm>
          <a:prstGeom prst="ellipse">
            <a:avLst/>
          </a:prstGeom>
          <a:solidFill>
            <a:srgbClr val="F97316"/>
          </a:solidFill>
        </p:spPr>
      </p:sp>
      <p:sp>
        <p:nvSpPr>
          <p:cNvPr id="12" name="Text 10"/>
          <p:cNvSpPr/>
          <p:nvPr/>
        </p:nvSpPr>
        <p:spPr bwMode="auto">
          <a:xfrm>
            <a:off x="3246120" y="1161288"/>
            <a:ext cx="457200" cy="365760"/>
          </a:xfrm>
          <a:prstGeom prst="rect">
            <a:avLst/>
          </a:prstGeom>
          <a:noFill/>
        </p:spPr>
        <p:txBody>
          <a:bodyPr wrap="square" rtlCol="0" anchor="ctr"/>
          <a:lstStyle/>
          <a:p>
            <a:pPr marL="0" indent="0" algn="ctr">
              <a:buNone/>
              <a:defRPr/>
            </a:pPr>
            <a:r>
              <a:rPr lang="en-US" sz="1300" b="1">
                <a:solidFill>
                  <a:srgbClr val="0D1117"/>
                </a:solidFill>
              </a:rPr>
              <a:t>2</a:t>
            </a:r>
            <a:endParaRPr lang="en-US" sz="1300"/>
          </a:p>
        </p:txBody>
      </p:sp>
      <p:sp>
        <p:nvSpPr>
          <p:cNvPr id="13" name="Text 11"/>
          <p:cNvSpPr/>
          <p:nvPr/>
        </p:nvSpPr>
        <p:spPr bwMode="auto">
          <a:xfrm>
            <a:off x="3794760" y="1124712"/>
            <a:ext cx="2103120" cy="457200"/>
          </a:xfrm>
          <a:prstGeom prst="rect">
            <a:avLst/>
          </a:prstGeom>
          <a:noFill/>
        </p:spPr>
        <p:txBody>
          <a:bodyPr wrap="square" rtlCol="0" anchor="ctr"/>
          <a:lstStyle/>
          <a:p>
            <a:pPr marL="0" indent="0">
              <a:buNone/>
              <a:defRPr/>
            </a:pPr>
            <a:r>
              <a:rPr lang="en-US" sz="1200" b="1">
                <a:solidFill>
                  <a:srgbClr val="F97316"/>
                </a:solidFill>
              </a:rPr>
              <a:t>🔍 Reconocimiento</a:t>
            </a:r>
            <a:endParaRPr lang="en-US" sz="1200"/>
          </a:p>
          <a:p>
            <a:pPr marL="0" indent="0">
              <a:buNone/>
              <a:defRPr/>
            </a:pPr>
            <a:r>
              <a:rPr lang="en-US" sz="1200" b="1">
                <a:solidFill>
                  <a:srgbClr val="F97316"/>
                </a:solidFill>
              </a:rPr>
              <a:t>Lateral</a:t>
            </a:r>
            <a:endParaRPr lang="en-US" sz="1200"/>
          </a:p>
        </p:txBody>
      </p:sp>
      <p:sp>
        <p:nvSpPr>
          <p:cNvPr id="14" name="Text 12"/>
          <p:cNvSpPr/>
          <p:nvPr/>
        </p:nvSpPr>
        <p:spPr bwMode="auto">
          <a:xfrm>
            <a:off x="3264408" y="1645920"/>
            <a:ext cx="2633472" cy="1024128"/>
          </a:xfrm>
          <a:prstGeom prst="rect">
            <a:avLst/>
          </a:prstGeom>
          <a:noFill/>
        </p:spPr>
        <p:txBody>
          <a:bodyPr wrap="square" rtlCol="0" anchor="ctr"/>
          <a:lstStyle/>
          <a:p>
            <a:pPr marL="0" indent="0">
              <a:buNone/>
              <a:defRPr/>
            </a:pPr>
            <a:r>
              <a:rPr lang="en-US" sz="950">
                <a:solidFill>
                  <a:srgbClr val="D1D5DB"/>
                </a:solidFill>
              </a:rPr>
              <a:t>Mapeo de red, identificación de backups y DC. Uso de LOLBins (AnyDesk, PsExec). </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Semanas</a:t>
            </a:r>
            <a:r>
              <a:rPr lang="en-US" sz="950">
                <a:solidFill>
                  <a:srgbClr val="D1D5DB"/>
                </a:solidFill>
              </a:rPr>
              <a:t> de persistencia silenciosa.</a:t>
            </a:r>
            <a:endParaRPr lang="en-US" sz="950"/>
          </a:p>
        </p:txBody>
      </p:sp>
      <p:sp>
        <p:nvSpPr>
          <p:cNvPr id="15" name="Shape 13"/>
          <p:cNvSpPr/>
          <p:nvPr/>
        </p:nvSpPr>
        <p:spPr bwMode="auto">
          <a:xfrm>
            <a:off x="6126480" y="1051560"/>
            <a:ext cx="2834640" cy="1691640"/>
          </a:xfrm>
          <a:prstGeom prst="rect">
            <a:avLst/>
          </a:prstGeom>
          <a:solidFill>
            <a:srgbClr val="1F2937"/>
          </a:solidFill>
          <a:ln w="19050">
            <a:solidFill>
              <a:srgbClr val="FBBF24"/>
            </a:solidFill>
            <a:prstDash val="solid"/>
          </a:ln>
        </p:spPr>
      </p:sp>
      <p:sp>
        <p:nvSpPr>
          <p:cNvPr id="16" name="Shape 14"/>
          <p:cNvSpPr/>
          <p:nvPr/>
        </p:nvSpPr>
        <p:spPr bwMode="auto">
          <a:xfrm>
            <a:off x="6217920" y="1143000"/>
            <a:ext cx="457200" cy="457200"/>
          </a:xfrm>
          <a:prstGeom prst="ellipse">
            <a:avLst/>
          </a:prstGeom>
          <a:solidFill>
            <a:srgbClr val="FBBF24"/>
          </a:solidFill>
        </p:spPr>
      </p:sp>
      <p:sp>
        <p:nvSpPr>
          <p:cNvPr id="17" name="Text 15"/>
          <p:cNvSpPr/>
          <p:nvPr/>
        </p:nvSpPr>
        <p:spPr bwMode="auto">
          <a:xfrm>
            <a:off x="6217920" y="1161288"/>
            <a:ext cx="457200" cy="365760"/>
          </a:xfrm>
          <a:prstGeom prst="rect">
            <a:avLst/>
          </a:prstGeom>
          <a:noFill/>
        </p:spPr>
        <p:txBody>
          <a:bodyPr wrap="square" rtlCol="0" anchor="ctr"/>
          <a:lstStyle/>
          <a:p>
            <a:pPr marL="0" indent="0" algn="ctr">
              <a:buNone/>
              <a:defRPr/>
            </a:pPr>
            <a:r>
              <a:rPr lang="en-US" sz="1300" b="1">
                <a:solidFill>
                  <a:srgbClr val="0D1117"/>
                </a:solidFill>
              </a:rPr>
              <a:t>3</a:t>
            </a:r>
            <a:endParaRPr lang="en-US" sz="1300"/>
          </a:p>
        </p:txBody>
      </p:sp>
      <p:sp>
        <p:nvSpPr>
          <p:cNvPr id="18" name="Text 16"/>
          <p:cNvSpPr/>
          <p:nvPr/>
        </p:nvSpPr>
        <p:spPr bwMode="auto">
          <a:xfrm>
            <a:off x="6766560" y="1124712"/>
            <a:ext cx="2103120" cy="457200"/>
          </a:xfrm>
          <a:prstGeom prst="rect">
            <a:avLst/>
          </a:prstGeom>
          <a:noFill/>
        </p:spPr>
        <p:txBody>
          <a:bodyPr wrap="square" rtlCol="0" anchor="ctr"/>
          <a:lstStyle/>
          <a:p>
            <a:pPr marL="0" indent="0">
              <a:buNone/>
              <a:defRPr/>
            </a:pPr>
            <a:r>
              <a:rPr lang="en-US" sz="1200" b="1">
                <a:solidFill>
                  <a:srgbClr val="FBBF24"/>
                </a:solidFill>
              </a:rPr>
              <a:t>📤 Exfiltración</a:t>
            </a:r>
            <a:endParaRPr lang="en-US" sz="1200"/>
          </a:p>
          <a:p>
            <a:pPr marL="0" indent="0">
              <a:buNone/>
              <a:defRPr/>
            </a:pPr>
            <a:r>
              <a:rPr lang="en-US" sz="1200" b="1">
                <a:solidFill>
                  <a:srgbClr val="FBBF24"/>
                </a:solidFill>
              </a:rPr>
              <a:t>(Doble extorsión)</a:t>
            </a:r>
            <a:endParaRPr lang="en-US" sz="1200"/>
          </a:p>
        </p:txBody>
      </p:sp>
      <p:sp>
        <p:nvSpPr>
          <p:cNvPr id="19" name="Text 17"/>
          <p:cNvSpPr/>
          <p:nvPr/>
        </p:nvSpPr>
        <p:spPr bwMode="auto">
          <a:xfrm>
            <a:off x="6236208" y="1645920"/>
            <a:ext cx="2633472" cy="1024128"/>
          </a:xfrm>
          <a:prstGeom prst="rect">
            <a:avLst/>
          </a:prstGeom>
          <a:noFill/>
        </p:spPr>
        <p:txBody>
          <a:bodyPr wrap="square" rtlCol="0" anchor="ctr"/>
          <a:lstStyle/>
          <a:p>
            <a:pPr marL="0" indent="0">
              <a:buNone/>
              <a:defRPr/>
            </a:pPr>
            <a:r>
              <a:rPr lang="en-US" sz="950">
                <a:solidFill>
                  <a:srgbClr val="D1D5DB"/>
                </a:solidFill>
              </a:rPr>
              <a:t>ANTES de cifrar, roban datos. En 2025, solo 50% de ataques cifran archivos. </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El robo de datos es el vector primario de presión.</a:t>
            </a:r>
            <a:endParaRPr lang="en-US" sz="950"/>
          </a:p>
        </p:txBody>
      </p:sp>
      <p:sp>
        <p:nvSpPr>
          <p:cNvPr id="20" name="Shape 18"/>
          <p:cNvSpPr/>
          <p:nvPr/>
        </p:nvSpPr>
        <p:spPr bwMode="auto">
          <a:xfrm>
            <a:off x="182880" y="2926080"/>
            <a:ext cx="2834640" cy="1691640"/>
          </a:xfrm>
          <a:prstGeom prst="rect">
            <a:avLst/>
          </a:prstGeom>
          <a:solidFill>
            <a:srgbClr val="1F2937"/>
          </a:solidFill>
          <a:ln w="19050">
            <a:solidFill>
              <a:srgbClr val="FF6B35"/>
            </a:solidFill>
            <a:prstDash val="solid"/>
          </a:ln>
        </p:spPr>
      </p:sp>
      <p:sp>
        <p:nvSpPr>
          <p:cNvPr id="21" name="Shape 19"/>
          <p:cNvSpPr/>
          <p:nvPr/>
        </p:nvSpPr>
        <p:spPr bwMode="auto">
          <a:xfrm>
            <a:off x="274320" y="3017519"/>
            <a:ext cx="457200" cy="457200"/>
          </a:xfrm>
          <a:prstGeom prst="ellipse">
            <a:avLst/>
          </a:prstGeom>
          <a:solidFill>
            <a:srgbClr val="FF6B35"/>
          </a:solidFill>
        </p:spPr>
      </p:sp>
      <p:sp>
        <p:nvSpPr>
          <p:cNvPr id="22" name="Text 20"/>
          <p:cNvSpPr/>
          <p:nvPr/>
        </p:nvSpPr>
        <p:spPr bwMode="auto">
          <a:xfrm>
            <a:off x="274320" y="3035808"/>
            <a:ext cx="457200" cy="365760"/>
          </a:xfrm>
          <a:prstGeom prst="rect">
            <a:avLst/>
          </a:prstGeom>
          <a:noFill/>
        </p:spPr>
        <p:txBody>
          <a:bodyPr wrap="square" rtlCol="0" anchor="ctr"/>
          <a:lstStyle/>
          <a:p>
            <a:pPr marL="0" indent="0" algn="ctr">
              <a:buNone/>
              <a:defRPr/>
            </a:pPr>
            <a:r>
              <a:rPr lang="en-US" sz="1300" b="1">
                <a:solidFill>
                  <a:srgbClr val="0D1117"/>
                </a:solidFill>
              </a:rPr>
              <a:t>4</a:t>
            </a:r>
            <a:endParaRPr lang="en-US" sz="1300"/>
          </a:p>
        </p:txBody>
      </p:sp>
      <p:sp>
        <p:nvSpPr>
          <p:cNvPr id="23" name="Text 21"/>
          <p:cNvSpPr/>
          <p:nvPr/>
        </p:nvSpPr>
        <p:spPr bwMode="auto">
          <a:xfrm>
            <a:off x="822960" y="2999232"/>
            <a:ext cx="2103120" cy="457200"/>
          </a:xfrm>
          <a:prstGeom prst="rect">
            <a:avLst/>
          </a:prstGeom>
          <a:noFill/>
        </p:spPr>
        <p:txBody>
          <a:bodyPr wrap="square" rtlCol="0" anchor="ctr"/>
          <a:lstStyle/>
          <a:p>
            <a:pPr marL="0" indent="0">
              <a:buNone/>
              <a:defRPr/>
            </a:pPr>
            <a:r>
              <a:rPr lang="en-US" sz="1200" b="1">
                <a:solidFill>
                  <a:srgbClr val="FF6B35"/>
                </a:solidFill>
              </a:rPr>
              <a:t>🔐 Cifrado</a:t>
            </a:r>
            <a:endParaRPr lang="en-US" sz="1200"/>
          </a:p>
        </p:txBody>
      </p:sp>
      <p:sp>
        <p:nvSpPr>
          <p:cNvPr id="24" name="Text 22"/>
          <p:cNvSpPr/>
          <p:nvPr/>
        </p:nvSpPr>
        <p:spPr bwMode="auto">
          <a:xfrm>
            <a:off x="292608" y="3337560"/>
            <a:ext cx="2633472" cy="1024128"/>
          </a:xfrm>
          <a:prstGeom prst="rect">
            <a:avLst/>
          </a:prstGeom>
          <a:noFill/>
        </p:spPr>
        <p:txBody>
          <a:bodyPr wrap="square" rtlCol="0" anchor="ctr"/>
          <a:lstStyle/>
          <a:p>
            <a:pPr marL="0" indent="0">
              <a:buNone/>
              <a:defRPr/>
            </a:pPr>
            <a:r>
              <a:rPr lang="en-US" sz="950">
                <a:solidFill>
                  <a:srgbClr val="D1D5DB"/>
                </a:solidFill>
              </a:rPr>
              <a:t>AES-256 para archivos + RSA-2048 para proteger la clave. Shadow Copies eliminadas vía PowerShell. Extensión .locked o propia del grupo.</a:t>
            </a:r>
            <a:endParaRPr lang="en-US" sz="950"/>
          </a:p>
        </p:txBody>
      </p:sp>
      <p:sp>
        <p:nvSpPr>
          <p:cNvPr id="25" name="Shape 23"/>
          <p:cNvSpPr/>
          <p:nvPr/>
        </p:nvSpPr>
        <p:spPr bwMode="auto">
          <a:xfrm>
            <a:off x="3154680" y="2926080"/>
            <a:ext cx="2834640" cy="1691640"/>
          </a:xfrm>
          <a:prstGeom prst="rect">
            <a:avLst/>
          </a:prstGeom>
          <a:solidFill>
            <a:srgbClr val="1F2937"/>
          </a:solidFill>
          <a:ln w="19050">
            <a:solidFill>
              <a:srgbClr val="60A5FA"/>
            </a:solidFill>
            <a:prstDash val="solid"/>
          </a:ln>
        </p:spPr>
      </p:sp>
      <p:sp>
        <p:nvSpPr>
          <p:cNvPr id="26" name="Shape 24"/>
          <p:cNvSpPr/>
          <p:nvPr/>
        </p:nvSpPr>
        <p:spPr bwMode="auto">
          <a:xfrm>
            <a:off x="3246120" y="3017519"/>
            <a:ext cx="457200" cy="457200"/>
          </a:xfrm>
          <a:prstGeom prst="ellipse">
            <a:avLst/>
          </a:prstGeom>
          <a:solidFill>
            <a:srgbClr val="60A5FA"/>
          </a:solidFill>
        </p:spPr>
      </p:sp>
      <p:sp>
        <p:nvSpPr>
          <p:cNvPr id="27" name="Text 25"/>
          <p:cNvSpPr/>
          <p:nvPr/>
        </p:nvSpPr>
        <p:spPr bwMode="auto">
          <a:xfrm>
            <a:off x="3246120" y="3035808"/>
            <a:ext cx="457200" cy="365760"/>
          </a:xfrm>
          <a:prstGeom prst="rect">
            <a:avLst/>
          </a:prstGeom>
          <a:noFill/>
        </p:spPr>
        <p:txBody>
          <a:bodyPr wrap="square" rtlCol="0" anchor="ctr"/>
          <a:lstStyle/>
          <a:p>
            <a:pPr marL="0" indent="0" algn="ctr">
              <a:buNone/>
              <a:defRPr/>
            </a:pPr>
            <a:r>
              <a:rPr lang="en-US" sz="1300" b="1">
                <a:solidFill>
                  <a:srgbClr val="0D1117"/>
                </a:solidFill>
              </a:rPr>
              <a:t>5</a:t>
            </a:r>
            <a:endParaRPr lang="en-US" sz="1300"/>
          </a:p>
        </p:txBody>
      </p:sp>
      <p:sp>
        <p:nvSpPr>
          <p:cNvPr id="28" name="Text 26"/>
          <p:cNvSpPr/>
          <p:nvPr/>
        </p:nvSpPr>
        <p:spPr bwMode="auto">
          <a:xfrm>
            <a:off x="3794760" y="2999232"/>
            <a:ext cx="2103120" cy="457200"/>
          </a:xfrm>
          <a:prstGeom prst="rect">
            <a:avLst/>
          </a:prstGeom>
          <a:noFill/>
        </p:spPr>
        <p:txBody>
          <a:bodyPr wrap="square" rtlCol="0" anchor="ctr"/>
          <a:lstStyle/>
          <a:p>
            <a:pPr marL="0" indent="0">
              <a:buNone/>
              <a:defRPr/>
            </a:pPr>
            <a:r>
              <a:rPr lang="en-US" sz="1200" b="1">
                <a:solidFill>
                  <a:srgbClr val="60A5FA"/>
                </a:solidFill>
              </a:rPr>
              <a:t>💰 Extorsión /</a:t>
            </a:r>
            <a:endParaRPr lang="en-US" sz="1200"/>
          </a:p>
          <a:p>
            <a:pPr marL="0" indent="0">
              <a:buNone/>
              <a:defRPr/>
            </a:pPr>
            <a:r>
              <a:rPr lang="en-US" sz="1200" b="1">
                <a:solidFill>
                  <a:srgbClr val="60A5FA"/>
                </a:solidFill>
              </a:rPr>
              <a:t>Nota de Rescate</a:t>
            </a:r>
            <a:endParaRPr lang="en-US" sz="1200"/>
          </a:p>
        </p:txBody>
      </p:sp>
      <p:sp>
        <p:nvSpPr>
          <p:cNvPr id="29" name="Text 27"/>
          <p:cNvSpPr/>
          <p:nvPr/>
        </p:nvSpPr>
        <p:spPr bwMode="auto">
          <a:xfrm>
            <a:off x="3264408" y="3337494"/>
            <a:ext cx="2633472" cy="1024128"/>
          </a:xfrm>
          <a:prstGeom prst="rect">
            <a:avLst/>
          </a:prstGeom>
          <a:noFill/>
        </p:spPr>
        <p:txBody>
          <a:bodyPr wrap="square" rtlCol="0" anchor="ctr"/>
          <a:lstStyle/>
          <a:p>
            <a:pPr marL="0" indent="0">
              <a:buNone/>
              <a:defRPr/>
            </a:pPr>
            <a:r>
              <a:rPr lang="en-US" sz="950">
                <a:solidFill>
                  <a:srgbClr val="D1D5DB"/>
                </a:solidFill>
              </a:rPr>
              <a:t>Rescate mediano 2024: $115,000. Mayor pago histórico: $75M (Dark Angels, Fortune 50, 2024).</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Plazo</a:t>
            </a:r>
            <a:r>
              <a:rPr lang="en-US" sz="950">
                <a:solidFill>
                  <a:srgbClr val="D1D5DB"/>
                </a:solidFill>
              </a:rPr>
              <a:t> 72h via Tor. Pago en Monero/BTC.</a:t>
            </a:r>
            <a:endParaRPr lang="en-US" sz="950"/>
          </a:p>
        </p:txBody>
      </p:sp>
      <p:sp>
        <p:nvSpPr>
          <p:cNvPr id="30" name="Shape 28"/>
          <p:cNvSpPr/>
          <p:nvPr/>
        </p:nvSpPr>
        <p:spPr bwMode="auto">
          <a:xfrm>
            <a:off x="6126480" y="2921508"/>
            <a:ext cx="2834640" cy="1691640"/>
          </a:xfrm>
          <a:prstGeom prst="rect">
            <a:avLst/>
          </a:prstGeom>
          <a:solidFill>
            <a:srgbClr val="1F2937"/>
          </a:solidFill>
          <a:ln w="19050">
            <a:solidFill>
              <a:srgbClr val="A78BFA"/>
            </a:solidFill>
            <a:prstDash val="solid"/>
          </a:ln>
        </p:spPr>
      </p:sp>
      <p:sp>
        <p:nvSpPr>
          <p:cNvPr id="31" name="Shape 29"/>
          <p:cNvSpPr/>
          <p:nvPr/>
        </p:nvSpPr>
        <p:spPr bwMode="auto">
          <a:xfrm>
            <a:off x="6217920" y="3017519"/>
            <a:ext cx="457200" cy="457200"/>
          </a:xfrm>
          <a:prstGeom prst="ellipse">
            <a:avLst/>
          </a:prstGeom>
          <a:solidFill>
            <a:srgbClr val="A78BFA"/>
          </a:solidFill>
        </p:spPr>
      </p:sp>
      <p:sp>
        <p:nvSpPr>
          <p:cNvPr id="32" name="Text 30"/>
          <p:cNvSpPr/>
          <p:nvPr/>
        </p:nvSpPr>
        <p:spPr bwMode="auto">
          <a:xfrm>
            <a:off x="6217920" y="3035808"/>
            <a:ext cx="457200" cy="365760"/>
          </a:xfrm>
          <a:prstGeom prst="rect">
            <a:avLst/>
          </a:prstGeom>
          <a:noFill/>
        </p:spPr>
        <p:txBody>
          <a:bodyPr wrap="square" rtlCol="0" anchor="ctr"/>
          <a:lstStyle/>
          <a:p>
            <a:pPr marL="0" indent="0" algn="ctr">
              <a:buNone/>
              <a:defRPr/>
            </a:pPr>
            <a:r>
              <a:rPr lang="en-US" sz="1300" b="1">
                <a:solidFill>
                  <a:srgbClr val="0D1117"/>
                </a:solidFill>
              </a:rPr>
              <a:t>6</a:t>
            </a:r>
            <a:endParaRPr lang="en-US" sz="1300"/>
          </a:p>
        </p:txBody>
      </p:sp>
      <p:sp>
        <p:nvSpPr>
          <p:cNvPr id="33" name="Text 31"/>
          <p:cNvSpPr/>
          <p:nvPr/>
        </p:nvSpPr>
        <p:spPr bwMode="auto">
          <a:xfrm>
            <a:off x="6766560" y="2999232"/>
            <a:ext cx="2103120" cy="457200"/>
          </a:xfrm>
          <a:prstGeom prst="rect">
            <a:avLst/>
          </a:prstGeom>
          <a:noFill/>
        </p:spPr>
        <p:txBody>
          <a:bodyPr wrap="square" rtlCol="0" anchor="ctr"/>
          <a:lstStyle/>
          <a:p>
            <a:pPr marL="0" indent="0">
              <a:buNone/>
              <a:defRPr/>
            </a:pPr>
            <a:r>
              <a:rPr lang="en-US" sz="1200" b="1">
                <a:solidFill>
                  <a:srgbClr val="A78BFA"/>
                </a:solidFill>
              </a:rPr>
              <a:t>⚠️ Presión Triple</a:t>
            </a:r>
            <a:endParaRPr lang="en-US" sz="1200"/>
          </a:p>
        </p:txBody>
      </p:sp>
      <p:sp>
        <p:nvSpPr>
          <p:cNvPr id="34" name="Text 32"/>
          <p:cNvSpPr/>
          <p:nvPr/>
        </p:nvSpPr>
        <p:spPr bwMode="auto">
          <a:xfrm>
            <a:off x="6217920" y="3341933"/>
            <a:ext cx="2633472" cy="1024128"/>
          </a:xfrm>
          <a:prstGeom prst="rect">
            <a:avLst/>
          </a:prstGeom>
          <a:noFill/>
        </p:spPr>
        <p:txBody>
          <a:bodyPr wrap="square" rtlCol="0" anchor="ctr"/>
          <a:lstStyle/>
          <a:p>
            <a:pPr marL="0" indent="0">
              <a:buNone/>
              <a:defRPr/>
            </a:pPr>
            <a:r>
              <a:rPr lang="en-US" sz="950">
                <a:solidFill>
                  <a:srgbClr val="D1D5DB"/>
                </a:solidFill>
              </a:rPr>
              <a:t>Triple extorsión: cifrado + filtración pública (leak site) + DDoS al sitio web víctima. </a:t>
            </a:r>
            <a:endParaRPr lang="en-US" sz="950">
              <a:solidFill>
                <a:srgbClr val="D1D5DB"/>
              </a:solidFill>
            </a:endParaRPr>
          </a:p>
          <a:p>
            <a:pPr marL="0" indent="0">
              <a:buNone/>
              <a:defRPr/>
            </a:pPr>
            <a:endParaRPr lang="en-US" sz="950">
              <a:solidFill>
                <a:srgbClr val="D1D5DB"/>
              </a:solidFill>
            </a:endParaRPr>
          </a:p>
          <a:p>
            <a:pPr marL="0" indent="0">
              <a:buNone/>
              <a:defRPr/>
            </a:pPr>
            <a:r>
              <a:rPr lang="en-US" sz="950">
                <a:solidFill>
                  <a:srgbClr val="D1D5DB"/>
                </a:solidFill>
              </a:rPr>
              <a:t>85 grupos activos en Q3 2025. (Check Point)</a:t>
            </a:r>
            <a:endParaRPr lang="en-US" sz="9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VECTORES DE ATAQUE — Datos Sophos 2025</a:t>
            </a:r>
            <a:endParaRPr lang="en-US" sz="2200"/>
          </a:p>
        </p:txBody>
      </p:sp>
      <p:sp>
        <p:nvSpPr>
          <p:cNvPr id="5" name="Shape 3"/>
          <p:cNvSpPr/>
          <p:nvPr/>
        </p:nvSpPr>
        <p:spPr bwMode="auto">
          <a:xfrm>
            <a:off x="228601" y="962042"/>
            <a:ext cx="5577840" cy="256032"/>
          </a:xfrm>
          <a:prstGeom prst="rect">
            <a:avLst/>
          </a:prstGeom>
          <a:solidFill>
            <a:srgbClr val="161B22"/>
          </a:solidFill>
        </p:spPr>
      </p:sp>
      <p:sp>
        <p:nvSpPr>
          <p:cNvPr id="6" name="Text 4"/>
          <p:cNvSpPr/>
          <p:nvPr/>
        </p:nvSpPr>
        <p:spPr bwMode="auto">
          <a:xfrm>
            <a:off x="274320" y="978408"/>
            <a:ext cx="5577840" cy="219456"/>
          </a:xfrm>
          <a:prstGeom prst="rect">
            <a:avLst/>
          </a:prstGeom>
          <a:noFill/>
        </p:spPr>
        <p:txBody>
          <a:bodyPr wrap="square" rtlCol="0" anchor="ctr"/>
          <a:lstStyle/>
          <a:p>
            <a:pPr marL="0" indent="0">
              <a:buNone/>
              <a:defRPr/>
            </a:pPr>
            <a:r>
              <a:rPr lang="en-US" sz="800" i="1">
                <a:solidFill>
                  <a:srgbClr val="6B7280"/>
                </a:solidFill>
              </a:rPr>
              <a:t>Fuente: Sophos State of Ransomware 2025</a:t>
            </a:r>
            <a:endParaRPr lang="en-US" sz="800"/>
          </a:p>
        </p:txBody>
      </p:sp>
      <p:sp>
        <p:nvSpPr>
          <p:cNvPr id="7" name="Shape 5"/>
          <p:cNvSpPr/>
          <p:nvPr/>
        </p:nvSpPr>
        <p:spPr bwMode="auto">
          <a:xfrm>
            <a:off x="274320" y="1280160"/>
            <a:ext cx="5623560" cy="621792"/>
          </a:xfrm>
          <a:prstGeom prst="rect">
            <a:avLst/>
          </a:prstGeom>
          <a:solidFill>
            <a:srgbClr val="1F2937"/>
          </a:solidFill>
        </p:spPr>
      </p:sp>
      <p:sp>
        <p:nvSpPr>
          <p:cNvPr id="8" name="Shape 6"/>
          <p:cNvSpPr/>
          <p:nvPr/>
        </p:nvSpPr>
        <p:spPr bwMode="auto">
          <a:xfrm>
            <a:off x="274320" y="1847088"/>
            <a:ext cx="5623560" cy="54864"/>
          </a:xfrm>
          <a:prstGeom prst="rect">
            <a:avLst/>
          </a:prstGeom>
          <a:solidFill>
            <a:srgbClr val="161B22"/>
          </a:solidFill>
        </p:spPr>
      </p:sp>
      <p:sp>
        <p:nvSpPr>
          <p:cNvPr id="9" name="Shape 7"/>
          <p:cNvSpPr/>
          <p:nvPr/>
        </p:nvSpPr>
        <p:spPr bwMode="auto">
          <a:xfrm>
            <a:off x="274320" y="1847088"/>
            <a:ext cx="4498848" cy="54864"/>
          </a:xfrm>
          <a:prstGeom prst="rect">
            <a:avLst/>
          </a:prstGeom>
          <a:solidFill>
            <a:srgbClr val="EF4444"/>
          </a:solidFill>
        </p:spPr>
      </p:sp>
      <p:sp>
        <p:nvSpPr>
          <p:cNvPr id="10" name="Text 8"/>
          <p:cNvSpPr/>
          <p:nvPr/>
        </p:nvSpPr>
        <p:spPr bwMode="auto">
          <a:xfrm>
            <a:off x="320040" y="1353312"/>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11" name="Text 9"/>
          <p:cNvSpPr/>
          <p:nvPr/>
        </p:nvSpPr>
        <p:spPr bwMode="auto">
          <a:xfrm>
            <a:off x="868680" y="1316736"/>
            <a:ext cx="3200400" cy="274320"/>
          </a:xfrm>
          <a:prstGeom prst="rect">
            <a:avLst/>
          </a:prstGeom>
          <a:noFill/>
        </p:spPr>
        <p:txBody>
          <a:bodyPr wrap="square" rtlCol="0" anchor="ctr"/>
          <a:lstStyle/>
          <a:p>
            <a:pPr marL="0" indent="0">
              <a:buNone/>
              <a:defRPr/>
            </a:pPr>
            <a:r>
              <a:rPr lang="en-US" sz="1100" b="1">
                <a:solidFill>
                  <a:srgbClr val="FFFFFF"/>
                </a:solidFill>
              </a:rPr>
              <a:t>Vulnerabilidades Explotadas</a:t>
            </a:r>
            <a:endParaRPr lang="en-US" sz="1100"/>
          </a:p>
        </p:txBody>
      </p:sp>
      <p:sp>
        <p:nvSpPr>
          <p:cNvPr id="12" name="Text 10"/>
          <p:cNvSpPr/>
          <p:nvPr/>
        </p:nvSpPr>
        <p:spPr bwMode="auto">
          <a:xfrm>
            <a:off x="868679" y="1591056"/>
            <a:ext cx="4571337" cy="237744"/>
          </a:xfrm>
          <a:prstGeom prst="rect">
            <a:avLst/>
          </a:prstGeom>
          <a:noFill/>
        </p:spPr>
        <p:txBody>
          <a:bodyPr wrap="square" rtlCol="0" anchor="ctr"/>
          <a:lstStyle/>
          <a:p>
            <a:pPr marL="0" indent="0">
              <a:buNone/>
              <a:defRPr/>
            </a:pPr>
            <a:r>
              <a:rPr lang="en-US" sz="850">
                <a:solidFill>
                  <a:srgbClr val="D1D5DB"/>
                </a:solidFill>
              </a:rPr>
              <a:t>Principal vector 2025 (↑ desde años anteriores). CVEs en VPNs Cisco, SonicWall, firewalls Fortinet.</a:t>
            </a:r>
            <a:endParaRPr lang="en-US" sz="850"/>
          </a:p>
        </p:txBody>
      </p:sp>
      <p:sp>
        <p:nvSpPr>
          <p:cNvPr id="13" name="Text 11"/>
          <p:cNvSpPr/>
          <p:nvPr/>
        </p:nvSpPr>
        <p:spPr bwMode="auto">
          <a:xfrm>
            <a:off x="5120640" y="1353312"/>
            <a:ext cx="777240" cy="384048"/>
          </a:xfrm>
          <a:prstGeom prst="rect">
            <a:avLst/>
          </a:prstGeom>
          <a:noFill/>
        </p:spPr>
        <p:txBody>
          <a:bodyPr wrap="square" rtlCol="0" anchor="ctr"/>
          <a:lstStyle/>
          <a:p>
            <a:pPr marL="0" indent="0" algn="r">
              <a:buNone/>
              <a:defRPr/>
            </a:pPr>
            <a:r>
              <a:rPr lang="en-US" sz="2200" b="1">
                <a:solidFill>
                  <a:srgbClr val="EF4444"/>
                </a:solidFill>
              </a:rPr>
              <a:t>32%</a:t>
            </a:r>
            <a:endParaRPr lang="en-US" sz="2200"/>
          </a:p>
        </p:txBody>
      </p:sp>
      <p:sp>
        <p:nvSpPr>
          <p:cNvPr id="14" name="Shape 12"/>
          <p:cNvSpPr/>
          <p:nvPr/>
        </p:nvSpPr>
        <p:spPr bwMode="auto">
          <a:xfrm>
            <a:off x="274320" y="1993392"/>
            <a:ext cx="5623560" cy="621792"/>
          </a:xfrm>
          <a:prstGeom prst="rect">
            <a:avLst/>
          </a:prstGeom>
          <a:solidFill>
            <a:srgbClr val="1F2937"/>
          </a:solidFill>
        </p:spPr>
      </p:sp>
      <p:sp>
        <p:nvSpPr>
          <p:cNvPr id="15" name="Shape 13"/>
          <p:cNvSpPr/>
          <p:nvPr/>
        </p:nvSpPr>
        <p:spPr bwMode="auto">
          <a:xfrm>
            <a:off x="274320" y="2560320"/>
            <a:ext cx="5623560" cy="54864"/>
          </a:xfrm>
          <a:prstGeom prst="rect">
            <a:avLst/>
          </a:prstGeom>
          <a:solidFill>
            <a:srgbClr val="161B22"/>
          </a:solidFill>
        </p:spPr>
      </p:sp>
      <p:sp>
        <p:nvSpPr>
          <p:cNvPr id="16" name="Shape 14"/>
          <p:cNvSpPr/>
          <p:nvPr/>
        </p:nvSpPr>
        <p:spPr bwMode="auto">
          <a:xfrm>
            <a:off x="274320" y="2560320"/>
            <a:ext cx="3233547" cy="54864"/>
          </a:xfrm>
          <a:prstGeom prst="rect">
            <a:avLst/>
          </a:prstGeom>
          <a:solidFill>
            <a:srgbClr val="EF4444"/>
          </a:solidFill>
        </p:spPr>
      </p:sp>
      <p:sp>
        <p:nvSpPr>
          <p:cNvPr id="17" name="Text 15"/>
          <p:cNvSpPr/>
          <p:nvPr/>
        </p:nvSpPr>
        <p:spPr bwMode="auto">
          <a:xfrm>
            <a:off x="320040" y="2066544"/>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18" name="Text 16"/>
          <p:cNvSpPr/>
          <p:nvPr/>
        </p:nvSpPr>
        <p:spPr bwMode="auto">
          <a:xfrm>
            <a:off x="868680" y="2029968"/>
            <a:ext cx="3200400" cy="274320"/>
          </a:xfrm>
          <a:prstGeom prst="rect">
            <a:avLst/>
          </a:prstGeom>
          <a:noFill/>
        </p:spPr>
        <p:txBody>
          <a:bodyPr wrap="square" rtlCol="0" anchor="ctr"/>
          <a:lstStyle/>
          <a:p>
            <a:pPr marL="0" indent="0">
              <a:buNone/>
              <a:defRPr/>
            </a:pPr>
            <a:r>
              <a:rPr lang="en-US" sz="1100" b="1">
                <a:solidFill>
                  <a:srgbClr val="FFFFFF"/>
                </a:solidFill>
              </a:rPr>
              <a:t>Credenciales Comprometidas</a:t>
            </a:r>
            <a:endParaRPr lang="en-US" sz="1100"/>
          </a:p>
        </p:txBody>
      </p:sp>
      <p:sp>
        <p:nvSpPr>
          <p:cNvPr id="19" name="Text 17"/>
          <p:cNvSpPr/>
          <p:nvPr/>
        </p:nvSpPr>
        <p:spPr bwMode="auto">
          <a:xfrm>
            <a:off x="868680" y="2304288"/>
            <a:ext cx="4465320" cy="237744"/>
          </a:xfrm>
          <a:prstGeom prst="rect">
            <a:avLst/>
          </a:prstGeom>
          <a:noFill/>
        </p:spPr>
        <p:txBody>
          <a:bodyPr wrap="square" rtlCol="0" anchor="ctr"/>
          <a:lstStyle/>
          <a:p>
            <a:pPr marL="0" indent="0">
              <a:buNone/>
              <a:defRPr/>
            </a:pPr>
            <a:r>
              <a:rPr lang="en-US" sz="850">
                <a:solidFill>
                  <a:srgbClr val="D1D5DB"/>
                </a:solidFill>
              </a:rPr>
              <a:t>Abajo desde 29% en 2024. Brute-force RDP, compra en dark web. Favorece acceso silencioso.</a:t>
            </a:r>
            <a:endParaRPr lang="en-US" sz="850"/>
          </a:p>
        </p:txBody>
      </p:sp>
      <p:sp>
        <p:nvSpPr>
          <p:cNvPr id="20" name="Text 18"/>
          <p:cNvSpPr/>
          <p:nvPr/>
        </p:nvSpPr>
        <p:spPr bwMode="auto">
          <a:xfrm>
            <a:off x="5120640" y="2066544"/>
            <a:ext cx="777240" cy="384048"/>
          </a:xfrm>
          <a:prstGeom prst="rect">
            <a:avLst/>
          </a:prstGeom>
          <a:noFill/>
        </p:spPr>
        <p:txBody>
          <a:bodyPr wrap="square" rtlCol="0" anchor="ctr"/>
          <a:lstStyle/>
          <a:p>
            <a:pPr marL="0" indent="0" algn="r">
              <a:buNone/>
              <a:defRPr/>
            </a:pPr>
            <a:r>
              <a:rPr lang="en-US" sz="2200" b="1">
                <a:solidFill>
                  <a:srgbClr val="EF4444"/>
                </a:solidFill>
              </a:rPr>
              <a:t>23%</a:t>
            </a:r>
            <a:endParaRPr lang="en-US" sz="2200"/>
          </a:p>
        </p:txBody>
      </p:sp>
      <p:sp>
        <p:nvSpPr>
          <p:cNvPr id="21" name="Shape 19"/>
          <p:cNvSpPr/>
          <p:nvPr/>
        </p:nvSpPr>
        <p:spPr bwMode="auto">
          <a:xfrm>
            <a:off x="274320" y="2706624"/>
            <a:ext cx="5623560" cy="621792"/>
          </a:xfrm>
          <a:prstGeom prst="rect">
            <a:avLst/>
          </a:prstGeom>
          <a:solidFill>
            <a:srgbClr val="1F2937"/>
          </a:solidFill>
        </p:spPr>
      </p:sp>
      <p:sp>
        <p:nvSpPr>
          <p:cNvPr id="22" name="Shape 20"/>
          <p:cNvSpPr/>
          <p:nvPr/>
        </p:nvSpPr>
        <p:spPr bwMode="auto">
          <a:xfrm>
            <a:off x="274320" y="3273552"/>
            <a:ext cx="5623560" cy="54864"/>
          </a:xfrm>
          <a:prstGeom prst="rect">
            <a:avLst/>
          </a:prstGeom>
          <a:solidFill>
            <a:srgbClr val="161B22"/>
          </a:solidFill>
        </p:spPr>
      </p:sp>
      <p:sp>
        <p:nvSpPr>
          <p:cNvPr id="23" name="Shape 21"/>
          <p:cNvSpPr/>
          <p:nvPr/>
        </p:nvSpPr>
        <p:spPr bwMode="auto">
          <a:xfrm>
            <a:off x="274320" y="3273552"/>
            <a:ext cx="2530602" cy="54864"/>
          </a:xfrm>
          <a:prstGeom prst="rect">
            <a:avLst/>
          </a:prstGeom>
          <a:solidFill>
            <a:srgbClr val="EF4444"/>
          </a:solidFill>
        </p:spPr>
      </p:sp>
      <p:sp>
        <p:nvSpPr>
          <p:cNvPr id="24" name="Text 22"/>
          <p:cNvSpPr/>
          <p:nvPr/>
        </p:nvSpPr>
        <p:spPr bwMode="auto">
          <a:xfrm>
            <a:off x="320040" y="2779776"/>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25" name="Text 23"/>
          <p:cNvSpPr/>
          <p:nvPr/>
        </p:nvSpPr>
        <p:spPr bwMode="auto">
          <a:xfrm>
            <a:off x="868680" y="2743200"/>
            <a:ext cx="3200400" cy="274320"/>
          </a:xfrm>
          <a:prstGeom prst="rect">
            <a:avLst/>
          </a:prstGeom>
          <a:noFill/>
        </p:spPr>
        <p:txBody>
          <a:bodyPr wrap="square" rtlCol="0" anchor="ctr"/>
          <a:lstStyle/>
          <a:p>
            <a:pPr marL="0" indent="0">
              <a:buNone/>
              <a:defRPr/>
            </a:pPr>
            <a:r>
              <a:rPr lang="en-US" sz="1100" b="1">
                <a:solidFill>
                  <a:srgbClr val="FFFFFF"/>
                </a:solidFill>
              </a:rPr>
              <a:t>Correo Malicioso / Phishing</a:t>
            </a:r>
            <a:endParaRPr lang="en-US" sz="1100"/>
          </a:p>
        </p:txBody>
      </p:sp>
      <p:sp>
        <p:nvSpPr>
          <p:cNvPr id="26" name="Text 24"/>
          <p:cNvSpPr/>
          <p:nvPr/>
        </p:nvSpPr>
        <p:spPr bwMode="auto">
          <a:xfrm>
            <a:off x="868679" y="3017519"/>
            <a:ext cx="4677355" cy="237744"/>
          </a:xfrm>
          <a:prstGeom prst="rect">
            <a:avLst/>
          </a:prstGeom>
          <a:noFill/>
        </p:spPr>
        <p:txBody>
          <a:bodyPr wrap="square" rtlCol="0" anchor="ctr"/>
          <a:lstStyle/>
          <a:p>
            <a:pPr marL="0" indent="0">
              <a:buNone/>
              <a:defRPr/>
            </a:pPr>
            <a:r>
              <a:rPr lang="en-US" sz="850">
                <a:solidFill>
                  <a:srgbClr val="D1D5DB"/>
                </a:solidFill>
              </a:rPr>
              <a:t>Sube desde 11% en 2024. Spear-phishing con IA generativa, macros Office, archivos .URL maliciosos.</a:t>
            </a:r>
            <a:endParaRPr lang="en-US" sz="850"/>
          </a:p>
        </p:txBody>
      </p:sp>
      <p:sp>
        <p:nvSpPr>
          <p:cNvPr id="27" name="Text 25"/>
          <p:cNvSpPr/>
          <p:nvPr/>
        </p:nvSpPr>
        <p:spPr bwMode="auto">
          <a:xfrm>
            <a:off x="5120640" y="2779776"/>
            <a:ext cx="777240" cy="384048"/>
          </a:xfrm>
          <a:prstGeom prst="rect">
            <a:avLst/>
          </a:prstGeom>
          <a:noFill/>
        </p:spPr>
        <p:txBody>
          <a:bodyPr wrap="square" rtlCol="0" anchor="ctr"/>
          <a:lstStyle/>
          <a:p>
            <a:pPr marL="0" indent="0" algn="r">
              <a:buNone/>
              <a:defRPr/>
            </a:pPr>
            <a:r>
              <a:rPr lang="en-US" sz="2200" b="1">
                <a:solidFill>
                  <a:srgbClr val="EF4444"/>
                </a:solidFill>
              </a:rPr>
              <a:t>18%</a:t>
            </a:r>
            <a:endParaRPr lang="en-US" sz="2200"/>
          </a:p>
        </p:txBody>
      </p:sp>
      <p:sp>
        <p:nvSpPr>
          <p:cNvPr id="28" name="Shape 26"/>
          <p:cNvSpPr/>
          <p:nvPr/>
        </p:nvSpPr>
        <p:spPr bwMode="auto">
          <a:xfrm>
            <a:off x="274320" y="3419856"/>
            <a:ext cx="5623560" cy="621792"/>
          </a:xfrm>
          <a:prstGeom prst="rect">
            <a:avLst/>
          </a:prstGeom>
          <a:solidFill>
            <a:srgbClr val="1F2937"/>
          </a:solidFill>
        </p:spPr>
      </p:sp>
      <p:sp>
        <p:nvSpPr>
          <p:cNvPr id="29" name="Shape 27"/>
          <p:cNvSpPr/>
          <p:nvPr/>
        </p:nvSpPr>
        <p:spPr bwMode="auto">
          <a:xfrm>
            <a:off x="274320" y="3986784"/>
            <a:ext cx="5623560" cy="54864"/>
          </a:xfrm>
          <a:prstGeom prst="rect">
            <a:avLst/>
          </a:prstGeom>
          <a:solidFill>
            <a:srgbClr val="161B22"/>
          </a:solidFill>
        </p:spPr>
      </p:sp>
      <p:sp>
        <p:nvSpPr>
          <p:cNvPr id="30" name="Shape 28"/>
          <p:cNvSpPr/>
          <p:nvPr/>
        </p:nvSpPr>
        <p:spPr bwMode="auto">
          <a:xfrm>
            <a:off x="274320" y="3986784"/>
            <a:ext cx="2108835" cy="54864"/>
          </a:xfrm>
          <a:prstGeom prst="rect">
            <a:avLst/>
          </a:prstGeom>
          <a:solidFill>
            <a:srgbClr val="EF4444"/>
          </a:solidFill>
        </p:spPr>
      </p:sp>
      <p:sp>
        <p:nvSpPr>
          <p:cNvPr id="31" name="Text 29"/>
          <p:cNvSpPr/>
          <p:nvPr/>
        </p:nvSpPr>
        <p:spPr bwMode="auto">
          <a:xfrm>
            <a:off x="320040" y="3493008"/>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32" name="Text 30"/>
          <p:cNvSpPr/>
          <p:nvPr/>
        </p:nvSpPr>
        <p:spPr bwMode="auto">
          <a:xfrm>
            <a:off x="868680" y="3456432"/>
            <a:ext cx="3200400" cy="274320"/>
          </a:xfrm>
          <a:prstGeom prst="rect">
            <a:avLst/>
          </a:prstGeom>
          <a:noFill/>
        </p:spPr>
        <p:txBody>
          <a:bodyPr wrap="square" rtlCol="0" anchor="ctr"/>
          <a:lstStyle/>
          <a:p>
            <a:pPr marL="0" indent="0">
              <a:buNone/>
              <a:defRPr/>
            </a:pPr>
            <a:r>
              <a:rPr lang="en-US" sz="1100" b="1">
                <a:solidFill>
                  <a:srgbClr val="FFFFFF"/>
                </a:solidFill>
              </a:rPr>
              <a:t>Cadena de Suministro</a:t>
            </a:r>
            <a:endParaRPr lang="en-US" sz="1100"/>
          </a:p>
        </p:txBody>
      </p:sp>
      <p:sp>
        <p:nvSpPr>
          <p:cNvPr id="33" name="Text 31"/>
          <p:cNvSpPr/>
          <p:nvPr/>
        </p:nvSpPr>
        <p:spPr bwMode="auto">
          <a:xfrm>
            <a:off x="868680" y="3730752"/>
            <a:ext cx="4864607" cy="237744"/>
          </a:xfrm>
          <a:prstGeom prst="rect">
            <a:avLst/>
          </a:prstGeom>
          <a:noFill/>
        </p:spPr>
        <p:txBody>
          <a:bodyPr wrap="square" rtlCol="0" anchor="ctr"/>
          <a:lstStyle/>
          <a:p>
            <a:pPr marL="0" indent="0">
              <a:buNone/>
              <a:defRPr/>
            </a:pPr>
            <a:r>
              <a:rPr lang="en-US" sz="850">
                <a:solidFill>
                  <a:srgbClr val="D1D5DB"/>
                </a:solidFill>
              </a:rPr>
              <a:t>Ingram Micro (SafePay 2025): 3.5 TB robados. Change Healthcare (2024): 193M afectados vía proveedor.</a:t>
            </a:r>
            <a:endParaRPr lang="en-US" sz="850"/>
          </a:p>
        </p:txBody>
      </p:sp>
      <p:sp>
        <p:nvSpPr>
          <p:cNvPr id="34" name="Text 32"/>
          <p:cNvSpPr/>
          <p:nvPr/>
        </p:nvSpPr>
        <p:spPr bwMode="auto">
          <a:xfrm>
            <a:off x="5120640" y="3493008"/>
            <a:ext cx="777240" cy="384048"/>
          </a:xfrm>
          <a:prstGeom prst="rect">
            <a:avLst/>
          </a:prstGeom>
          <a:noFill/>
        </p:spPr>
        <p:txBody>
          <a:bodyPr wrap="square" rtlCol="0" anchor="ctr"/>
          <a:lstStyle/>
          <a:p>
            <a:pPr marL="0" indent="0" algn="r">
              <a:buNone/>
              <a:defRPr/>
            </a:pPr>
            <a:r>
              <a:rPr lang="en-US" sz="2200" b="1">
                <a:solidFill>
                  <a:srgbClr val="EF4444"/>
                </a:solidFill>
              </a:rPr>
              <a:t>15%</a:t>
            </a:r>
            <a:endParaRPr lang="en-US" sz="2200"/>
          </a:p>
        </p:txBody>
      </p:sp>
      <p:sp>
        <p:nvSpPr>
          <p:cNvPr id="35" name="Shape 33"/>
          <p:cNvSpPr/>
          <p:nvPr/>
        </p:nvSpPr>
        <p:spPr bwMode="auto">
          <a:xfrm>
            <a:off x="274320" y="4133088"/>
            <a:ext cx="5623560" cy="621792"/>
          </a:xfrm>
          <a:prstGeom prst="rect">
            <a:avLst/>
          </a:prstGeom>
          <a:solidFill>
            <a:srgbClr val="1F2937"/>
          </a:solidFill>
        </p:spPr>
      </p:sp>
      <p:sp>
        <p:nvSpPr>
          <p:cNvPr id="36" name="Shape 34"/>
          <p:cNvSpPr/>
          <p:nvPr/>
        </p:nvSpPr>
        <p:spPr bwMode="auto">
          <a:xfrm>
            <a:off x="274320" y="4700016"/>
            <a:ext cx="5623560" cy="54864"/>
          </a:xfrm>
          <a:prstGeom prst="rect">
            <a:avLst/>
          </a:prstGeom>
          <a:solidFill>
            <a:srgbClr val="161B22"/>
          </a:solidFill>
        </p:spPr>
      </p:sp>
      <p:sp>
        <p:nvSpPr>
          <p:cNvPr id="37" name="Shape 35"/>
          <p:cNvSpPr/>
          <p:nvPr/>
        </p:nvSpPr>
        <p:spPr bwMode="auto">
          <a:xfrm>
            <a:off x="274320" y="4700016"/>
            <a:ext cx="1687068" cy="54864"/>
          </a:xfrm>
          <a:prstGeom prst="rect">
            <a:avLst/>
          </a:prstGeom>
          <a:solidFill>
            <a:srgbClr val="EF4444"/>
          </a:solidFill>
        </p:spPr>
      </p:sp>
      <p:sp>
        <p:nvSpPr>
          <p:cNvPr id="38" name="Text 36"/>
          <p:cNvSpPr/>
          <p:nvPr/>
        </p:nvSpPr>
        <p:spPr bwMode="auto">
          <a:xfrm>
            <a:off x="320040" y="4206240"/>
            <a:ext cx="502920" cy="411480"/>
          </a:xfrm>
          <a:prstGeom prst="rect">
            <a:avLst/>
          </a:prstGeom>
          <a:noFill/>
        </p:spPr>
        <p:txBody>
          <a:bodyPr wrap="square" rtlCol="0" anchor="ctr"/>
          <a:lstStyle/>
          <a:p>
            <a:pPr marL="0" indent="0" algn="ctr">
              <a:buNone/>
              <a:defRPr/>
            </a:pPr>
            <a:r>
              <a:rPr lang="en-US" sz="1800">
                <a:solidFill>
                  <a:srgbClr val="000000"/>
                </a:solidFill>
              </a:rPr>
              <a:t>📦</a:t>
            </a:r>
            <a:endParaRPr lang="en-US" sz="1800"/>
          </a:p>
        </p:txBody>
      </p:sp>
      <p:sp>
        <p:nvSpPr>
          <p:cNvPr id="39" name="Text 37"/>
          <p:cNvSpPr/>
          <p:nvPr/>
        </p:nvSpPr>
        <p:spPr bwMode="auto">
          <a:xfrm>
            <a:off x="868680" y="4169664"/>
            <a:ext cx="3200400" cy="274320"/>
          </a:xfrm>
          <a:prstGeom prst="rect">
            <a:avLst/>
          </a:prstGeom>
          <a:noFill/>
        </p:spPr>
        <p:txBody>
          <a:bodyPr wrap="square" rtlCol="0" anchor="ctr"/>
          <a:lstStyle/>
          <a:p>
            <a:pPr marL="0" indent="0">
              <a:buNone/>
              <a:defRPr/>
            </a:pPr>
            <a:r>
              <a:rPr lang="en-US" sz="1100" b="1">
                <a:solidFill>
                  <a:srgbClr val="FFFFFF"/>
                </a:solidFill>
              </a:rPr>
              <a:t>Otros (descarga, USB, Insider)</a:t>
            </a:r>
            <a:endParaRPr lang="en-US" sz="1100"/>
          </a:p>
        </p:txBody>
      </p:sp>
      <p:sp>
        <p:nvSpPr>
          <p:cNvPr id="40" name="Text 38"/>
          <p:cNvSpPr/>
          <p:nvPr/>
        </p:nvSpPr>
        <p:spPr bwMode="auto">
          <a:xfrm>
            <a:off x="868680" y="4443984"/>
            <a:ext cx="4864607" cy="237744"/>
          </a:xfrm>
          <a:prstGeom prst="rect">
            <a:avLst/>
          </a:prstGeom>
          <a:noFill/>
        </p:spPr>
        <p:txBody>
          <a:bodyPr wrap="square" rtlCol="0" anchor="ctr"/>
          <a:lstStyle/>
          <a:p>
            <a:pPr marL="0" indent="0">
              <a:buNone/>
              <a:defRPr/>
            </a:pPr>
            <a:r>
              <a:rPr lang="en-US" sz="850">
                <a:solidFill>
                  <a:srgbClr val="D1D5DB"/>
                </a:solidFill>
              </a:rPr>
              <a:t>Descargas drive-by, dispositivos USB, amenazas internas. Menor frecuencia pero alto impacto potencial.</a:t>
            </a:r>
            <a:endParaRPr lang="en-US" sz="850"/>
          </a:p>
        </p:txBody>
      </p:sp>
      <p:sp>
        <p:nvSpPr>
          <p:cNvPr id="41" name="Text 39"/>
          <p:cNvSpPr/>
          <p:nvPr/>
        </p:nvSpPr>
        <p:spPr bwMode="auto">
          <a:xfrm>
            <a:off x="5120640" y="4206240"/>
            <a:ext cx="777240" cy="384048"/>
          </a:xfrm>
          <a:prstGeom prst="rect">
            <a:avLst/>
          </a:prstGeom>
          <a:noFill/>
        </p:spPr>
        <p:txBody>
          <a:bodyPr wrap="square" rtlCol="0" anchor="ctr"/>
          <a:lstStyle/>
          <a:p>
            <a:pPr marL="0" indent="0" algn="r">
              <a:buNone/>
              <a:defRPr/>
            </a:pPr>
            <a:r>
              <a:rPr lang="en-US" sz="2200" b="1">
                <a:solidFill>
                  <a:srgbClr val="EF4444"/>
                </a:solidFill>
              </a:rPr>
              <a:t>12%</a:t>
            </a:r>
            <a:endParaRPr lang="en-US" sz="2200"/>
          </a:p>
        </p:txBody>
      </p:sp>
      <p:sp>
        <p:nvSpPr>
          <p:cNvPr id="42" name="Shape 40"/>
          <p:cNvSpPr/>
          <p:nvPr/>
        </p:nvSpPr>
        <p:spPr bwMode="auto">
          <a:xfrm>
            <a:off x="6126480" y="960120"/>
            <a:ext cx="2743200" cy="3794760"/>
          </a:xfrm>
          <a:prstGeom prst="rect">
            <a:avLst/>
          </a:prstGeom>
          <a:solidFill>
            <a:srgbClr val="1F2937"/>
          </a:solidFill>
          <a:ln w="6350">
            <a:solidFill>
              <a:srgbClr val="6B7280"/>
            </a:solidFill>
            <a:prstDash val="solid"/>
          </a:ln>
        </p:spPr>
      </p:sp>
      <p:sp>
        <p:nvSpPr>
          <p:cNvPr id="43" name="Text 41"/>
          <p:cNvSpPr/>
          <p:nvPr/>
        </p:nvSpPr>
        <p:spPr bwMode="auto">
          <a:xfrm>
            <a:off x="6236208" y="1024128"/>
            <a:ext cx="2560320" cy="457200"/>
          </a:xfrm>
          <a:prstGeom prst="rect">
            <a:avLst/>
          </a:prstGeom>
          <a:noFill/>
        </p:spPr>
        <p:txBody>
          <a:bodyPr wrap="square" rtlCol="0" anchor="ctr"/>
          <a:lstStyle/>
          <a:p>
            <a:pPr marL="0" indent="0">
              <a:buNone/>
              <a:defRPr/>
            </a:pPr>
            <a:r>
              <a:rPr lang="en-US" sz="900" b="1">
                <a:solidFill>
                  <a:srgbClr val="FF6B35"/>
                </a:solidFill>
              </a:rPr>
              <a:t>TOP SECTORES ATACADOS</a:t>
            </a:r>
            <a:endParaRPr lang="en-US" sz="900"/>
          </a:p>
          <a:p>
            <a:pPr marL="0" indent="0">
              <a:buNone/>
              <a:defRPr/>
            </a:pPr>
            <a:r>
              <a:rPr lang="en-US" sz="900" b="1">
                <a:solidFill>
                  <a:srgbClr val="FF6B35"/>
                </a:solidFill>
              </a:rPr>
              <a:t>2025 (Ransomware.live)</a:t>
            </a:r>
            <a:endParaRPr lang="en-US" sz="900"/>
          </a:p>
        </p:txBody>
      </p:sp>
      <p:sp>
        <p:nvSpPr>
          <p:cNvPr id="44" name="Text 42"/>
          <p:cNvSpPr/>
          <p:nvPr/>
        </p:nvSpPr>
        <p:spPr bwMode="auto">
          <a:xfrm>
            <a:off x="6236208" y="1572768"/>
            <a:ext cx="1645920" cy="228600"/>
          </a:xfrm>
          <a:prstGeom prst="rect">
            <a:avLst/>
          </a:prstGeom>
          <a:noFill/>
        </p:spPr>
        <p:txBody>
          <a:bodyPr wrap="square" rtlCol="0" anchor="ctr"/>
          <a:lstStyle/>
          <a:p>
            <a:pPr marL="0" indent="0">
              <a:buNone/>
              <a:defRPr/>
            </a:pPr>
            <a:r>
              <a:rPr lang="en-US" sz="1000">
                <a:solidFill>
                  <a:srgbClr val="D1D5DB"/>
                </a:solidFill>
              </a:rPr>
              <a:t>Manufactura</a:t>
            </a:r>
            <a:endParaRPr lang="en-US" sz="1000"/>
          </a:p>
        </p:txBody>
      </p:sp>
      <p:sp>
        <p:nvSpPr>
          <p:cNvPr id="45" name="Shape 43"/>
          <p:cNvSpPr/>
          <p:nvPr/>
        </p:nvSpPr>
        <p:spPr bwMode="auto">
          <a:xfrm>
            <a:off x="6236208" y="1819656"/>
            <a:ext cx="2377440" cy="118872"/>
          </a:xfrm>
          <a:prstGeom prst="rect">
            <a:avLst/>
          </a:prstGeom>
          <a:solidFill>
            <a:srgbClr val="161B22"/>
          </a:solidFill>
        </p:spPr>
      </p:sp>
      <p:sp>
        <p:nvSpPr>
          <p:cNvPr id="46" name="Shape 44"/>
          <p:cNvSpPr/>
          <p:nvPr/>
        </p:nvSpPr>
        <p:spPr bwMode="auto">
          <a:xfrm>
            <a:off x="6236208" y="1819656"/>
            <a:ext cx="2377440" cy="118872"/>
          </a:xfrm>
          <a:prstGeom prst="rect">
            <a:avLst/>
          </a:prstGeom>
          <a:solidFill>
            <a:srgbClr val="EF4444"/>
          </a:solidFill>
        </p:spPr>
      </p:sp>
      <p:sp>
        <p:nvSpPr>
          <p:cNvPr id="47" name="Text 45"/>
          <p:cNvSpPr/>
          <p:nvPr/>
        </p:nvSpPr>
        <p:spPr bwMode="auto">
          <a:xfrm>
            <a:off x="8275320" y="1572768"/>
            <a:ext cx="548640" cy="228600"/>
          </a:xfrm>
          <a:prstGeom prst="rect">
            <a:avLst/>
          </a:prstGeom>
          <a:noFill/>
        </p:spPr>
        <p:txBody>
          <a:bodyPr wrap="square" rtlCol="0" anchor="ctr"/>
          <a:lstStyle/>
          <a:p>
            <a:pPr marL="0" indent="0">
              <a:buNone/>
              <a:defRPr/>
            </a:pPr>
            <a:r>
              <a:rPr lang="en-US" sz="1000" b="1">
                <a:solidFill>
                  <a:srgbClr val="EF4444"/>
                </a:solidFill>
              </a:rPr>
              <a:t>930</a:t>
            </a:r>
            <a:endParaRPr lang="en-US" sz="1000"/>
          </a:p>
        </p:txBody>
      </p:sp>
      <p:sp>
        <p:nvSpPr>
          <p:cNvPr id="48" name="Text 46"/>
          <p:cNvSpPr/>
          <p:nvPr/>
        </p:nvSpPr>
        <p:spPr bwMode="auto">
          <a:xfrm>
            <a:off x="6236208" y="2075688"/>
            <a:ext cx="1645920" cy="228600"/>
          </a:xfrm>
          <a:prstGeom prst="rect">
            <a:avLst/>
          </a:prstGeom>
          <a:noFill/>
        </p:spPr>
        <p:txBody>
          <a:bodyPr wrap="square" rtlCol="0" anchor="ctr"/>
          <a:lstStyle/>
          <a:p>
            <a:pPr marL="0" indent="0">
              <a:buNone/>
              <a:defRPr/>
            </a:pPr>
            <a:r>
              <a:rPr lang="en-US" sz="1000">
                <a:solidFill>
                  <a:srgbClr val="D1D5DB"/>
                </a:solidFill>
              </a:rPr>
              <a:t>Tecnología</a:t>
            </a:r>
            <a:endParaRPr lang="en-US" sz="1000"/>
          </a:p>
        </p:txBody>
      </p:sp>
      <p:sp>
        <p:nvSpPr>
          <p:cNvPr id="49" name="Shape 47"/>
          <p:cNvSpPr/>
          <p:nvPr/>
        </p:nvSpPr>
        <p:spPr bwMode="auto">
          <a:xfrm>
            <a:off x="6236208" y="2322576"/>
            <a:ext cx="2377440" cy="118872"/>
          </a:xfrm>
          <a:prstGeom prst="rect">
            <a:avLst/>
          </a:prstGeom>
          <a:solidFill>
            <a:srgbClr val="161B22"/>
          </a:solidFill>
        </p:spPr>
      </p:sp>
      <p:sp>
        <p:nvSpPr>
          <p:cNvPr id="50" name="Shape 48"/>
          <p:cNvSpPr/>
          <p:nvPr/>
        </p:nvSpPr>
        <p:spPr bwMode="auto">
          <a:xfrm>
            <a:off x="6236208" y="2322576"/>
            <a:ext cx="2282854" cy="118872"/>
          </a:xfrm>
          <a:prstGeom prst="rect">
            <a:avLst/>
          </a:prstGeom>
          <a:solidFill>
            <a:srgbClr val="F97316"/>
          </a:solidFill>
        </p:spPr>
      </p:sp>
      <p:sp>
        <p:nvSpPr>
          <p:cNvPr id="51" name="Text 49"/>
          <p:cNvSpPr/>
          <p:nvPr/>
        </p:nvSpPr>
        <p:spPr bwMode="auto">
          <a:xfrm>
            <a:off x="8275320" y="2075688"/>
            <a:ext cx="548640" cy="228600"/>
          </a:xfrm>
          <a:prstGeom prst="rect">
            <a:avLst/>
          </a:prstGeom>
          <a:noFill/>
        </p:spPr>
        <p:txBody>
          <a:bodyPr wrap="square" rtlCol="0" anchor="ctr"/>
          <a:lstStyle/>
          <a:p>
            <a:pPr marL="0" indent="0">
              <a:buNone/>
              <a:defRPr/>
            </a:pPr>
            <a:r>
              <a:rPr lang="en-US" sz="1000" b="1">
                <a:solidFill>
                  <a:srgbClr val="F97316"/>
                </a:solidFill>
              </a:rPr>
              <a:t>893</a:t>
            </a:r>
            <a:endParaRPr lang="en-US" sz="1000"/>
          </a:p>
        </p:txBody>
      </p:sp>
      <p:sp>
        <p:nvSpPr>
          <p:cNvPr id="52" name="Text 50"/>
          <p:cNvSpPr/>
          <p:nvPr/>
        </p:nvSpPr>
        <p:spPr bwMode="auto">
          <a:xfrm>
            <a:off x="6236208" y="2578608"/>
            <a:ext cx="1645920" cy="228600"/>
          </a:xfrm>
          <a:prstGeom prst="rect">
            <a:avLst/>
          </a:prstGeom>
          <a:noFill/>
        </p:spPr>
        <p:txBody>
          <a:bodyPr wrap="square" rtlCol="0" anchor="ctr"/>
          <a:lstStyle/>
          <a:p>
            <a:pPr marL="0" indent="0">
              <a:buNone/>
              <a:defRPr/>
            </a:pPr>
            <a:r>
              <a:rPr lang="en-US" sz="1000">
                <a:solidFill>
                  <a:srgbClr val="D1D5DB"/>
                </a:solidFill>
              </a:rPr>
              <a:t>Salud</a:t>
            </a:r>
            <a:endParaRPr lang="en-US" sz="1000"/>
          </a:p>
        </p:txBody>
      </p:sp>
      <p:sp>
        <p:nvSpPr>
          <p:cNvPr id="53" name="Shape 51"/>
          <p:cNvSpPr/>
          <p:nvPr/>
        </p:nvSpPr>
        <p:spPr bwMode="auto">
          <a:xfrm>
            <a:off x="6236208" y="2825496"/>
            <a:ext cx="2377440" cy="118872"/>
          </a:xfrm>
          <a:prstGeom prst="rect">
            <a:avLst/>
          </a:prstGeom>
          <a:solidFill>
            <a:srgbClr val="161B22"/>
          </a:solidFill>
        </p:spPr>
      </p:sp>
      <p:sp>
        <p:nvSpPr>
          <p:cNvPr id="54" name="Shape 52"/>
          <p:cNvSpPr/>
          <p:nvPr/>
        </p:nvSpPr>
        <p:spPr bwMode="auto">
          <a:xfrm>
            <a:off x="6236208" y="2825496"/>
            <a:ext cx="1352329" cy="118872"/>
          </a:xfrm>
          <a:prstGeom prst="rect">
            <a:avLst/>
          </a:prstGeom>
          <a:solidFill>
            <a:srgbClr val="FBBF24"/>
          </a:solidFill>
        </p:spPr>
      </p:sp>
      <p:sp>
        <p:nvSpPr>
          <p:cNvPr id="55" name="Text 53"/>
          <p:cNvSpPr/>
          <p:nvPr/>
        </p:nvSpPr>
        <p:spPr bwMode="auto">
          <a:xfrm>
            <a:off x="8275320" y="2578608"/>
            <a:ext cx="548640" cy="228600"/>
          </a:xfrm>
          <a:prstGeom prst="rect">
            <a:avLst/>
          </a:prstGeom>
          <a:noFill/>
        </p:spPr>
        <p:txBody>
          <a:bodyPr wrap="square" rtlCol="0" anchor="ctr"/>
          <a:lstStyle/>
          <a:p>
            <a:pPr marL="0" indent="0">
              <a:buNone/>
              <a:defRPr/>
            </a:pPr>
            <a:r>
              <a:rPr lang="en-US" sz="1000" b="1">
                <a:solidFill>
                  <a:srgbClr val="FBBF24"/>
                </a:solidFill>
              </a:rPr>
              <a:t>529</a:t>
            </a:r>
            <a:endParaRPr lang="en-US" sz="1000"/>
          </a:p>
        </p:txBody>
      </p:sp>
      <p:sp>
        <p:nvSpPr>
          <p:cNvPr id="56" name="Text 54"/>
          <p:cNvSpPr/>
          <p:nvPr/>
        </p:nvSpPr>
        <p:spPr bwMode="auto">
          <a:xfrm>
            <a:off x="6236208" y="3081528"/>
            <a:ext cx="1645920" cy="228600"/>
          </a:xfrm>
          <a:prstGeom prst="rect">
            <a:avLst/>
          </a:prstGeom>
          <a:noFill/>
        </p:spPr>
        <p:txBody>
          <a:bodyPr wrap="square" rtlCol="0" anchor="ctr"/>
          <a:lstStyle/>
          <a:p>
            <a:pPr marL="0" indent="0">
              <a:buNone/>
              <a:defRPr/>
            </a:pPr>
            <a:r>
              <a:rPr lang="en-US" sz="1000">
                <a:solidFill>
                  <a:srgbClr val="D1D5DB"/>
                </a:solidFill>
              </a:rPr>
              <a:t>Gobierno</a:t>
            </a:r>
            <a:endParaRPr lang="en-US" sz="1000"/>
          </a:p>
        </p:txBody>
      </p:sp>
      <p:sp>
        <p:nvSpPr>
          <p:cNvPr id="57" name="Shape 55"/>
          <p:cNvSpPr/>
          <p:nvPr/>
        </p:nvSpPr>
        <p:spPr bwMode="auto">
          <a:xfrm>
            <a:off x="6236208" y="3328416"/>
            <a:ext cx="2377440" cy="118872"/>
          </a:xfrm>
          <a:prstGeom prst="rect">
            <a:avLst/>
          </a:prstGeom>
          <a:solidFill>
            <a:srgbClr val="161B22"/>
          </a:solidFill>
        </p:spPr>
      </p:sp>
      <p:sp>
        <p:nvSpPr>
          <p:cNvPr id="58" name="Shape 56"/>
          <p:cNvSpPr/>
          <p:nvPr/>
        </p:nvSpPr>
        <p:spPr bwMode="auto">
          <a:xfrm>
            <a:off x="6236208" y="3328416"/>
            <a:ext cx="1053231" cy="118872"/>
          </a:xfrm>
          <a:prstGeom prst="rect">
            <a:avLst/>
          </a:prstGeom>
          <a:solidFill>
            <a:srgbClr val="10B981"/>
          </a:solidFill>
        </p:spPr>
      </p:sp>
      <p:sp>
        <p:nvSpPr>
          <p:cNvPr id="59" name="Text 57"/>
          <p:cNvSpPr/>
          <p:nvPr/>
        </p:nvSpPr>
        <p:spPr bwMode="auto">
          <a:xfrm>
            <a:off x="8275320" y="3081528"/>
            <a:ext cx="548640" cy="228600"/>
          </a:xfrm>
          <a:prstGeom prst="rect">
            <a:avLst/>
          </a:prstGeom>
          <a:noFill/>
        </p:spPr>
        <p:txBody>
          <a:bodyPr wrap="square" rtlCol="0" anchor="ctr"/>
          <a:lstStyle/>
          <a:p>
            <a:pPr marL="0" indent="0">
              <a:buNone/>
              <a:defRPr/>
            </a:pPr>
            <a:r>
              <a:rPr lang="en-US" sz="1000" b="1">
                <a:solidFill>
                  <a:srgbClr val="10B981"/>
                </a:solidFill>
              </a:rPr>
              <a:t>412</a:t>
            </a:r>
            <a:endParaRPr lang="en-US" sz="1000"/>
          </a:p>
        </p:txBody>
      </p:sp>
      <p:sp>
        <p:nvSpPr>
          <p:cNvPr id="60" name="Text 58"/>
          <p:cNvSpPr/>
          <p:nvPr/>
        </p:nvSpPr>
        <p:spPr bwMode="auto">
          <a:xfrm>
            <a:off x="6236208" y="3584448"/>
            <a:ext cx="1645920" cy="228600"/>
          </a:xfrm>
          <a:prstGeom prst="rect">
            <a:avLst/>
          </a:prstGeom>
          <a:noFill/>
        </p:spPr>
        <p:txBody>
          <a:bodyPr wrap="square" rtlCol="0" anchor="ctr"/>
          <a:lstStyle/>
          <a:p>
            <a:pPr marL="0" indent="0">
              <a:buNone/>
              <a:defRPr/>
            </a:pPr>
            <a:r>
              <a:rPr lang="en-US" sz="1000">
                <a:solidFill>
                  <a:srgbClr val="D1D5DB"/>
                </a:solidFill>
              </a:rPr>
              <a:t>Finanzas</a:t>
            </a:r>
            <a:endParaRPr lang="en-US" sz="1000"/>
          </a:p>
        </p:txBody>
      </p:sp>
      <p:sp>
        <p:nvSpPr>
          <p:cNvPr id="61" name="Shape 59"/>
          <p:cNvSpPr/>
          <p:nvPr/>
        </p:nvSpPr>
        <p:spPr bwMode="auto">
          <a:xfrm>
            <a:off x="6236208" y="3831336"/>
            <a:ext cx="2377440" cy="118872"/>
          </a:xfrm>
          <a:prstGeom prst="rect">
            <a:avLst/>
          </a:prstGeom>
          <a:solidFill>
            <a:srgbClr val="161B22"/>
          </a:solidFill>
        </p:spPr>
      </p:sp>
      <p:sp>
        <p:nvSpPr>
          <p:cNvPr id="62" name="Shape 60"/>
          <p:cNvSpPr/>
          <p:nvPr/>
        </p:nvSpPr>
        <p:spPr bwMode="auto">
          <a:xfrm>
            <a:off x="6236208" y="3831336"/>
            <a:ext cx="971427" cy="118872"/>
          </a:xfrm>
          <a:prstGeom prst="rect">
            <a:avLst/>
          </a:prstGeom>
          <a:solidFill>
            <a:srgbClr val="60A5FA"/>
          </a:solidFill>
        </p:spPr>
      </p:sp>
      <p:sp>
        <p:nvSpPr>
          <p:cNvPr id="63" name="Text 61"/>
          <p:cNvSpPr/>
          <p:nvPr/>
        </p:nvSpPr>
        <p:spPr bwMode="auto">
          <a:xfrm>
            <a:off x="8275320" y="3584448"/>
            <a:ext cx="548640" cy="228600"/>
          </a:xfrm>
          <a:prstGeom prst="rect">
            <a:avLst/>
          </a:prstGeom>
          <a:noFill/>
        </p:spPr>
        <p:txBody>
          <a:bodyPr wrap="square" rtlCol="0" anchor="ctr"/>
          <a:lstStyle/>
          <a:p>
            <a:pPr marL="0" indent="0">
              <a:buNone/>
              <a:defRPr/>
            </a:pPr>
            <a:r>
              <a:rPr lang="en-US" sz="1000" b="1">
                <a:solidFill>
                  <a:srgbClr val="60A5FA"/>
                </a:solidFill>
              </a:rPr>
              <a:t>380</a:t>
            </a:r>
            <a:endParaRPr lang="en-US" sz="1000"/>
          </a:p>
        </p:txBody>
      </p:sp>
      <p:sp>
        <p:nvSpPr>
          <p:cNvPr id="64" name="Text 62"/>
          <p:cNvSpPr/>
          <p:nvPr/>
        </p:nvSpPr>
        <p:spPr bwMode="auto">
          <a:xfrm>
            <a:off x="6236208" y="4087368"/>
            <a:ext cx="1645920" cy="228600"/>
          </a:xfrm>
          <a:prstGeom prst="rect">
            <a:avLst/>
          </a:prstGeom>
          <a:noFill/>
        </p:spPr>
        <p:txBody>
          <a:bodyPr wrap="square" rtlCol="0" anchor="ctr"/>
          <a:lstStyle/>
          <a:p>
            <a:pPr marL="0" indent="0">
              <a:buNone/>
              <a:defRPr/>
            </a:pPr>
            <a:r>
              <a:rPr lang="en-US" sz="1000">
                <a:solidFill>
                  <a:srgbClr val="D1D5DB"/>
                </a:solidFill>
              </a:rPr>
              <a:t>Educación</a:t>
            </a:r>
            <a:endParaRPr lang="en-US" sz="1000"/>
          </a:p>
        </p:txBody>
      </p:sp>
      <p:sp>
        <p:nvSpPr>
          <p:cNvPr id="65" name="Shape 63"/>
          <p:cNvSpPr/>
          <p:nvPr/>
        </p:nvSpPr>
        <p:spPr bwMode="auto">
          <a:xfrm>
            <a:off x="6236208" y="4334256"/>
            <a:ext cx="2377440" cy="118872"/>
          </a:xfrm>
          <a:prstGeom prst="rect">
            <a:avLst/>
          </a:prstGeom>
          <a:solidFill>
            <a:srgbClr val="161B22"/>
          </a:solidFill>
        </p:spPr>
      </p:sp>
      <p:sp>
        <p:nvSpPr>
          <p:cNvPr id="66" name="Shape 64"/>
          <p:cNvSpPr/>
          <p:nvPr/>
        </p:nvSpPr>
        <p:spPr bwMode="auto">
          <a:xfrm>
            <a:off x="6236208" y="4334256"/>
            <a:ext cx="741352" cy="118872"/>
          </a:xfrm>
          <a:prstGeom prst="rect">
            <a:avLst/>
          </a:prstGeom>
          <a:solidFill>
            <a:srgbClr val="A78BFA"/>
          </a:solidFill>
        </p:spPr>
      </p:sp>
      <p:sp>
        <p:nvSpPr>
          <p:cNvPr id="67" name="Text 65"/>
          <p:cNvSpPr/>
          <p:nvPr/>
        </p:nvSpPr>
        <p:spPr bwMode="auto">
          <a:xfrm>
            <a:off x="8275320" y="4087368"/>
            <a:ext cx="548640" cy="228600"/>
          </a:xfrm>
          <a:prstGeom prst="rect">
            <a:avLst/>
          </a:prstGeom>
          <a:noFill/>
        </p:spPr>
        <p:txBody>
          <a:bodyPr wrap="square" rtlCol="0" anchor="ctr"/>
          <a:lstStyle/>
          <a:p>
            <a:pPr marL="0" indent="0">
              <a:buNone/>
              <a:defRPr/>
            </a:pPr>
            <a:r>
              <a:rPr lang="en-US" sz="1000" b="1">
                <a:solidFill>
                  <a:srgbClr val="A78BFA"/>
                </a:solidFill>
              </a:rPr>
              <a:t>290</a:t>
            </a:r>
            <a:endParaRPr lang="en-US" sz="1000"/>
          </a:p>
        </p:txBody>
      </p:sp>
      <p:sp>
        <p:nvSpPr>
          <p:cNvPr id="68" name="Text 66"/>
          <p:cNvSpPr/>
          <p:nvPr/>
        </p:nvSpPr>
        <p:spPr bwMode="auto">
          <a:xfrm>
            <a:off x="6236208" y="4590288"/>
            <a:ext cx="2560320" cy="182880"/>
          </a:xfrm>
          <a:prstGeom prst="rect">
            <a:avLst/>
          </a:prstGeom>
          <a:noFill/>
        </p:spPr>
        <p:txBody>
          <a:bodyPr wrap="square" rtlCol="0" anchor="ctr"/>
          <a:lstStyle/>
          <a:p>
            <a:pPr marL="0" indent="0">
              <a:buNone/>
              <a:defRPr/>
            </a:pPr>
            <a:r>
              <a:rPr lang="en-US" sz="800" i="1">
                <a:solidFill>
                  <a:srgbClr val="6B7280"/>
                </a:solidFill>
              </a:rPr>
              <a:t>víctimas listadas</a:t>
            </a:r>
            <a:endParaRPr lang="en-US" sz="8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ESTADÍSTICAS GLOBALES Y COLOMBIA — 2024/2025</a:t>
            </a:r>
            <a:endParaRPr lang="en-US" sz="2200"/>
          </a:p>
        </p:txBody>
      </p:sp>
      <p:sp>
        <p:nvSpPr>
          <p:cNvPr id="5" name="Shape 3"/>
          <p:cNvSpPr/>
          <p:nvPr/>
        </p:nvSpPr>
        <p:spPr bwMode="auto">
          <a:xfrm>
            <a:off x="182880" y="960120"/>
            <a:ext cx="2057400" cy="1508759"/>
          </a:xfrm>
          <a:prstGeom prst="rect">
            <a:avLst/>
          </a:prstGeom>
          <a:solidFill>
            <a:srgbClr val="1F2937"/>
          </a:solidFill>
          <a:ln w="25400">
            <a:solidFill>
              <a:srgbClr val="EF4444"/>
            </a:solidFill>
            <a:prstDash val="solid"/>
          </a:ln>
        </p:spPr>
      </p:sp>
      <p:sp>
        <p:nvSpPr>
          <p:cNvPr id="6" name="Shape 4"/>
          <p:cNvSpPr/>
          <p:nvPr/>
        </p:nvSpPr>
        <p:spPr bwMode="auto">
          <a:xfrm>
            <a:off x="182880" y="960120"/>
            <a:ext cx="2057400" cy="64008"/>
          </a:xfrm>
          <a:prstGeom prst="rect">
            <a:avLst/>
          </a:prstGeom>
          <a:solidFill>
            <a:srgbClr val="EF4444"/>
          </a:solidFill>
        </p:spPr>
      </p:sp>
      <p:sp>
        <p:nvSpPr>
          <p:cNvPr id="7" name="Text 5"/>
          <p:cNvSpPr/>
          <p:nvPr/>
        </p:nvSpPr>
        <p:spPr bwMode="auto">
          <a:xfrm>
            <a:off x="228600" y="1042416"/>
            <a:ext cx="1965960" cy="685800"/>
          </a:xfrm>
          <a:prstGeom prst="rect">
            <a:avLst/>
          </a:prstGeom>
          <a:noFill/>
        </p:spPr>
        <p:txBody>
          <a:bodyPr wrap="square" rtlCol="0" anchor="ctr"/>
          <a:lstStyle/>
          <a:p>
            <a:pPr marL="0" indent="0" algn="ctr">
              <a:buNone/>
              <a:defRPr/>
            </a:pPr>
            <a:r>
              <a:rPr lang="en-US" sz="3000" b="1">
                <a:solidFill>
                  <a:srgbClr val="EF4444"/>
                </a:solidFill>
                <a:latin typeface="Impact" panose="020B0806030902050204"/>
                <a:ea typeface="Impact" panose="020B0806030902050204"/>
                <a:cs typeface="Impact" panose="020B0806030902050204"/>
              </a:rPr>
              <a:t>8,159</a:t>
            </a:r>
            <a:endParaRPr lang="en-US" sz="3000"/>
          </a:p>
        </p:txBody>
      </p:sp>
      <p:sp>
        <p:nvSpPr>
          <p:cNvPr id="8" name="Text 6"/>
          <p:cNvSpPr/>
          <p:nvPr/>
        </p:nvSpPr>
        <p:spPr bwMode="auto">
          <a:xfrm>
            <a:off x="228600" y="1719072"/>
            <a:ext cx="1965960" cy="347472"/>
          </a:xfrm>
          <a:prstGeom prst="rect">
            <a:avLst/>
          </a:prstGeom>
          <a:noFill/>
        </p:spPr>
        <p:txBody>
          <a:bodyPr wrap="square" rtlCol="0" anchor="ctr"/>
          <a:lstStyle/>
          <a:p>
            <a:pPr marL="0" indent="0" algn="ctr">
              <a:buNone/>
              <a:defRPr/>
            </a:pPr>
            <a:r>
              <a:rPr lang="en-US" sz="1000" b="1">
                <a:solidFill>
                  <a:srgbClr val="FFFFFF"/>
                </a:solidFill>
              </a:rPr>
              <a:t>Víctimas globales</a:t>
            </a:r>
            <a:endParaRPr lang="en-US" sz="1000"/>
          </a:p>
          <a:p>
            <a:pPr marL="0" indent="0" algn="ctr">
              <a:buNone/>
              <a:defRPr/>
            </a:pPr>
            <a:r>
              <a:rPr lang="en-US" sz="1000" b="1">
                <a:solidFill>
                  <a:srgbClr val="FFFFFF"/>
                </a:solidFill>
              </a:rPr>
              <a:t>en 2025</a:t>
            </a:r>
            <a:endParaRPr lang="en-US" sz="1000"/>
          </a:p>
        </p:txBody>
      </p:sp>
      <p:sp>
        <p:nvSpPr>
          <p:cNvPr id="9" name="Text 7"/>
          <p:cNvSpPr/>
          <p:nvPr/>
        </p:nvSpPr>
        <p:spPr bwMode="auto">
          <a:xfrm>
            <a:off x="228600" y="2066544"/>
            <a:ext cx="1965960" cy="320040"/>
          </a:xfrm>
          <a:prstGeom prst="rect">
            <a:avLst/>
          </a:prstGeom>
          <a:noFill/>
        </p:spPr>
        <p:txBody>
          <a:bodyPr wrap="square" rtlCol="0" anchor="ctr"/>
          <a:lstStyle/>
          <a:p>
            <a:pPr marL="0" indent="0" algn="ctr">
              <a:buNone/>
              <a:defRPr/>
            </a:pPr>
            <a:r>
              <a:rPr lang="en-US" sz="800">
                <a:solidFill>
                  <a:srgbClr val="6B7280"/>
                </a:solidFill>
              </a:rPr>
              <a:t>+34% vs 2024 (Picus/NTT)</a:t>
            </a:r>
            <a:endParaRPr lang="en-US" sz="800"/>
          </a:p>
        </p:txBody>
      </p:sp>
      <p:sp>
        <p:nvSpPr>
          <p:cNvPr id="10" name="Shape 8"/>
          <p:cNvSpPr/>
          <p:nvPr/>
        </p:nvSpPr>
        <p:spPr bwMode="auto">
          <a:xfrm>
            <a:off x="2377440" y="960120"/>
            <a:ext cx="2057400" cy="1508759"/>
          </a:xfrm>
          <a:prstGeom prst="rect">
            <a:avLst/>
          </a:prstGeom>
          <a:solidFill>
            <a:srgbClr val="1F2937"/>
          </a:solidFill>
          <a:ln w="25400">
            <a:solidFill>
              <a:srgbClr val="F97316"/>
            </a:solidFill>
            <a:prstDash val="solid"/>
          </a:ln>
        </p:spPr>
      </p:sp>
      <p:sp>
        <p:nvSpPr>
          <p:cNvPr id="11" name="Shape 9"/>
          <p:cNvSpPr/>
          <p:nvPr/>
        </p:nvSpPr>
        <p:spPr bwMode="auto">
          <a:xfrm>
            <a:off x="2377440" y="960120"/>
            <a:ext cx="2057400" cy="64008"/>
          </a:xfrm>
          <a:prstGeom prst="rect">
            <a:avLst/>
          </a:prstGeom>
          <a:solidFill>
            <a:srgbClr val="F97316"/>
          </a:solidFill>
        </p:spPr>
      </p:sp>
      <p:sp>
        <p:nvSpPr>
          <p:cNvPr id="12" name="Text 10"/>
          <p:cNvSpPr/>
          <p:nvPr/>
        </p:nvSpPr>
        <p:spPr bwMode="auto">
          <a:xfrm>
            <a:off x="2423160" y="1042416"/>
            <a:ext cx="1965960" cy="685800"/>
          </a:xfrm>
          <a:prstGeom prst="rect">
            <a:avLst/>
          </a:prstGeom>
          <a:noFill/>
        </p:spPr>
        <p:txBody>
          <a:bodyPr wrap="square" rtlCol="0" anchor="ctr"/>
          <a:lstStyle/>
          <a:p>
            <a:pPr marL="0" indent="0" algn="ctr">
              <a:buNone/>
              <a:defRPr/>
            </a:pPr>
            <a:r>
              <a:rPr lang="en-US" sz="3000" b="1">
                <a:solidFill>
                  <a:srgbClr val="F97316"/>
                </a:solidFill>
                <a:latin typeface="Impact" panose="020B0806030902050204"/>
                <a:ea typeface="Impact" panose="020B0806030902050204"/>
                <a:cs typeface="Impact" panose="020B0806030902050204"/>
              </a:rPr>
              <a:t>$75M</a:t>
            </a:r>
            <a:endParaRPr lang="en-US" sz="3000"/>
          </a:p>
        </p:txBody>
      </p:sp>
      <p:sp>
        <p:nvSpPr>
          <p:cNvPr id="13" name="Text 11"/>
          <p:cNvSpPr/>
          <p:nvPr/>
        </p:nvSpPr>
        <p:spPr bwMode="auto">
          <a:xfrm>
            <a:off x="2423160" y="1719072"/>
            <a:ext cx="1965960" cy="347472"/>
          </a:xfrm>
          <a:prstGeom prst="rect">
            <a:avLst/>
          </a:prstGeom>
          <a:noFill/>
        </p:spPr>
        <p:txBody>
          <a:bodyPr wrap="square" rtlCol="0" anchor="ctr"/>
          <a:lstStyle/>
          <a:p>
            <a:pPr marL="0" indent="0" algn="ctr">
              <a:buNone/>
              <a:defRPr/>
            </a:pPr>
            <a:r>
              <a:rPr lang="en-US" sz="1000" b="1">
                <a:solidFill>
                  <a:srgbClr val="FFFFFF"/>
                </a:solidFill>
              </a:rPr>
              <a:t>Mayor rescate</a:t>
            </a:r>
            <a:endParaRPr lang="en-US" sz="1000"/>
          </a:p>
          <a:p>
            <a:pPr marL="0" indent="0" algn="ctr">
              <a:buNone/>
              <a:defRPr/>
            </a:pPr>
            <a:r>
              <a:rPr lang="en-US" sz="1000" b="1">
                <a:solidFill>
                  <a:srgbClr val="FFFFFF"/>
                </a:solidFill>
              </a:rPr>
              <a:t>histórico 2024</a:t>
            </a:r>
            <a:endParaRPr lang="en-US" sz="1000"/>
          </a:p>
        </p:txBody>
      </p:sp>
      <p:sp>
        <p:nvSpPr>
          <p:cNvPr id="14" name="Text 12"/>
          <p:cNvSpPr/>
          <p:nvPr/>
        </p:nvSpPr>
        <p:spPr bwMode="auto">
          <a:xfrm>
            <a:off x="2423160" y="2066544"/>
            <a:ext cx="1965960" cy="320040"/>
          </a:xfrm>
          <a:prstGeom prst="rect">
            <a:avLst/>
          </a:prstGeom>
          <a:noFill/>
        </p:spPr>
        <p:txBody>
          <a:bodyPr wrap="square" rtlCol="0" anchor="ctr"/>
          <a:lstStyle/>
          <a:p>
            <a:pPr marL="0" indent="0" algn="ctr">
              <a:buNone/>
              <a:defRPr/>
            </a:pPr>
            <a:r>
              <a:rPr lang="en-US" sz="800">
                <a:solidFill>
                  <a:srgbClr val="6B7280"/>
                </a:solidFill>
              </a:rPr>
              <a:t>Dark Angels → Fortune 50</a:t>
            </a:r>
            <a:endParaRPr lang="en-US" sz="800"/>
          </a:p>
        </p:txBody>
      </p:sp>
      <p:sp>
        <p:nvSpPr>
          <p:cNvPr id="15" name="Shape 13"/>
          <p:cNvSpPr/>
          <p:nvPr/>
        </p:nvSpPr>
        <p:spPr bwMode="auto">
          <a:xfrm>
            <a:off x="4572000" y="960120"/>
            <a:ext cx="2057400" cy="1508759"/>
          </a:xfrm>
          <a:prstGeom prst="rect">
            <a:avLst/>
          </a:prstGeom>
          <a:solidFill>
            <a:srgbClr val="1F2937"/>
          </a:solidFill>
          <a:ln w="25400">
            <a:solidFill>
              <a:srgbClr val="FBBF24"/>
            </a:solidFill>
            <a:prstDash val="solid"/>
          </a:ln>
        </p:spPr>
      </p:sp>
      <p:sp>
        <p:nvSpPr>
          <p:cNvPr id="16" name="Shape 14"/>
          <p:cNvSpPr/>
          <p:nvPr/>
        </p:nvSpPr>
        <p:spPr bwMode="auto">
          <a:xfrm>
            <a:off x="4572000" y="960120"/>
            <a:ext cx="2057400" cy="64008"/>
          </a:xfrm>
          <a:prstGeom prst="rect">
            <a:avLst/>
          </a:prstGeom>
          <a:solidFill>
            <a:srgbClr val="FBBF24"/>
          </a:solidFill>
        </p:spPr>
      </p:sp>
      <p:sp>
        <p:nvSpPr>
          <p:cNvPr id="17" name="Text 15"/>
          <p:cNvSpPr/>
          <p:nvPr/>
        </p:nvSpPr>
        <p:spPr bwMode="auto">
          <a:xfrm>
            <a:off x="4617720" y="1042416"/>
            <a:ext cx="1965960" cy="685800"/>
          </a:xfrm>
          <a:prstGeom prst="rect">
            <a:avLst/>
          </a:prstGeom>
          <a:noFill/>
        </p:spPr>
        <p:txBody>
          <a:bodyPr wrap="square" rtlCol="0" anchor="ctr"/>
          <a:lstStyle/>
          <a:p>
            <a:pPr marL="0" indent="0" algn="ctr">
              <a:buNone/>
              <a:defRPr/>
            </a:pPr>
            <a:r>
              <a:rPr lang="en-US" sz="3000" b="1">
                <a:solidFill>
                  <a:srgbClr val="FBBF24"/>
                </a:solidFill>
                <a:latin typeface="Impact" panose="020B0806030902050204"/>
                <a:ea typeface="Impact" panose="020B0806030902050204"/>
                <a:cs typeface="Impact" panose="020B0806030902050204"/>
              </a:rPr>
              <a:t>23%</a:t>
            </a:r>
            <a:endParaRPr lang="en-US" sz="3000"/>
          </a:p>
        </p:txBody>
      </p:sp>
      <p:sp>
        <p:nvSpPr>
          <p:cNvPr id="18" name="Text 16"/>
          <p:cNvSpPr/>
          <p:nvPr/>
        </p:nvSpPr>
        <p:spPr bwMode="auto">
          <a:xfrm>
            <a:off x="4617720" y="1719072"/>
            <a:ext cx="1965960" cy="347472"/>
          </a:xfrm>
          <a:prstGeom prst="rect">
            <a:avLst/>
          </a:prstGeom>
          <a:noFill/>
        </p:spPr>
        <p:txBody>
          <a:bodyPr wrap="square" rtlCol="0" anchor="ctr"/>
          <a:lstStyle/>
          <a:p>
            <a:pPr marL="0" indent="0" algn="ctr">
              <a:buNone/>
              <a:defRPr/>
            </a:pPr>
            <a:r>
              <a:rPr lang="en-US" sz="1000" b="1">
                <a:solidFill>
                  <a:srgbClr val="FFFFFF"/>
                </a:solidFill>
              </a:rPr>
              <a:t>Pagaron rescate en 2025</a:t>
            </a:r>
            <a:endParaRPr lang="en-US" sz="1000"/>
          </a:p>
        </p:txBody>
      </p:sp>
      <p:sp>
        <p:nvSpPr>
          <p:cNvPr id="20" name="Shape 18"/>
          <p:cNvSpPr/>
          <p:nvPr/>
        </p:nvSpPr>
        <p:spPr bwMode="auto">
          <a:xfrm>
            <a:off x="6766560" y="960120"/>
            <a:ext cx="2057400" cy="1508759"/>
          </a:xfrm>
          <a:prstGeom prst="rect">
            <a:avLst/>
          </a:prstGeom>
          <a:solidFill>
            <a:srgbClr val="1F2937"/>
          </a:solidFill>
          <a:ln w="25400">
            <a:solidFill>
              <a:srgbClr val="60A5FA"/>
            </a:solidFill>
            <a:prstDash val="solid"/>
          </a:ln>
        </p:spPr>
      </p:sp>
      <p:sp>
        <p:nvSpPr>
          <p:cNvPr id="21" name="Shape 19"/>
          <p:cNvSpPr/>
          <p:nvPr/>
        </p:nvSpPr>
        <p:spPr bwMode="auto">
          <a:xfrm>
            <a:off x="6766560" y="960120"/>
            <a:ext cx="2057400" cy="64008"/>
          </a:xfrm>
          <a:prstGeom prst="rect">
            <a:avLst/>
          </a:prstGeom>
          <a:solidFill>
            <a:srgbClr val="60A5FA"/>
          </a:solidFill>
        </p:spPr>
      </p:sp>
      <p:sp>
        <p:nvSpPr>
          <p:cNvPr id="22" name="Text 20"/>
          <p:cNvSpPr/>
          <p:nvPr/>
        </p:nvSpPr>
        <p:spPr bwMode="auto">
          <a:xfrm>
            <a:off x="6812280" y="1042416"/>
            <a:ext cx="1965960" cy="685800"/>
          </a:xfrm>
          <a:prstGeom prst="rect">
            <a:avLst/>
          </a:prstGeom>
          <a:noFill/>
        </p:spPr>
        <p:txBody>
          <a:bodyPr wrap="square" rtlCol="0" anchor="ctr"/>
          <a:lstStyle/>
          <a:p>
            <a:pPr marL="0" indent="0" algn="ctr">
              <a:buNone/>
              <a:defRPr/>
            </a:pPr>
            <a:r>
              <a:rPr lang="en-US" sz="3000" b="1">
                <a:solidFill>
                  <a:srgbClr val="60A5FA"/>
                </a:solidFill>
                <a:latin typeface="Impact" panose="020B0806030902050204"/>
                <a:ea typeface="Impact" panose="020B0806030902050204"/>
                <a:cs typeface="Impact" panose="020B0806030902050204"/>
              </a:rPr>
              <a:t>50%</a:t>
            </a:r>
            <a:endParaRPr lang="en-US" sz="3000"/>
          </a:p>
        </p:txBody>
      </p:sp>
      <p:sp>
        <p:nvSpPr>
          <p:cNvPr id="23" name="Text 21"/>
          <p:cNvSpPr/>
          <p:nvPr/>
        </p:nvSpPr>
        <p:spPr bwMode="auto">
          <a:xfrm>
            <a:off x="6812280" y="1719072"/>
            <a:ext cx="1965960" cy="347472"/>
          </a:xfrm>
          <a:prstGeom prst="rect">
            <a:avLst/>
          </a:prstGeom>
          <a:noFill/>
        </p:spPr>
        <p:txBody>
          <a:bodyPr wrap="square" rtlCol="0" anchor="ctr"/>
          <a:lstStyle/>
          <a:p>
            <a:pPr marL="0" indent="0" algn="ctr">
              <a:buNone/>
              <a:defRPr/>
            </a:pPr>
            <a:r>
              <a:rPr lang="en-US" sz="1000" b="1">
                <a:solidFill>
                  <a:srgbClr val="FFFFFF"/>
                </a:solidFill>
              </a:rPr>
              <a:t>Ataques con</a:t>
            </a:r>
            <a:endParaRPr lang="en-US" sz="1000"/>
          </a:p>
          <a:p>
            <a:pPr marL="0" indent="0" algn="ctr">
              <a:buNone/>
              <a:defRPr/>
            </a:pPr>
            <a:r>
              <a:rPr lang="en-US" sz="1000" b="1">
                <a:solidFill>
                  <a:srgbClr val="FFFFFF"/>
                </a:solidFill>
              </a:rPr>
              <a:t>cifrado en 2025</a:t>
            </a:r>
            <a:endParaRPr lang="en-US" sz="1000"/>
          </a:p>
        </p:txBody>
      </p:sp>
      <p:sp>
        <p:nvSpPr>
          <p:cNvPr id="25" name="Shape 23"/>
          <p:cNvSpPr/>
          <p:nvPr/>
        </p:nvSpPr>
        <p:spPr bwMode="auto">
          <a:xfrm>
            <a:off x="182880" y="2542032"/>
            <a:ext cx="4160519" cy="2212848"/>
          </a:xfrm>
          <a:prstGeom prst="rect">
            <a:avLst/>
          </a:prstGeom>
          <a:solidFill>
            <a:srgbClr val="1F2937"/>
          </a:solidFill>
          <a:ln w="12700">
            <a:solidFill>
              <a:srgbClr val="FBBF24"/>
            </a:solidFill>
            <a:prstDash val="solid"/>
          </a:ln>
        </p:spPr>
      </p:sp>
      <p:sp>
        <p:nvSpPr>
          <p:cNvPr id="26" name="Text 24"/>
          <p:cNvSpPr/>
          <p:nvPr/>
        </p:nvSpPr>
        <p:spPr bwMode="auto">
          <a:xfrm>
            <a:off x="347472" y="2615184"/>
            <a:ext cx="3840480" cy="292608"/>
          </a:xfrm>
          <a:prstGeom prst="rect">
            <a:avLst/>
          </a:prstGeom>
          <a:noFill/>
        </p:spPr>
        <p:txBody>
          <a:bodyPr wrap="square" rtlCol="0" anchor="ctr"/>
          <a:lstStyle/>
          <a:p>
            <a:pPr marL="0" indent="0">
              <a:buNone/>
              <a:defRPr/>
            </a:pPr>
            <a:r>
              <a:rPr lang="en-US" sz="1300" b="1">
                <a:solidFill>
                  <a:srgbClr val="FBBF24"/>
                </a:solidFill>
              </a:rPr>
              <a:t>COLOMBIA — Panorama 2024/2025</a:t>
            </a:r>
            <a:endParaRPr lang="en-US" sz="1300"/>
          </a:p>
        </p:txBody>
      </p:sp>
      <p:sp>
        <p:nvSpPr>
          <p:cNvPr id="27" name="Text 25"/>
          <p:cNvSpPr/>
          <p:nvPr/>
        </p:nvSpPr>
        <p:spPr bwMode="auto">
          <a:xfrm>
            <a:off x="347472" y="2962656"/>
            <a:ext cx="3858768" cy="1682496"/>
          </a:xfrm>
          <a:prstGeom prst="rect">
            <a:avLst/>
          </a:prstGeom>
          <a:noFill/>
        </p:spPr>
        <p:txBody>
          <a:bodyPr wrap="square" rtlCol="0" anchor="ctr"/>
          <a:lstStyle/>
          <a:p>
            <a:pPr marL="0" indent="0">
              <a:lnSpc>
                <a:spcPct val="130000"/>
              </a:lnSpc>
              <a:buNone/>
              <a:defRPr/>
            </a:pPr>
            <a:r>
              <a:rPr lang="en-US" sz="900">
                <a:solidFill>
                  <a:srgbClr val="D1D5DB"/>
                </a:solidFill>
              </a:rPr>
              <a:t>• +35,000 intentos de ransomware (ago 2024–jun 2025) — Top 5 LATAM</a:t>
            </a:r>
            <a:endParaRPr lang="en-US" sz="900"/>
          </a:p>
          <a:p>
            <a:pPr marL="0" indent="0">
              <a:lnSpc>
                <a:spcPct val="130000"/>
              </a:lnSpc>
              <a:buNone/>
              <a:defRPr/>
            </a:pPr>
            <a:r>
              <a:rPr lang="en-US" sz="900">
                <a:solidFill>
                  <a:srgbClr val="D1D5DB"/>
                </a:solidFill>
              </a:rPr>
              <a:t>• América Latina: 2 ataques por minute, +1.1M intentos totales región (Kaspersky 2025)</a:t>
            </a:r>
            <a:endParaRPr lang="en-US" sz="900"/>
          </a:p>
          <a:p>
            <a:pPr marL="0" indent="0">
              <a:lnSpc>
                <a:spcPct val="130000"/>
              </a:lnSpc>
              <a:buNone/>
              <a:defRPr/>
            </a:pPr>
            <a:r>
              <a:rPr lang="en-US" sz="900">
                <a:solidFill>
                  <a:srgbClr val="D1D5DB"/>
                </a:solidFill>
              </a:rPr>
              <a:t>• COLCERT 2025: alertas Medusa, Phobos, Ymir, Akira y Helldown en Colombia</a:t>
            </a:r>
            <a:endParaRPr lang="en-US" sz="900"/>
          </a:p>
          <a:p>
            <a:pPr marL="0" indent="0">
              <a:lnSpc>
                <a:spcPct val="130000"/>
              </a:lnSpc>
              <a:buNone/>
              <a:defRPr/>
            </a:pPr>
            <a:r>
              <a:rPr lang="en-US" sz="900">
                <a:solidFill>
                  <a:srgbClr val="D1D5DB"/>
                </a:solidFill>
              </a:rPr>
              <a:t>• Ataque IFX Networks (2023): datos de entidades del Estado secuestrados</a:t>
            </a:r>
            <a:endParaRPr lang="en-US" sz="900"/>
          </a:p>
          <a:p>
            <a:pPr marL="0" indent="0">
              <a:lnSpc>
                <a:spcPct val="130000"/>
              </a:lnSpc>
              <a:buNone/>
              <a:defRPr/>
            </a:pPr>
            <a:r>
              <a:rPr lang="en-US" sz="900">
                <a:solidFill>
                  <a:srgbClr val="D1D5DB"/>
                </a:solidFill>
              </a:rPr>
              <a:t>• Colpensiones (2025): 53 millones de intentos de intrusión reportados</a:t>
            </a:r>
            <a:endParaRPr lang="en-US" sz="900"/>
          </a:p>
          <a:p>
            <a:pPr marL="0" indent="0">
              <a:lnSpc>
                <a:spcPct val="130000"/>
              </a:lnSpc>
              <a:buNone/>
              <a:defRPr/>
            </a:pPr>
            <a:r>
              <a:rPr lang="en-US" sz="900">
                <a:solidFill>
                  <a:srgbClr val="D1D5DB"/>
                </a:solidFill>
              </a:rPr>
              <a:t>• Sectores más afectados: financiero, salud y servicios públicos (LockBit 3.0 / BlackCat)</a:t>
            </a:r>
            <a:endParaRPr lang="en-US" sz="900"/>
          </a:p>
          <a:p>
            <a:pPr marL="0" indent="0">
              <a:lnSpc>
                <a:spcPct val="130000"/>
              </a:lnSpc>
              <a:buNone/>
              <a:defRPr/>
            </a:pPr>
            <a:r>
              <a:rPr lang="en-US" sz="900">
                <a:solidFill>
                  <a:srgbClr val="D1D5DB"/>
                </a:solidFill>
              </a:rPr>
              <a:t>• MinTIC: Estrategia Nacional Seguridad Digital 2025–2027 + SOC Nacional</a:t>
            </a:r>
            <a:endParaRPr lang="en-US" sz="900"/>
          </a:p>
        </p:txBody>
      </p:sp>
      <p:sp>
        <p:nvSpPr>
          <p:cNvPr id="28" name="Shape 26"/>
          <p:cNvSpPr/>
          <p:nvPr/>
        </p:nvSpPr>
        <p:spPr bwMode="auto">
          <a:xfrm>
            <a:off x="4572000" y="2542032"/>
            <a:ext cx="4343400" cy="2212848"/>
          </a:xfrm>
          <a:prstGeom prst="rect">
            <a:avLst/>
          </a:prstGeom>
          <a:solidFill>
            <a:srgbClr val="1F2937"/>
          </a:solidFill>
          <a:ln w="12700">
            <a:solidFill>
              <a:srgbClr val="EF4444"/>
            </a:solidFill>
            <a:prstDash val="solid"/>
          </a:ln>
        </p:spPr>
      </p:sp>
      <p:sp>
        <p:nvSpPr>
          <p:cNvPr id="29" name="Text 27"/>
          <p:cNvSpPr/>
          <p:nvPr/>
        </p:nvSpPr>
        <p:spPr bwMode="auto">
          <a:xfrm>
            <a:off x="4709160" y="2615184"/>
            <a:ext cx="4114800" cy="292608"/>
          </a:xfrm>
          <a:prstGeom prst="rect">
            <a:avLst/>
          </a:prstGeom>
          <a:noFill/>
        </p:spPr>
        <p:txBody>
          <a:bodyPr wrap="square" rtlCol="0" anchor="ctr"/>
          <a:lstStyle/>
          <a:p>
            <a:pPr marL="0" indent="0">
              <a:buNone/>
              <a:defRPr/>
            </a:pPr>
            <a:r>
              <a:rPr lang="en-US" sz="1300" b="1">
                <a:solidFill>
                  <a:srgbClr val="EF4444"/>
                </a:solidFill>
              </a:rPr>
              <a:t>🌍  CASOS CLAVE 2024–2025</a:t>
            </a:r>
            <a:endParaRPr lang="en-US" sz="1300"/>
          </a:p>
        </p:txBody>
      </p:sp>
      <p:sp>
        <p:nvSpPr>
          <p:cNvPr id="30" name="Text 28"/>
          <p:cNvSpPr/>
          <p:nvPr/>
        </p:nvSpPr>
        <p:spPr bwMode="auto">
          <a:xfrm>
            <a:off x="4709160" y="2962656"/>
            <a:ext cx="4114800" cy="1682496"/>
          </a:xfrm>
          <a:prstGeom prst="rect">
            <a:avLst/>
          </a:prstGeom>
          <a:noFill/>
        </p:spPr>
        <p:txBody>
          <a:bodyPr wrap="square" rtlCol="0" anchor="ctr"/>
          <a:lstStyle/>
          <a:p>
            <a:pPr marL="0" indent="0">
              <a:lnSpc>
                <a:spcPct val="130000"/>
              </a:lnSpc>
              <a:buNone/>
              <a:defRPr/>
            </a:pPr>
            <a:r>
              <a:rPr lang="en-US" sz="900">
                <a:solidFill>
                  <a:srgbClr val="D1D5DB"/>
                </a:solidFill>
              </a:rPr>
              <a:t>• Change Healthcare (ALPHV, 2024): 193M afectados · $22M rescate · peor brecha EEUU</a:t>
            </a:r>
            <a:endParaRPr lang="en-US" sz="900"/>
          </a:p>
          <a:p>
            <a:pPr marL="0" indent="0">
              <a:lnSpc>
                <a:spcPct val="130000"/>
              </a:lnSpc>
              <a:buNone/>
              <a:defRPr/>
            </a:pPr>
            <a:r>
              <a:rPr lang="en-US" sz="900">
                <a:solidFill>
                  <a:srgbClr val="D1D5DB"/>
                </a:solidFill>
              </a:rPr>
              <a:t>• PowerSchool (2025): 62M estudiantes y 9.5M maestros expuestos en Norteamérica</a:t>
            </a:r>
            <a:endParaRPr lang="en-US" sz="900"/>
          </a:p>
          <a:p>
            <a:pPr marL="0" indent="0">
              <a:lnSpc>
                <a:spcPct val="130000"/>
              </a:lnSpc>
              <a:buNone/>
              <a:defRPr/>
            </a:pPr>
            <a:r>
              <a:rPr lang="en-US" sz="900">
                <a:solidFill>
                  <a:srgbClr val="D1D5DB"/>
                </a:solidFill>
              </a:rPr>
              <a:t>• Yale New Haven Health (2025): datos de 5.6M pacientes comprometidos</a:t>
            </a:r>
            <a:endParaRPr lang="en-US" sz="900"/>
          </a:p>
          <a:p>
            <a:pPr marL="0" indent="0">
              <a:lnSpc>
                <a:spcPct val="130000"/>
              </a:lnSpc>
              <a:buNone/>
              <a:defRPr/>
            </a:pPr>
            <a:r>
              <a:rPr lang="en-US" sz="900">
                <a:solidFill>
                  <a:srgbClr val="D1D5DB"/>
                </a:solidFill>
              </a:rPr>
              <a:t>• Ingram Micro (SafePay, 2025): 3.5 TB robados · plataformas Microsoft/Dell offline</a:t>
            </a:r>
            <a:endParaRPr lang="en-US" sz="900"/>
          </a:p>
          <a:p>
            <a:pPr marL="0" indent="0">
              <a:lnSpc>
                <a:spcPct val="130000"/>
              </a:lnSpc>
              <a:buNone/>
              <a:defRPr/>
            </a:pPr>
            <a:r>
              <a:rPr lang="en-US" sz="900">
                <a:solidFill>
                  <a:srgbClr val="D1D5DB"/>
                </a:solidFill>
              </a:rPr>
              <a:t>• Synnovis-NHS UK (Qilin, 2024): muerte de paciente vinculada al ataque ransomware</a:t>
            </a:r>
            <a:endParaRPr lang="en-US" sz="900"/>
          </a:p>
          <a:p>
            <a:pPr marL="0" indent="0">
              <a:lnSpc>
                <a:spcPct val="130000"/>
              </a:lnSpc>
              <a:buNone/>
              <a:defRPr/>
            </a:pPr>
            <a:r>
              <a:rPr lang="en-US" sz="900">
                <a:solidFill>
                  <a:srgbClr val="D1D5DB"/>
                </a:solidFill>
              </a:rPr>
              <a:t>• LockBit 5.0 lanzado (sep 2025) tras Op. Cronos — el grupo regresa operativo</a:t>
            </a:r>
            <a:endParaRPr lang="en-US" sz="9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10B981"/>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PREVENCIÓN Y CONTENCIÓN — Mejores Prácticas 2025</a:t>
            </a:r>
            <a:endParaRPr lang="en-US" sz="2200"/>
          </a:p>
        </p:txBody>
      </p:sp>
      <p:sp>
        <p:nvSpPr>
          <p:cNvPr id="5" name="Shape 3"/>
          <p:cNvSpPr/>
          <p:nvPr>
            <p:custDataLst>
              <p:tags r:id="rId1"/>
            </p:custDataLst>
          </p:nvPr>
        </p:nvSpPr>
        <p:spPr bwMode="auto">
          <a:xfrm>
            <a:off x="182880" y="1024128"/>
            <a:ext cx="4114800" cy="960120"/>
          </a:xfrm>
          <a:prstGeom prst="rect">
            <a:avLst/>
          </a:prstGeom>
          <a:solidFill>
            <a:srgbClr val="1F2937"/>
          </a:solidFill>
          <a:ln w="6350">
            <a:solidFill>
              <a:srgbClr val="10B981"/>
            </a:solidFill>
            <a:prstDash val="solid"/>
          </a:ln>
        </p:spPr>
      </p:sp>
      <p:sp>
        <p:nvSpPr>
          <p:cNvPr id="6" name="Text 4"/>
          <p:cNvSpPr/>
          <p:nvPr/>
        </p:nvSpPr>
        <p:spPr bwMode="auto">
          <a:xfrm>
            <a:off x="274320" y="1133856"/>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7" name="Text 5"/>
          <p:cNvSpPr/>
          <p:nvPr>
            <p:custDataLst>
              <p:tags r:id="rId2"/>
            </p:custDataLst>
          </p:nvPr>
        </p:nvSpPr>
        <p:spPr bwMode="auto">
          <a:xfrm>
            <a:off x="886968" y="1097280"/>
            <a:ext cx="3291840" cy="292608"/>
          </a:xfrm>
          <a:prstGeom prst="rect">
            <a:avLst/>
          </a:prstGeom>
          <a:noFill/>
        </p:spPr>
        <p:txBody>
          <a:bodyPr wrap="square" rtlCol="0" anchor="ctr"/>
          <a:lstStyle/>
          <a:p>
            <a:pPr marL="0" indent="0">
              <a:buNone/>
              <a:defRPr/>
            </a:pPr>
            <a:r>
              <a:rPr lang="en-US" sz="1200" b="1">
                <a:solidFill>
                  <a:srgbClr val="10B981"/>
                </a:solidFill>
              </a:rPr>
              <a:t>Regla 3-2-1-1-0</a:t>
            </a:r>
            <a:endParaRPr lang="en-US" sz="1200"/>
          </a:p>
        </p:txBody>
      </p:sp>
      <p:sp>
        <p:nvSpPr>
          <p:cNvPr id="8" name="Text 6"/>
          <p:cNvSpPr/>
          <p:nvPr>
            <p:custDataLst>
              <p:tags r:id="rId3"/>
            </p:custDataLst>
          </p:nvPr>
        </p:nvSpPr>
        <p:spPr bwMode="auto">
          <a:xfrm>
            <a:off x="886968" y="1389888"/>
            <a:ext cx="3291840" cy="530352"/>
          </a:xfrm>
          <a:prstGeom prst="rect">
            <a:avLst/>
          </a:prstGeom>
          <a:noFill/>
        </p:spPr>
        <p:txBody>
          <a:bodyPr wrap="square" rtlCol="0" anchor="ctr"/>
          <a:lstStyle/>
          <a:p>
            <a:pPr marL="0" indent="0">
              <a:buNone/>
              <a:defRPr/>
            </a:pPr>
            <a:r>
              <a:rPr lang="en-US" sz="950">
                <a:solidFill>
                  <a:srgbClr val="D1D5DB"/>
                </a:solidFill>
              </a:rPr>
              <a:t>3 copias, 2 medios, 1 offsite, 1 air-gapped, 0 errores verificados. Sophos: 97% recuperación con backups sanos.</a:t>
            </a:r>
            <a:endParaRPr lang="en-US" sz="950"/>
          </a:p>
        </p:txBody>
      </p:sp>
      <p:sp>
        <p:nvSpPr>
          <p:cNvPr id="9" name="Shape 7"/>
          <p:cNvSpPr/>
          <p:nvPr>
            <p:custDataLst>
              <p:tags r:id="rId4"/>
            </p:custDataLst>
          </p:nvPr>
        </p:nvSpPr>
        <p:spPr bwMode="auto">
          <a:xfrm>
            <a:off x="4434840" y="1024128"/>
            <a:ext cx="4114800" cy="960120"/>
          </a:xfrm>
          <a:prstGeom prst="rect">
            <a:avLst/>
          </a:prstGeom>
          <a:solidFill>
            <a:srgbClr val="1F2937"/>
          </a:solidFill>
          <a:ln w="6350">
            <a:solidFill>
              <a:srgbClr val="10B981"/>
            </a:solidFill>
            <a:prstDash val="solid"/>
          </a:ln>
        </p:spPr>
      </p:sp>
      <p:sp>
        <p:nvSpPr>
          <p:cNvPr id="10" name="Text 8"/>
          <p:cNvSpPr/>
          <p:nvPr/>
        </p:nvSpPr>
        <p:spPr bwMode="auto">
          <a:xfrm>
            <a:off x="4526280" y="1133856"/>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1" name="Text 9"/>
          <p:cNvSpPr/>
          <p:nvPr>
            <p:custDataLst>
              <p:tags r:id="rId5"/>
            </p:custDataLst>
          </p:nvPr>
        </p:nvSpPr>
        <p:spPr bwMode="auto">
          <a:xfrm>
            <a:off x="5138928" y="1097280"/>
            <a:ext cx="3291840" cy="292608"/>
          </a:xfrm>
          <a:prstGeom prst="rect">
            <a:avLst/>
          </a:prstGeom>
          <a:noFill/>
        </p:spPr>
        <p:txBody>
          <a:bodyPr wrap="square" rtlCol="0" anchor="ctr"/>
          <a:lstStyle/>
          <a:p>
            <a:pPr marL="0" indent="0">
              <a:buNone/>
              <a:defRPr/>
            </a:pPr>
            <a:r>
              <a:rPr lang="en-US" sz="1200" b="1">
                <a:solidFill>
                  <a:srgbClr val="10B981"/>
                </a:solidFill>
              </a:rPr>
              <a:t>MFA Resistente a Phishing</a:t>
            </a:r>
            <a:endParaRPr lang="en-US" sz="1200"/>
          </a:p>
        </p:txBody>
      </p:sp>
      <p:sp>
        <p:nvSpPr>
          <p:cNvPr id="12" name="Text 10"/>
          <p:cNvSpPr/>
          <p:nvPr>
            <p:custDataLst>
              <p:tags r:id="rId6"/>
            </p:custDataLst>
          </p:nvPr>
        </p:nvSpPr>
        <p:spPr bwMode="auto">
          <a:xfrm>
            <a:off x="5138928" y="1389888"/>
            <a:ext cx="3291840" cy="530352"/>
          </a:xfrm>
          <a:prstGeom prst="rect">
            <a:avLst/>
          </a:prstGeom>
          <a:noFill/>
        </p:spPr>
        <p:txBody>
          <a:bodyPr wrap="square" rtlCol="0" anchor="ctr"/>
          <a:lstStyle/>
          <a:p>
            <a:pPr marL="0" indent="0">
              <a:buNone/>
              <a:defRPr/>
            </a:pPr>
            <a:r>
              <a:rPr lang="en-US" sz="950">
                <a:solidFill>
                  <a:srgbClr val="D1D5DB"/>
                </a:solidFill>
              </a:rPr>
              <a:t>FIDO2/Passkeys en todos los accesos remotos y admin. El 23% de ataques 2025 comienzan con credenciales robadas.</a:t>
            </a:r>
            <a:endParaRPr lang="en-US" sz="950"/>
          </a:p>
        </p:txBody>
      </p:sp>
      <p:sp>
        <p:nvSpPr>
          <p:cNvPr id="13" name="Shape 11"/>
          <p:cNvSpPr/>
          <p:nvPr>
            <p:custDataLst>
              <p:tags r:id="rId7"/>
            </p:custDataLst>
          </p:nvPr>
        </p:nvSpPr>
        <p:spPr bwMode="auto">
          <a:xfrm>
            <a:off x="182880" y="2103120"/>
            <a:ext cx="4114800" cy="960120"/>
          </a:xfrm>
          <a:prstGeom prst="rect">
            <a:avLst/>
          </a:prstGeom>
          <a:solidFill>
            <a:srgbClr val="1F2937"/>
          </a:solidFill>
          <a:ln w="6350">
            <a:solidFill>
              <a:srgbClr val="10B981"/>
            </a:solidFill>
            <a:prstDash val="solid"/>
          </a:ln>
        </p:spPr>
      </p:sp>
      <p:sp>
        <p:nvSpPr>
          <p:cNvPr id="14" name="Text 12"/>
          <p:cNvSpPr/>
          <p:nvPr/>
        </p:nvSpPr>
        <p:spPr bwMode="auto">
          <a:xfrm>
            <a:off x="274320" y="2212848"/>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5" name="Text 13"/>
          <p:cNvSpPr/>
          <p:nvPr>
            <p:custDataLst>
              <p:tags r:id="rId8"/>
            </p:custDataLst>
          </p:nvPr>
        </p:nvSpPr>
        <p:spPr bwMode="auto">
          <a:xfrm>
            <a:off x="886968" y="2176272"/>
            <a:ext cx="3291840" cy="292608"/>
          </a:xfrm>
          <a:prstGeom prst="rect">
            <a:avLst/>
          </a:prstGeom>
          <a:noFill/>
        </p:spPr>
        <p:txBody>
          <a:bodyPr wrap="square" rtlCol="0" anchor="ctr"/>
          <a:lstStyle/>
          <a:p>
            <a:pPr marL="0" indent="0">
              <a:buNone/>
              <a:defRPr/>
            </a:pPr>
            <a:r>
              <a:rPr lang="en-US" sz="1200" b="1">
                <a:solidFill>
                  <a:srgbClr val="10B981"/>
                </a:solidFill>
              </a:rPr>
              <a:t>Gestión de Parches &lt;48h</a:t>
            </a:r>
            <a:endParaRPr lang="en-US" sz="1200"/>
          </a:p>
        </p:txBody>
      </p:sp>
      <p:sp>
        <p:nvSpPr>
          <p:cNvPr id="16" name="Text 14"/>
          <p:cNvSpPr/>
          <p:nvPr>
            <p:custDataLst>
              <p:tags r:id="rId9"/>
            </p:custDataLst>
          </p:nvPr>
        </p:nvSpPr>
        <p:spPr bwMode="auto">
          <a:xfrm>
            <a:off x="886968" y="2468880"/>
            <a:ext cx="3291840" cy="530352"/>
          </a:xfrm>
          <a:prstGeom prst="rect">
            <a:avLst/>
          </a:prstGeom>
          <a:noFill/>
        </p:spPr>
        <p:txBody>
          <a:bodyPr wrap="square" rtlCol="0" anchor="ctr"/>
          <a:lstStyle/>
          <a:p>
            <a:pPr marL="0" indent="0">
              <a:buNone/>
              <a:defRPr/>
            </a:pPr>
            <a:r>
              <a:rPr lang="en-US" sz="950">
                <a:solidFill>
                  <a:srgbClr val="D1D5DB"/>
                </a:solidFill>
              </a:rPr>
              <a:t>Vulnerabilidades = vector #1 (32% 2025). Priorizar VPNs, firewalls, MOVEit-like tools. CISA KEV catalog como referencia.</a:t>
            </a:r>
            <a:endParaRPr lang="en-US" sz="950"/>
          </a:p>
        </p:txBody>
      </p:sp>
      <p:sp>
        <p:nvSpPr>
          <p:cNvPr id="17" name="Shape 15"/>
          <p:cNvSpPr/>
          <p:nvPr>
            <p:custDataLst>
              <p:tags r:id="rId10"/>
            </p:custDataLst>
          </p:nvPr>
        </p:nvSpPr>
        <p:spPr bwMode="auto">
          <a:xfrm>
            <a:off x="4434840" y="2103120"/>
            <a:ext cx="4114800" cy="960120"/>
          </a:xfrm>
          <a:prstGeom prst="rect">
            <a:avLst/>
          </a:prstGeom>
          <a:solidFill>
            <a:srgbClr val="1F2937"/>
          </a:solidFill>
          <a:ln w="6350">
            <a:solidFill>
              <a:srgbClr val="10B981"/>
            </a:solidFill>
            <a:prstDash val="solid"/>
          </a:ln>
        </p:spPr>
      </p:sp>
      <p:sp>
        <p:nvSpPr>
          <p:cNvPr id="18" name="Text 16"/>
          <p:cNvSpPr/>
          <p:nvPr/>
        </p:nvSpPr>
        <p:spPr bwMode="auto">
          <a:xfrm>
            <a:off x="4526280" y="2212848"/>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9" name="Text 17"/>
          <p:cNvSpPr/>
          <p:nvPr>
            <p:custDataLst>
              <p:tags r:id="rId11"/>
            </p:custDataLst>
          </p:nvPr>
        </p:nvSpPr>
        <p:spPr bwMode="auto">
          <a:xfrm>
            <a:off x="5138928" y="2176272"/>
            <a:ext cx="3291840" cy="292608"/>
          </a:xfrm>
          <a:prstGeom prst="rect">
            <a:avLst/>
          </a:prstGeom>
          <a:noFill/>
        </p:spPr>
        <p:txBody>
          <a:bodyPr wrap="square" rtlCol="0" anchor="ctr"/>
          <a:lstStyle/>
          <a:p>
            <a:pPr marL="0" indent="0">
              <a:buNone/>
              <a:defRPr/>
            </a:pPr>
            <a:r>
              <a:rPr lang="en-US" sz="1200" b="1">
                <a:solidFill>
                  <a:srgbClr val="10B981"/>
                </a:solidFill>
              </a:rPr>
              <a:t>EDR/XDR + Threat Hunting</a:t>
            </a:r>
            <a:endParaRPr lang="en-US" sz="1200"/>
          </a:p>
        </p:txBody>
      </p:sp>
      <p:sp>
        <p:nvSpPr>
          <p:cNvPr id="20" name="Text 18"/>
          <p:cNvSpPr/>
          <p:nvPr>
            <p:custDataLst>
              <p:tags r:id="rId12"/>
            </p:custDataLst>
          </p:nvPr>
        </p:nvSpPr>
        <p:spPr bwMode="auto">
          <a:xfrm>
            <a:off x="5138928" y="2468880"/>
            <a:ext cx="3291840" cy="530352"/>
          </a:xfrm>
          <a:prstGeom prst="rect">
            <a:avLst/>
          </a:prstGeom>
          <a:noFill/>
        </p:spPr>
        <p:txBody>
          <a:bodyPr wrap="square" rtlCol="0" anchor="ctr"/>
          <a:lstStyle/>
          <a:p>
            <a:pPr marL="0" indent="0">
              <a:buNone/>
              <a:defRPr/>
            </a:pPr>
            <a:r>
              <a:rPr lang="en-US" sz="950">
                <a:solidFill>
                  <a:srgbClr val="D1D5DB"/>
                </a:solidFill>
              </a:rPr>
              <a:t>Detección comportamental: cifrado anómalo, LOLBins, shadow copy deletion. Tiempo medio intrusión→ejecución: 9 días.</a:t>
            </a:r>
            <a:endParaRPr lang="en-US" sz="950"/>
          </a:p>
        </p:txBody>
      </p:sp>
      <p:sp>
        <p:nvSpPr>
          <p:cNvPr id="21" name="Shape 19"/>
          <p:cNvSpPr/>
          <p:nvPr>
            <p:custDataLst>
              <p:tags r:id="rId13"/>
            </p:custDataLst>
          </p:nvPr>
        </p:nvSpPr>
        <p:spPr bwMode="auto">
          <a:xfrm>
            <a:off x="182880" y="3182112"/>
            <a:ext cx="4114800" cy="960120"/>
          </a:xfrm>
          <a:prstGeom prst="rect">
            <a:avLst/>
          </a:prstGeom>
          <a:solidFill>
            <a:srgbClr val="1F2937"/>
          </a:solidFill>
          <a:ln w="6350">
            <a:solidFill>
              <a:srgbClr val="10B981"/>
            </a:solidFill>
            <a:prstDash val="solid"/>
          </a:ln>
        </p:spPr>
      </p:sp>
      <p:sp>
        <p:nvSpPr>
          <p:cNvPr id="22" name="Text 20"/>
          <p:cNvSpPr/>
          <p:nvPr/>
        </p:nvSpPr>
        <p:spPr bwMode="auto">
          <a:xfrm>
            <a:off x="274320" y="3291840"/>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23" name="Text 21"/>
          <p:cNvSpPr/>
          <p:nvPr>
            <p:custDataLst>
              <p:tags r:id="rId14"/>
            </p:custDataLst>
          </p:nvPr>
        </p:nvSpPr>
        <p:spPr bwMode="auto">
          <a:xfrm>
            <a:off x="886968" y="3255264"/>
            <a:ext cx="3291840" cy="292608"/>
          </a:xfrm>
          <a:prstGeom prst="rect">
            <a:avLst/>
          </a:prstGeom>
          <a:noFill/>
        </p:spPr>
        <p:txBody>
          <a:bodyPr wrap="square" rtlCol="0" anchor="ctr"/>
          <a:lstStyle/>
          <a:p>
            <a:pPr marL="0" indent="0">
              <a:buNone/>
              <a:defRPr/>
            </a:pPr>
            <a:r>
              <a:rPr lang="en-US" sz="1200" b="1">
                <a:solidFill>
                  <a:srgbClr val="10B981"/>
                </a:solidFill>
              </a:rPr>
              <a:t>Zero Trust + Segmentación</a:t>
            </a:r>
            <a:endParaRPr lang="en-US" sz="1200"/>
          </a:p>
        </p:txBody>
      </p:sp>
      <p:sp>
        <p:nvSpPr>
          <p:cNvPr id="24" name="Text 22"/>
          <p:cNvSpPr/>
          <p:nvPr>
            <p:custDataLst>
              <p:tags r:id="rId15"/>
            </p:custDataLst>
          </p:nvPr>
        </p:nvSpPr>
        <p:spPr bwMode="auto">
          <a:xfrm>
            <a:off x="886968" y="3547872"/>
            <a:ext cx="3291840" cy="530352"/>
          </a:xfrm>
          <a:prstGeom prst="rect">
            <a:avLst/>
          </a:prstGeom>
          <a:noFill/>
        </p:spPr>
        <p:txBody>
          <a:bodyPr wrap="square" rtlCol="0" anchor="ctr"/>
          <a:lstStyle/>
          <a:p>
            <a:pPr marL="0" indent="0">
              <a:buNone/>
              <a:defRPr/>
            </a:pPr>
            <a:r>
              <a:rPr lang="en-US" sz="950">
                <a:solidFill>
                  <a:srgbClr val="D1D5DB"/>
                </a:solidFill>
              </a:rPr>
              <a:t>Microsegmentación para contener propagación lateral. Zero Trust: verificación continua, mínimo privilegio siempre.</a:t>
            </a:r>
            <a:endParaRPr lang="en-US" sz="950"/>
          </a:p>
        </p:txBody>
      </p:sp>
      <p:sp>
        <p:nvSpPr>
          <p:cNvPr id="25" name="Shape 23"/>
          <p:cNvSpPr/>
          <p:nvPr>
            <p:custDataLst>
              <p:tags r:id="rId16"/>
            </p:custDataLst>
          </p:nvPr>
        </p:nvSpPr>
        <p:spPr bwMode="auto">
          <a:xfrm>
            <a:off x="4434840" y="3182112"/>
            <a:ext cx="4114800" cy="960120"/>
          </a:xfrm>
          <a:prstGeom prst="rect">
            <a:avLst/>
          </a:prstGeom>
          <a:solidFill>
            <a:srgbClr val="1F2937"/>
          </a:solidFill>
          <a:ln w="6350">
            <a:solidFill>
              <a:srgbClr val="10B981"/>
            </a:solidFill>
            <a:prstDash val="solid"/>
          </a:ln>
        </p:spPr>
      </p:sp>
      <p:sp>
        <p:nvSpPr>
          <p:cNvPr id="26" name="Text 24"/>
          <p:cNvSpPr/>
          <p:nvPr/>
        </p:nvSpPr>
        <p:spPr bwMode="auto">
          <a:xfrm>
            <a:off x="4526280" y="3291840"/>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27" name="Text 25"/>
          <p:cNvSpPr/>
          <p:nvPr>
            <p:custDataLst>
              <p:tags r:id="rId17"/>
            </p:custDataLst>
          </p:nvPr>
        </p:nvSpPr>
        <p:spPr bwMode="auto">
          <a:xfrm>
            <a:off x="5138928" y="3255264"/>
            <a:ext cx="3291840" cy="292608"/>
          </a:xfrm>
          <a:prstGeom prst="rect">
            <a:avLst/>
          </a:prstGeom>
          <a:noFill/>
        </p:spPr>
        <p:txBody>
          <a:bodyPr wrap="square" rtlCol="0" anchor="ctr"/>
          <a:lstStyle/>
          <a:p>
            <a:pPr marL="0" indent="0">
              <a:buNone/>
              <a:defRPr/>
            </a:pPr>
            <a:r>
              <a:rPr lang="en-US" sz="1200" b="1">
                <a:solidFill>
                  <a:srgbClr val="10B981"/>
                </a:solidFill>
              </a:rPr>
              <a:t>Capacitación + Simulacros</a:t>
            </a:r>
            <a:endParaRPr lang="en-US" sz="1200"/>
          </a:p>
        </p:txBody>
      </p:sp>
      <p:sp>
        <p:nvSpPr>
          <p:cNvPr id="28" name="Text 26"/>
          <p:cNvSpPr/>
          <p:nvPr>
            <p:custDataLst>
              <p:tags r:id="rId18"/>
            </p:custDataLst>
          </p:nvPr>
        </p:nvSpPr>
        <p:spPr bwMode="auto">
          <a:xfrm>
            <a:off x="5138928" y="3547872"/>
            <a:ext cx="3291840" cy="530352"/>
          </a:xfrm>
          <a:prstGeom prst="rect">
            <a:avLst/>
          </a:prstGeom>
          <a:noFill/>
        </p:spPr>
        <p:txBody>
          <a:bodyPr wrap="square" rtlCol="0" anchor="ctr"/>
          <a:lstStyle/>
          <a:p>
            <a:pPr marL="0" indent="0">
              <a:buNone/>
              <a:defRPr/>
            </a:pPr>
            <a:r>
              <a:rPr lang="en-US" sz="950">
                <a:solidFill>
                  <a:srgbClr val="D1D5DB"/>
                </a:solidFill>
              </a:rPr>
              <a:t>Phishing con IA generativa +60% efectividad (Google TAG 2025). Simulacros mensuales obligatorios para todo el personal.</a:t>
            </a:r>
            <a:endParaRPr lang="en-US" sz="950"/>
          </a:p>
        </p:txBody>
      </p:sp>
      <p:sp>
        <p:nvSpPr>
          <p:cNvPr id="29" name="Shape 27"/>
          <p:cNvSpPr/>
          <p:nvPr/>
        </p:nvSpPr>
        <p:spPr bwMode="auto">
          <a:xfrm>
            <a:off x="182880" y="4279392"/>
            <a:ext cx="8778240" cy="457200"/>
          </a:xfrm>
          <a:prstGeom prst="rect">
            <a:avLst/>
          </a:prstGeom>
          <a:solidFill>
            <a:srgbClr val="001A00"/>
          </a:solidFill>
          <a:ln w="12700">
            <a:solidFill>
              <a:srgbClr val="10B981"/>
            </a:solidFill>
            <a:prstDash val="solid"/>
          </a:ln>
        </p:spPr>
      </p:sp>
      <p:sp>
        <p:nvSpPr>
          <p:cNvPr id="30" name="Text 28"/>
          <p:cNvSpPr/>
          <p:nvPr/>
        </p:nvSpPr>
        <p:spPr bwMode="auto">
          <a:xfrm>
            <a:off x="320040" y="4306824"/>
            <a:ext cx="8503920" cy="384048"/>
          </a:xfrm>
          <a:prstGeom prst="rect">
            <a:avLst/>
          </a:prstGeom>
          <a:noFill/>
        </p:spPr>
        <p:txBody>
          <a:bodyPr wrap="square" rtlCol="0" anchor="ctr"/>
          <a:lstStyle/>
          <a:p>
            <a:pPr marL="0" indent="0">
              <a:buNone/>
              <a:defRPr/>
            </a:pPr>
            <a:r>
              <a:rPr lang="en-US" sz="950" b="1">
                <a:solidFill>
                  <a:srgbClr val="10B981"/>
                </a:solidFill>
              </a:rPr>
              <a:t>⚡  PLAN DE RESPUESTA 2025: Detectar → Aislar (minutos) → Notificar COLCERT/CSIRT → Activar DRP → Restaurar backup limpio → Análisis forense → NO PAGAR</a:t>
            </a:r>
            <a:endParaRPr lang="en-US" sz="9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10B981"/>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PREVENCIÓN Y CONTENCIÓN — Mejores Prácticas 2025</a:t>
            </a:r>
            <a:endParaRPr lang="en-US" sz="2200"/>
          </a:p>
        </p:txBody>
      </p:sp>
      <p:sp>
        <p:nvSpPr>
          <p:cNvPr id="5" name="Shape 3"/>
          <p:cNvSpPr/>
          <p:nvPr/>
        </p:nvSpPr>
        <p:spPr bwMode="auto">
          <a:xfrm>
            <a:off x="182880" y="1024128"/>
            <a:ext cx="4114800" cy="960120"/>
          </a:xfrm>
          <a:prstGeom prst="rect">
            <a:avLst/>
          </a:prstGeom>
          <a:solidFill>
            <a:srgbClr val="1F2937"/>
          </a:solidFill>
          <a:ln w="6350">
            <a:solidFill>
              <a:srgbClr val="10B981"/>
            </a:solidFill>
            <a:prstDash val="solid"/>
          </a:ln>
        </p:spPr>
      </p:sp>
      <p:sp>
        <p:nvSpPr>
          <p:cNvPr id="6" name="Text 4"/>
          <p:cNvSpPr/>
          <p:nvPr/>
        </p:nvSpPr>
        <p:spPr bwMode="auto">
          <a:xfrm>
            <a:off x="274320" y="1133856"/>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7" name="Text 5"/>
          <p:cNvSpPr/>
          <p:nvPr/>
        </p:nvSpPr>
        <p:spPr bwMode="auto">
          <a:xfrm>
            <a:off x="886968" y="1097280"/>
            <a:ext cx="3291840" cy="292608"/>
          </a:xfrm>
          <a:prstGeom prst="rect">
            <a:avLst/>
          </a:prstGeom>
          <a:noFill/>
        </p:spPr>
        <p:txBody>
          <a:bodyPr wrap="square" rtlCol="0" anchor="ctr"/>
          <a:lstStyle/>
          <a:p>
            <a:pPr marL="0" indent="0">
              <a:buNone/>
              <a:defRPr/>
            </a:pPr>
            <a:r>
              <a:rPr lang="en-US" sz="1200" b="1">
                <a:solidFill>
                  <a:srgbClr val="10B981"/>
                </a:solidFill>
              </a:rPr>
              <a:t>Regla 3-2-1-1-0</a:t>
            </a:r>
            <a:endParaRPr lang="en-US" sz="1200"/>
          </a:p>
        </p:txBody>
      </p:sp>
      <p:sp>
        <p:nvSpPr>
          <p:cNvPr id="8" name="Text 6"/>
          <p:cNvSpPr/>
          <p:nvPr/>
        </p:nvSpPr>
        <p:spPr bwMode="auto">
          <a:xfrm>
            <a:off x="886968" y="1389888"/>
            <a:ext cx="3291840" cy="530352"/>
          </a:xfrm>
          <a:prstGeom prst="rect">
            <a:avLst/>
          </a:prstGeom>
          <a:noFill/>
        </p:spPr>
        <p:txBody>
          <a:bodyPr wrap="square" rtlCol="0" anchor="ctr"/>
          <a:lstStyle/>
          <a:p>
            <a:pPr marL="0" indent="0">
              <a:buNone/>
              <a:defRPr/>
            </a:pPr>
            <a:r>
              <a:rPr lang="en-US" sz="950">
                <a:solidFill>
                  <a:srgbClr val="D1D5DB"/>
                </a:solidFill>
              </a:rPr>
              <a:t>3 copias, 2 medios, 1 offsite, 1 air-gapped, 0 errores verificados. Sophos: 97% recuperación con backups sanos.</a:t>
            </a:r>
            <a:endParaRPr lang="en-US" sz="950"/>
          </a:p>
        </p:txBody>
      </p:sp>
      <p:sp>
        <p:nvSpPr>
          <p:cNvPr id="9" name="Shape 7"/>
          <p:cNvSpPr/>
          <p:nvPr/>
        </p:nvSpPr>
        <p:spPr bwMode="auto">
          <a:xfrm>
            <a:off x="4434840" y="1024128"/>
            <a:ext cx="4114800" cy="960120"/>
          </a:xfrm>
          <a:prstGeom prst="rect">
            <a:avLst/>
          </a:prstGeom>
          <a:solidFill>
            <a:srgbClr val="1F2937"/>
          </a:solidFill>
          <a:ln w="6350">
            <a:solidFill>
              <a:srgbClr val="10B981"/>
            </a:solidFill>
            <a:prstDash val="solid"/>
          </a:ln>
        </p:spPr>
      </p:sp>
      <p:sp>
        <p:nvSpPr>
          <p:cNvPr id="10" name="Text 8"/>
          <p:cNvSpPr/>
          <p:nvPr/>
        </p:nvSpPr>
        <p:spPr bwMode="auto">
          <a:xfrm>
            <a:off x="4526280" y="1133856"/>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1" name="Text 9"/>
          <p:cNvSpPr/>
          <p:nvPr/>
        </p:nvSpPr>
        <p:spPr bwMode="auto">
          <a:xfrm>
            <a:off x="5138928" y="1097280"/>
            <a:ext cx="3291840" cy="292608"/>
          </a:xfrm>
          <a:prstGeom prst="rect">
            <a:avLst/>
          </a:prstGeom>
          <a:noFill/>
        </p:spPr>
        <p:txBody>
          <a:bodyPr wrap="square" rtlCol="0" anchor="ctr"/>
          <a:lstStyle/>
          <a:p>
            <a:pPr marL="0" indent="0">
              <a:buNone/>
              <a:defRPr/>
            </a:pPr>
            <a:r>
              <a:rPr lang="en-US" sz="1200" b="1">
                <a:solidFill>
                  <a:srgbClr val="10B981"/>
                </a:solidFill>
              </a:rPr>
              <a:t>MFA Resistente a Phishing</a:t>
            </a:r>
            <a:endParaRPr lang="en-US" sz="1200"/>
          </a:p>
        </p:txBody>
      </p:sp>
      <p:sp>
        <p:nvSpPr>
          <p:cNvPr id="12" name="Text 10"/>
          <p:cNvSpPr/>
          <p:nvPr/>
        </p:nvSpPr>
        <p:spPr bwMode="auto">
          <a:xfrm>
            <a:off x="5138928" y="1389888"/>
            <a:ext cx="3291840" cy="530352"/>
          </a:xfrm>
          <a:prstGeom prst="rect">
            <a:avLst/>
          </a:prstGeom>
          <a:noFill/>
        </p:spPr>
        <p:txBody>
          <a:bodyPr wrap="square" rtlCol="0" anchor="ctr"/>
          <a:lstStyle/>
          <a:p>
            <a:pPr marL="0" indent="0">
              <a:buNone/>
              <a:defRPr/>
            </a:pPr>
            <a:r>
              <a:rPr lang="en-US" sz="950">
                <a:solidFill>
                  <a:srgbClr val="D1D5DB"/>
                </a:solidFill>
              </a:rPr>
              <a:t>FIDO2/Passkeys en todos los accesos remotos y admin. El 23% de ataques 2025 comienzan con credenciales robadas.</a:t>
            </a:r>
            <a:endParaRPr lang="en-US" sz="950"/>
          </a:p>
        </p:txBody>
      </p:sp>
      <p:sp>
        <p:nvSpPr>
          <p:cNvPr id="13" name="Shape 11"/>
          <p:cNvSpPr/>
          <p:nvPr/>
        </p:nvSpPr>
        <p:spPr bwMode="auto">
          <a:xfrm>
            <a:off x="182880" y="2103120"/>
            <a:ext cx="4114800" cy="960120"/>
          </a:xfrm>
          <a:prstGeom prst="rect">
            <a:avLst/>
          </a:prstGeom>
          <a:solidFill>
            <a:srgbClr val="1F2937"/>
          </a:solidFill>
          <a:ln w="6350">
            <a:solidFill>
              <a:srgbClr val="10B981"/>
            </a:solidFill>
            <a:prstDash val="solid"/>
          </a:ln>
        </p:spPr>
      </p:sp>
      <p:sp>
        <p:nvSpPr>
          <p:cNvPr id="14" name="Text 12"/>
          <p:cNvSpPr/>
          <p:nvPr/>
        </p:nvSpPr>
        <p:spPr bwMode="auto">
          <a:xfrm>
            <a:off x="274320" y="2212848"/>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5" name="Text 13"/>
          <p:cNvSpPr/>
          <p:nvPr/>
        </p:nvSpPr>
        <p:spPr bwMode="auto">
          <a:xfrm>
            <a:off x="886968" y="2176272"/>
            <a:ext cx="3291840" cy="292608"/>
          </a:xfrm>
          <a:prstGeom prst="rect">
            <a:avLst/>
          </a:prstGeom>
          <a:noFill/>
        </p:spPr>
        <p:txBody>
          <a:bodyPr wrap="square" rtlCol="0" anchor="ctr"/>
          <a:lstStyle/>
          <a:p>
            <a:pPr marL="0" indent="0">
              <a:buNone/>
              <a:defRPr/>
            </a:pPr>
            <a:r>
              <a:rPr lang="en-US" sz="1200" b="1">
                <a:solidFill>
                  <a:srgbClr val="10B981"/>
                </a:solidFill>
              </a:rPr>
              <a:t>Gestión de Parches &lt;48h</a:t>
            </a:r>
            <a:endParaRPr lang="en-US" sz="1200"/>
          </a:p>
        </p:txBody>
      </p:sp>
      <p:sp>
        <p:nvSpPr>
          <p:cNvPr id="16" name="Text 14"/>
          <p:cNvSpPr/>
          <p:nvPr/>
        </p:nvSpPr>
        <p:spPr bwMode="auto">
          <a:xfrm>
            <a:off x="886968" y="2468880"/>
            <a:ext cx="3291840" cy="530352"/>
          </a:xfrm>
          <a:prstGeom prst="rect">
            <a:avLst/>
          </a:prstGeom>
          <a:noFill/>
        </p:spPr>
        <p:txBody>
          <a:bodyPr wrap="square" rtlCol="0" anchor="ctr"/>
          <a:lstStyle/>
          <a:p>
            <a:pPr marL="0" indent="0">
              <a:buNone/>
              <a:defRPr/>
            </a:pPr>
            <a:r>
              <a:rPr lang="en-US" sz="950">
                <a:solidFill>
                  <a:srgbClr val="D1D5DB"/>
                </a:solidFill>
              </a:rPr>
              <a:t>Vulnerabilidades = vector #1 (32% 2025). Priorizar VPNs, firewalls, MOVEit-like tools. CISA KEV catalog como referencia.</a:t>
            </a:r>
            <a:endParaRPr lang="en-US" sz="950"/>
          </a:p>
        </p:txBody>
      </p:sp>
      <p:sp>
        <p:nvSpPr>
          <p:cNvPr id="17" name="Shape 15"/>
          <p:cNvSpPr/>
          <p:nvPr/>
        </p:nvSpPr>
        <p:spPr bwMode="auto">
          <a:xfrm>
            <a:off x="4434840" y="2103120"/>
            <a:ext cx="4114800" cy="960120"/>
          </a:xfrm>
          <a:prstGeom prst="rect">
            <a:avLst/>
          </a:prstGeom>
          <a:solidFill>
            <a:srgbClr val="1F2937"/>
          </a:solidFill>
          <a:ln w="6350">
            <a:solidFill>
              <a:srgbClr val="10B981"/>
            </a:solidFill>
            <a:prstDash val="solid"/>
          </a:ln>
        </p:spPr>
      </p:sp>
      <p:sp>
        <p:nvSpPr>
          <p:cNvPr id="18" name="Text 16"/>
          <p:cNvSpPr/>
          <p:nvPr/>
        </p:nvSpPr>
        <p:spPr bwMode="auto">
          <a:xfrm>
            <a:off x="4526280" y="2212848"/>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19" name="Text 17"/>
          <p:cNvSpPr/>
          <p:nvPr/>
        </p:nvSpPr>
        <p:spPr bwMode="auto">
          <a:xfrm>
            <a:off x="5138928" y="2176272"/>
            <a:ext cx="3291840" cy="292608"/>
          </a:xfrm>
          <a:prstGeom prst="rect">
            <a:avLst/>
          </a:prstGeom>
          <a:noFill/>
        </p:spPr>
        <p:txBody>
          <a:bodyPr wrap="square" rtlCol="0" anchor="ctr"/>
          <a:lstStyle/>
          <a:p>
            <a:pPr marL="0" indent="0">
              <a:buNone/>
              <a:defRPr/>
            </a:pPr>
            <a:r>
              <a:rPr lang="en-US" sz="1200" b="1">
                <a:solidFill>
                  <a:srgbClr val="10B981"/>
                </a:solidFill>
              </a:rPr>
              <a:t>EDR/XDR + Threat Hunting</a:t>
            </a:r>
            <a:endParaRPr lang="en-US" sz="1200"/>
          </a:p>
        </p:txBody>
      </p:sp>
      <p:sp>
        <p:nvSpPr>
          <p:cNvPr id="20" name="Text 18"/>
          <p:cNvSpPr/>
          <p:nvPr/>
        </p:nvSpPr>
        <p:spPr bwMode="auto">
          <a:xfrm>
            <a:off x="5138928" y="2468880"/>
            <a:ext cx="3291840" cy="530352"/>
          </a:xfrm>
          <a:prstGeom prst="rect">
            <a:avLst/>
          </a:prstGeom>
          <a:noFill/>
        </p:spPr>
        <p:txBody>
          <a:bodyPr wrap="square" rtlCol="0" anchor="ctr"/>
          <a:lstStyle/>
          <a:p>
            <a:pPr marL="0" indent="0">
              <a:buNone/>
              <a:defRPr/>
            </a:pPr>
            <a:r>
              <a:rPr lang="en-US" sz="950">
                <a:solidFill>
                  <a:srgbClr val="D1D5DB"/>
                </a:solidFill>
              </a:rPr>
              <a:t>Detección comportamental: cifrado anómalo, LOLBins, shadow copy deletion. Tiempo medio intrusión→ejecución: 9 días.</a:t>
            </a:r>
            <a:endParaRPr lang="en-US" sz="950"/>
          </a:p>
        </p:txBody>
      </p:sp>
      <p:sp>
        <p:nvSpPr>
          <p:cNvPr id="21" name="Shape 19"/>
          <p:cNvSpPr/>
          <p:nvPr/>
        </p:nvSpPr>
        <p:spPr bwMode="auto">
          <a:xfrm>
            <a:off x="182880" y="3182112"/>
            <a:ext cx="4114800" cy="960120"/>
          </a:xfrm>
          <a:prstGeom prst="rect">
            <a:avLst/>
          </a:prstGeom>
          <a:solidFill>
            <a:srgbClr val="1F2937"/>
          </a:solidFill>
          <a:ln w="6350">
            <a:solidFill>
              <a:srgbClr val="10B981"/>
            </a:solidFill>
            <a:prstDash val="solid"/>
          </a:ln>
        </p:spPr>
      </p:sp>
      <p:sp>
        <p:nvSpPr>
          <p:cNvPr id="22" name="Text 20"/>
          <p:cNvSpPr/>
          <p:nvPr/>
        </p:nvSpPr>
        <p:spPr bwMode="auto">
          <a:xfrm>
            <a:off x="274320" y="3291840"/>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23" name="Text 21"/>
          <p:cNvSpPr/>
          <p:nvPr/>
        </p:nvSpPr>
        <p:spPr bwMode="auto">
          <a:xfrm>
            <a:off x="886968" y="3255264"/>
            <a:ext cx="3291840" cy="292608"/>
          </a:xfrm>
          <a:prstGeom prst="rect">
            <a:avLst/>
          </a:prstGeom>
          <a:noFill/>
        </p:spPr>
        <p:txBody>
          <a:bodyPr wrap="square" rtlCol="0" anchor="ctr"/>
          <a:lstStyle/>
          <a:p>
            <a:pPr marL="0" indent="0">
              <a:buNone/>
              <a:defRPr/>
            </a:pPr>
            <a:r>
              <a:rPr lang="en-US" sz="1200" b="1">
                <a:solidFill>
                  <a:srgbClr val="10B981"/>
                </a:solidFill>
              </a:rPr>
              <a:t>Zero Trust + Segmentación</a:t>
            </a:r>
            <a:endParaRPr lang="en-US" sz="1200"/>
          </a:p>
        </p:txBody>
      </p:sp>
      <p:sp>
        <p:nvSpPr>
          <p:cNvPr id="24" name="Text 22"/>
          <p:cNvSpPr/>
          <p:nvPr/>
        </p:nvSpPr>
        <p:spPr bwMode="auto">
          <a:xfrm>
            <a:off x="886968" y="3547872"/>
            <a:ext cx="3291840" cy="530352"/>
          </a:xfrm>
          <a:prstGeom prst="rect">
            <a:avLst/>
          </a:prstGeom>
          <a:noFill/>
        </p:spPr>
        <p:txBody>
          <a:bodyPr wrap="square" rtlCol="0" anchor="ctr"/>
          <a:lstStyle/>
          <a:p>
            <a:pPr marL="0" indent="0">
              <a:buNone/>
              <a:defRPr/>
            </a:pPr>
            <a:r>
              <a:rPr lang="en-US" sz="950">
                <a:solidFill>
                  <a:srgbClr val="D1D5DB"/>
                </a:solidFill>
              </a:rPr>
              <a:t>Microsegmentación para contener propagación lateral. Zero Trust: verificación continua, mínimo privilegio siempre.</a:t>
            </a:r>
            <a:endParaRPr lang="en-US" sz="950"/>
          </a:p>
        </p:txBody>
      </p:sp>
      <p:sp>
        <p:nvSpPr>
          <p:cNvPr id="25" name="Shape 23"/>
          <p:cNvSpPr/>
          <p:nvPr/>
        </p:nvSpPr>
        <p:spPr bwMode="auto">
          <a:xfrm>
            <a:off x="4434840" y="3182112"/>
            <a:ext cx="4114800" cy="960120"/>
          </a:xfrm>
          <a:prstGeom prst="rect">
            <a:avLst/>
          </a:prstGeom>
          <a:solidFill>
            <a:srgbClr val="1F2937"/>
          </a:solidFill>
          <a:ln w="6350">
            <a:solidFill>
              <a:srgbClr val="10B981"/>
            </a:solidFill>
            <a:prstDash val="solid"/>
          </a:ln>
        </p:spPr>
      </p:sp>
      <p:sp>
        <p:nvSpPr>
          <p:cNvPr id="26" name="Text 24"/>
          <p:cNvSpPr/>
          <p:nvPr/>
        </p:nvSpPr>
        <p:spPr bwMode="auto">
          <a:xfrm>
            <a:off x="4526280" y="3291840"/>
            <a:ext cx="548640" cy="502920"/>
          </a:xfrm>
          <a:prstGeom prst="rect">
            <a:avLst/>
          </a:prstGeom>
          <a:noFill/>
        </p:spPr>
        <p:txBody>
          <a:bodyPr wrap="square" rtlCol="0" anchor="ctr"/>
          <a:lstStyle/>
          <a:p>
            <a:pPr marL="0" indent="0" algn="ctr">
              <a:buNone/>
              <a:defRPr/>
            </a:pPr>
            <a:r>
              <a:rPr lang="en-US" sz="2400">
                <a:solidFill>
                  <a:srgbClr val="000000"/>
                </a:solidFill>
              </a:rPr>
              <a:t>📚</a:t>
            </a:r>
            <a:endParaRPr lang="en-US" sz="2400"/>
          </a:p>
        </p:txBody>
      </p:sp>
      <p:sp>
        <p:nvSpPr>
          <p:cNvPr id="27" name="Text 25"/>
          <p:cNvSpPr/>
          <p:nvPr/>
        </p:nvSpPr>
        <p:spPr bwMode="auto">
          <a:xfrm>
            <a:off x="5138928" y="3255264"/>
            <a:ext cx="3291840" cy="292608"/>
          </a:xfrm>
          <a:prstGeom prst="rect">
            <a:avLst/>
          </a:prstGeom>
          <a:noFill/>
        </p:spPr>
        <p:txBody>
          <a:bodyPr wrap="square" rtlCol="0" anchor="ctr"/>
          <a:lstStyle/>
          <a:p>
            <a:pPr marL="0" indent="0">
              <a:buNone/>
              <a:defRPr/>
            </a:pPr>
            <a:r>
              <a:rPr lang="en-US" sz="1200" b="1">
                <a:solidFill>
                  <a:srgbClr val="10B981"/>
                </a:solidFill>
              </a:rPr>
              <a:t>Capacitación + Simulacros</a:t>
            </a:r>
            <a:endParaRPr lang="en-US" sz="1200"/>
          </a:p>
        </p:txBody>
      </p:sp>
      <p:sp>
        <p:nvSpPr>
          <p:cNvPr id="28" name="Text 26"/>
          <p:cNvSpPr/>
          <p:nvPr/>
        </p:nvSpPr>
        <p:spPr bwMode="auto">
          <a:xfrm>
            <a:off x="5138928" y="3547872"/>
            <a:ext cx="3291840" cy="530352"/>
          </a:xfrm>
          <a:prstGeom prst="rect">
            <a:avLst/>
          </a:prstGeom>
          <a:noFill/>
        </p:spPr>
        <p:txBody>
          <a:bodyPr wrap="square" rtlCol="0" anchor="ctr"/>
          <a:lstStyle/>
          <a:p>
            <a:pPr marL="0" indent="0">
              <a:buNone/>
              <a:defRPr/>
            </a:pPr>
            <a:r>
              <a:rPr lang="en-US" sz="950">
                <a:solidFill>
                  <a:srgbClr val="D1D5DB"/>
                </a:solidFill>
              </a:rPr>
              <a:t>Phishing con IA generativa +60% efectividad (Google TAG 2025). Simulacros mensuales obligatorios para todo el personal.</a:t>
            </a:r>
            <a:endParaRPr lang="en-US" sz="950"/>
          </a:p>
        </p:txBody>
      </p:sp>
      <p:sp>
        <p:nvSpPr>
          <p:cNvPr id="29" name="Shape 27"/>
          <p:cNvSpPr/>
          <p:nvPr/>
        </p:nvSpPr>
        <p:spPr bwMode="auto">
          <a:xfrm>
            <a:off x="182880" y="4279392"/>
            <a:ext cx="8778240" cy="457200"/>
          </a:xfrm>
          <a:prstGeom prst="rect">
            <a:avLst/>
          </a:prstGeom>
          <a:solidFill>
            <a:srgbClr val="001A00"/>
          </a:solidFill>
          <a:ln w="12700">
            <a:solidFill>
              <a:srgbClr val="10B981"/>
            </a:solidFill>
            <a:prstDash val="solid"/>
          </a:ln>
        </p:spPr>
      </p:sp>
      <p:sp>
        <p:nvSpPr>
          <p:cNvPr id="30" name="Text 28"/>
          <p:cNvSpPr/>
          <p:nvPr/>
        </p:nvSpPr>
        <p:spPr bwMode="auto">
          <a:xfrm>
            <a:off x="320040" y="4306824"/>
            <a:ext cx="8503920" cy="384048"/>
          </a:xfrm>
          <a:prstGeom prst="rect">
            <a:avLst/>
          </a:prstGeom>
          <a:noFill/>
        </p:spPr>
        <p:txBody>
          <a:bodyPr wrap="square" rtlCol="0" anchor="ctr"/>
          <a:lstStyle/>
          <a:p>
            <a:pPr marL="0" indent="0">
              <a:buNone/>
              <a:defRPr/>
            </a:pPr>
            <a:r>
              <a:rPr lang="en-US" sz="950" b="1">
                <a:solidFill>
                  <a:srgbClr val="10B981"/>
                </a:solidFill>
              </a:rPr>
              <a:t>⚡  PLAN DE RESPUESTA 2025: Detectar → Aislar (minutos) → Notificar COLCERT/CSIRT → Activar DRP → Restaurar backup limpio → Análisis forense → NO PAGAR</a:t>
            </a:r>
            <a:endParaRPr lang="en-US" sz="9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GRUPOS MÁS ACTIVOS — Ranking 2025 (Actualizado)</a:t>
            </a:r>
            <a:endParaRPr lang="en-US" sz="2200"/>
          </a:p>
        </p:txBody>
      </p:sp>
      <p:sp>
        <p:nvSpPr>
          <p:cNvPr id="5" name="Shape 3"/>
          <p:cNvSpPr/>
          <p:nvPr/>
        </p:nvSpPr>
        <p:spPr bwMode="auto">
          <a:xfrm>
            <a:off x="137160" y="1024128"/>
            <a:ext cx="2852928" cy="1719072"/>
          </a:xfrm>
          <a:prstGeom prst="rect">
            <a:avLst/>
          </a:prstGeom>
          <a:solidFill>
            <a:srgbClr val="1F2937"/>
          </a:solidFill>
          <a:ln w="12700">
            <a:solidFill>
              <a:srgbClr val="EF4444"/>
            </a:solidFill>
            <a:prstDash val="solid"/>
          </a:ln>
        </p:spPr>
      </p:sp>
      <p:sp>
        <p:nvSpPr>
          <p:cNvPr id="6" name="Shape 4"/>
          <p:cNvSpPr/>
          <p:nvPr/>
        </p:nvSpPr>
        <p:spPr bwMode="auto">
          <a:xfrm>
            <a:off x="137160" y="1024128"/>
            <a:ext cx="2852928" cy="54864"/>
          </a:xfrm>
          <a:prstGeom prst="rect">
            <a:avLst/>
          </a:prstGeom>
          <a:solidFill>
            <a:srgbClr val="EF4444"/>
          </a:solidFill>
        </p:spPr>
      </p:sp>
      <p:sp>
        <p:nvSpPr>
          <p:cNvPr id="7" name="Shape 5"/>
          <p:cNvSpPr/>
          <p:nvPr/>
        </p:nvSpPr>
        <p:spPr bwMode="auto">
          <a:xfrm>
            <a:off x="228600" y="1115568"/>
            <a:ext cx="457200" cy="292608"/>
          </a:xfrm>
          <a:prstGeom prst="rect">
            <a:avLst/>
          </a:prstGeom>
          <a:solidFill>
            <a:srgbClr val="EF4444">
              <a:alpha val="70000"/>
            </a:srgbClr>
          </a:solidFill>
        </p:spPr>
      </p:sp>
      <p:sp>
        <p:nvSpPr>
          <p:cNvPr id="8" name="Text 6"/>
          <p:cNvSpPr/>
          <p:nvPr/>
        </p:nvSpPr>
        <p:spPr bwMode="auto">
          <a:xfrm>
            <a:off x="228600" y="1115568"/>
            <a:ext cx="457200" cy="274320"/>
          </a:xfrm>
          <a:prstGeom prst="rect">
            <a:avLst/>
          </a:prstGeom>
          <a:noFill/>
        </p:spPr>
        <p:txBody>
          <a:bodyPr wrap="square" rtlCol="0" anchor="ctr"/>
          <a:lstStyle/>
          <a:p>
            <a:pPr marL="0" indent="0" algn="ctr">
              <a:buNone/>
              <a:defRPr/>
            </a:pPr>
            <a:r>
              <a:rPr lang="en-US" sz="1100" b="1">
                <a:solidFill>
                  <a:srgbClr val="0D1117"/>
                </a:solidFill>
              </a:rPr>
              <a:t>#1</a:t>
            </a:r>
            <a:endParaRPr lang="en-US" sz="1100"/>
          </a:p>
        </p:txBody>
      </p:sp>
      <p:sp>
        <p:nvSpPr>
          <p:cNvPr id="9" name="Text 7"/>
          <p:cNvSpPr/>
          <p:nvPr/>
        </p:nvSpPr>
        <p:spPr bwMode="auto">
          <a:xfrm>
            <a:off x="758952" y="1115568"/>
            <a:ext cx="1645920" cy="292608"/>
          </a:xfrm>
          <a:prstGeom prst="rect">
            <a:avLst/>
          </a:prstGeom>
          <a:noFill/>
        </p:spPr>
        <p:txBody>
          <a:bodyPr wrap="square" rtlCol="0" anchor="ctr"/>
          <a:lstStyle/>
          <a:p>
            <a:pPr marL="0" indent="0">
              <a:buNone/>
              <a:defRPr/>
            </a:pPr>
            <a:r>
              <a:rPr lang="en-US" sz="1500" b="1">
                <a:solidFill>
                  <a:srgbClr val="EF4444"/>
                </a:solidFill>
              </a:rPr>
              <a:t>Qilin</a:t>
            </a:r>
            <a:endParaRPr lang="en-US" sz="1500"/>
          </a:p>
        </p:txBody>
      </p:sp>
      <p:sp>
        <p:nvSpPr>
          <p:cNvPr id="10" name="Text 8"/>
          <p:cNvSpPr/>
          <p:nvPr/>
        </p:nvSpPr>
        <p:spPr bwMode="auto">
          <a:xfrm>
            <a:off x="2240280" y="1133856"/>
            <a:ext cx="685800" cy="256032"/>
          </a:xfrm>
          <a:prstGeom prst="rect">
            <a:avLst/>
          </a:prstGeom>
          <a:noFill/>
        </p:spPr>
        <p:txBody>
          <a:bodyPr wrap="square" rtlCol="0" anchor="ctr"/>
          <a:lstStyle/>
          <a:p>
            <a:pPr marL="0" indent="0" algn="r">
              <a:buNone/>
              <a:defRPr/>
            </a:pPr>
            <a:r>
              <a:rPr lang="en-US" sz="850">
                <a:solidFill>
                  <a:srgbClr val="6B7280"/>
                </a:solidFill>
              </a:rPr>
              <a:t>2022–hoy</a:t>
            </a:r>
            <a:endParaRPr lang="en-US" sz="850"/>
          </a:p>
        </p:txBody>
      </p:sp>
      <p:sp>
        <p:nvSpPr>
          <p:cNvPr id="11" name="Shape 9"/>
          <p:cNvSpPr/>
          <p:nvPr/>
        </p:nvSpPr>
        <p:spPr bwMode="auto">
          <a:xfrm>
            <a:off x="228600" y="1453896"/>
            <a:ext cx="1828800" cy="219456"/>
          </a:xfrm>
          <a:prstGeom prst="rect">
            <a:avLst/>
          </a:prstGeom>
          <a:solidFill>
            <a:srgbClr val="EF4444">
              <a:alpha val="30000"/>
            </a:srgbClr>
          </a:solidFill>
        </p:spPr>
      </p:sp>
      <p:sp>
        <p:nvSpPr>
          <p:cNvPr id="12" name="Text 10"/>
          <p:cNvSpPr/>
          <p:nvPr/>
        </p:nvSpPr>
        <p:spPr bwMode="auto">
          <a:xfrm>
            <a:off x="246888" y="1463040"/>
            <a:ext cx="1792224" cy="182880"/>
          </a:xfrm>
          <a:prstGeom prst="rect">
            <a:avLst/>
          </a:prstGeom>
          <a:noFill/>
        </p:spPr>
        <p:txBody>
          <a:bodyPr wrap="square" rtlCol="0" anchor="ctr"/>
          <a:lstStyle/>
          <a:p>
            <a:pPr marL="0" indent="0">
              <a:buNone/>
              <a:defRPr/>
            </a:pPr>
            <a:r>
              <a:rPr lang="en-US" sz="800" b="1">
                <a:solidFill>
                  <a:srgbClr val="EF4444"/>
                </a:solidFill>
              </a:rPr>
              <a:t>1,001 víctimas 2025</a:t>
            </a:r>
            <a:endParaRPr lang="en-US" sz="800"/>
          </a:p>
        </p:txBody>
      </p:sp>
      <p:sp>
        <p:nvSpPr>
          <p:cNvPr id="13" name="Text 11"/>
          <p:cNvSpPr/>
          <p:nvPr/>
        </p:nvSpPr>
        <p:spPr bwMode="auto">
          <a:xfrm>
            <a:off x="228600" y="1737360"/>
            <a:ext cx="2670048" cy="941832"/>
          </a:xfrm>
          <a:prstGeom prst="rect">
            <a:avLst/>
          </a:prstGeom>
          <a:noFill/>
        </p:spPr>
        <p:txBody>
          <a:bodyPr wrap="square" rtlCol="0" anchor="ctr"/>
          <a:lstStyle/>
          <a:p>
            <a:pPr marL="0" indent="0">
              <a:buNone/>
              <a:defRPr/>
            </a:pPr>
            <a:r>
              <a:rPr lang="en-US" sz="900">
                <a:solidFill>
                  <a:srgbClr val="D1D5DB"/>
                </a:solidFill>
              </a:rPr>
              <a:t>El grupo más prolífico de 2025. Absorbió afiliados de RansomHub (cerró abr 2025). Ataque a NHS UK vinculado a muerte. Doble extorsión con presión legal.</a:t>
            </a:r>
            <a:endParaRPr lang="en-US" sz="900"/>
          </a:p>
        </p:txBody>
      </p:sp>
      <p:sp>
        <p:nvSpPr>
          <p:cNvPr id="14" name="Shape 12"/>
          <p:cNvSpPr/>
          <p:nvPr/>
        </p:nvSpPr>
        <p:spPr bwMode="auto">
          <a:xfrm>
            <a:off x="3127248" y="1024128"/>
            <a:ext cx="2852928" cy="1719072"/>
          </a:xfrm>
          <a:prstGeom prst="rect">
            <a:avLst/>
          </a:prstGeom>
          <a:solidFill>
            <a:srgbClr val="1F2937"/>
          </a:solidFill>
          <a:ln w="12700">
            <a:solidFill>
              <a:srgbClr val="F97316"/>
            </a:solidFill>
            <a:prstDash val="solid"/>
          </a:ln>
        </p:spPr>
      </p:sp>
      <p:sp>
        <p:nvSpPr>
          <p:cNvPr id="15" name="Shape 13"/>
          <p:cNvSpPr/>
          <p:nvPr/>
        </p:nvSpPr>
        <p:spPr bwMode="auto">
          <a:xfrm>
            <a:off x="3127248" y="1024128"/>
            <a:ext cx="2852928" cy="54864"/>
          </a:xfrm>
          <a:prstGeom prst="rect">
            <a:avLst/>
          </a:prstGeom>
          <a:solidFill>
            <a:srgbClr val="F97316"/>
          </a:solidFill>
        </p:spPr>
      </p:sp>
      <p:sp>
        <p:nvSpPr>
          <p:cNvPr id="16" name="Shape 14"/>
          <p:cNvSpPr/>
          <p:nvPr/>
        </p:nvSpPr>
        <p:spPr bwMode="auto">
          <a:xfrm>
            <a:off x="3218688" y="1115568"/>
            <a:ext cx="457200" cy="292608"/>
          </a:xfrm>
          <a:prstGeom prst="rect">
            <a:avLst/>
          </a:prstGeom>
          <a:solidFill>
            <a:srgbClr val="F97316">
              <a:alpha val="70000"/>
            </a:srgbClr>
          </a:solidFill>
        </p:spPr>
      </p:sp>
      <p:sp>
        <p:nvSpPr>
          <p:cNvPr id="17" name="Text 15"/>
          <p:cNvSpPr/>
          <p:nvPr/>
        </p:nvSpPr>
        <p:spPr bwMode="auto">
          <a:xfrm>
            <a:off x="3218688" y="1115568"/>
            <a:ext cx="457200" cy="274320"/>
          </a:xfrm>
          <a:prstGeom prst="rect">
            <a:avLst/>
          </a:prstGeom>
          <a:noFill/>
        </p:spPr>
        <p:txBody>
          <a:bodyPr wrap="square" rtlCol="0" anchor="ctr"/>
          <a:lstStyle/>
          <a:p>
            <a:pPr marL="0" indent="0" algn="ctr">
              <a:buNone/>
              <a:defRPr/>
            </a:pPr>
            <a:r>
              <a:rPr lang="en-US" sz="1100" b="1">
                <a:solidFill>
                  <a:srgbClr val="0D1117"/>
                </a:solidFill>
              </a:rPr>
              <a:t>#2</a:t>
            </a:r>
            <a:endParaRPr lang="en-US" sz="1100"/>
          </a:p>
        </p:txBody>
      </p:sp>
      <p:sp>
        <p:nvSpPr>
          <p:cNvPr id="18" name="Text 16"/>
          <p:cNvSpPr/>
          <p:nvPr/>
        </p:nvSpPr>
        <p:spPr bwMode="auto">
          <a:xfrm>
            <a:off x="3749040" y="1115568"/>
            <a:ext cx="1645920" cy="292608"/>
          </a:xfrm>
          <a:prstGeom prst="rect">
            <a:avLst/>
          </a:prstGeom>
          <a:noFill/>
        </p:spPr>
        <p:txBody>
          <a:bodyPr wrap="square" rtlCol="0" anchor="ctr"/>
          <a:lstStyle/>
          <a:p>
            <a:pPr marL="0" indent="0">
              <a:buNone/>
              <a:defRPr/>
            </a:pPr>
            <a:r>
              <a:rPr lang="en-US" sz="1500" b="1">
                <a:solidFill>
                  <a:srgbClr val="F97316"/>
                </a:solidFill>
              </a:rPr>
              <a:t>Akira</a:t>
            </a:r>
            <a:endParaRPr lang="en-US" sz="1500"/>
          </a:p>
        </p:txBody>
      </p:sp>
      <p:sp>
        <p:nvSpPr>
          <p:cNvPr id="19" name="Text 17"/>
          <p:cNvSpPr/>
          <p:nvPr/>
        </p:nvSpPr>
        <p:spPr bwMode="auto">
          <a:xfrm>
            <a:off x="5230368" y="1133856"/>
            <a:ext cx="685800" cy="256032"/>
          </a:xfrm>
          <a:prstGeom prst="rect">
            <a:avLst/>
          </a:prstGeom>
          <a:noFill/>
        </p:spPr>
        <p:txBody>
          <a:bodyPr wrap="square" rtlCol="0" anchor="ctr"/>
          <a:lstStyle/>
          <a:p>
            <a:pPr marL="0" indent="0" algn="r">
              <a:buNone/>
              <a:defRPr/>
            </a:pPr>
            <a:r>
              <a:rPr lang="en-US" sz="850">
                <a:solidFill>
                  <a:srgbClr val="6B7280"/>
                </a:solidFill>
              </a:rPr>
              <a:t>2023–hoy</a:t>
            </a:r>
            <a:endParaRPr lang="en-US" sz="850"/>
          </a:p>
        </p:txBody>
      </p:sp>
      <p:sp>
        <p:nvSpPr>
          <p:cNvPr id="20" name="Shape 18"/>
          <p:cNvSpPr/>
          <p:nvPr/>
        </p:nvSpPr>
        <p:spPr bwMode="auto">
          <a:xfrm>
            <a:off x="3218688" y="1453896"/>
            <a:ext cx="1828800" cy="219456"/>
          </a:xfrm>
          <a:prstGeom prst="rect">
            <a:avLst/>
          </a:prstGeom>
          <a:solidFill>
            <a:srgbClr val="F97316">
              <a:alpha val="30000"/>
            </a:srgbClr>
          </a:solidFill>
        </p:spPr>
      </p:sp>
      <p:sp>
        <p:nvSpPr>
          <p:cNvPr id="21" name="Text 19"/>
          <p:cNvSpPr/>
          <p:nvPr/>
        </p:nvSpPr>
        <p:spPr bwMode="auto">
          <a:xfrm>
            <a:off x="3236976" y="1463040"/>
            <a:ext cx="1792224" cy="182880"/>
          </a:xfrm>
          <a:prstGeom prst="rect">
            <a:avLst/>
          </a:prstGeom>
          <a:noFill/>
        </p:spPr>
        <p:txBody>
          <a:bodyPr wrap="square" rtlCol="0" anchor="ctr"/>
          <a:lstStyle/>
          <a:p>
            <a:pPr marL="0" indent="0">
              <a:buNone/>
              <a:defRPr/>
            </a:pPr>
            <a:r>
              <a:rPr lang="en-US" sz="800" b="1">
                <a:solidFill>
                  <a:srgbClr val="F97316"/>
                </a:solidFill>
              </a:rPr>
              <a:t>$244M extorsionados</a:t>
            </a:r>
            <a:endParaRPr lang="en-US" sz="800"/>
          </a:p>
        </p:txBody>
      </p:sp>
      <p:sp>
        <p:nvSpPr>
          <p:cNvPr id="22" name="Text 20"/>
          <p:cNvSpPr/>
          <p:nvPr/>
        </p:nvSpPr>
        <p:spPr bwMode="auto">
          <a:xfrm>
            <a:off x="3218688" y="1737360"/>
            <a:ext cx="2670048" cy="941832"/>
          </a:xfrm>
          <a:prstGeom prst="rect">
            <a:avLst/>
          </a:prstGeom>
          <a:noFill/>
        </p:spPr>
        <p:txBody>
          <a:bodyPr wrap="square" rtlCol="0" anchor="ctr"/>
          <a:lstStyle/>
          <a:p>
            <a:pPr marL="0" indent="0">
              <a:buNone/>
              <a:defRPr/>
            </a:pPr>
            <a:r>
              <a:rPr lang="en-US" sz="900">
                <a:solidFill>
                  <a:srgbClr val="D1D5DB"/>
                </a:solidFill>
              </a:rPr>
              <a:t>Objetivo: salud y transporte. Explota VPNs Cisco (CVE-2023-20269). Usa AnyDesk y LOLBins. Vínculos con el extinto grupo Conti. 740 víctimas en 2025.</a:t>
            </a:r>
            <a:endParaRPr lang="en-US" sz="900"/>
          </a:p>
        </p:txBody>
      </p:sp>
      <p:sp>
        <p:nvSpPr>
          <p:cNvPr id="23" name="Shape 21"/>
          <p:cNvSpPr/>
          <p:nvPr/>
        </p:nvSpPr>
        <p:spPr bwMode="auto">
          <a:xfrm>
            <a:off x="6117336" y="1024128"/>
            <a:ext cx="2852928" cy="1719072"/>
          </a:xfrm>
          <a:prstGeom prst="rect">
            <a:avLst/>
          </a:prstGeom>
          <a:solidFill>
            <a:srgbClr val="1F2937"/>
          </a:solidFill>
          <a:ln w="12700">
            <a:solidFill>
              <a:srgbClr val="FBBF24"/>
            </a:solidFill>
            <a:prstDash val="solid"/>
          </a:ln>
        </p:spPr>
      </p:sp>
      <p:sp>
        <p:nvSpPr>
          <p:cNvPr id="24" name="Shape 22"/>
          <p:cNvSpPr/>
          <p:nvPr/>
        </p:nvSpPr>
        <p:spPr bwMode="auto">
          <a:xfrm>
            <a:off x="6117336" y="1024128"/>
            <a:ext cx="2852928" cy="54864"/>
          </a:xfrm>
          <a:prstGeom prst="rect">
            <a:avLst/>
          </a:prstGeom>
          <a:solidFill>
            <a:srgbClr val="FBBF24"/>
          </a:solidFill>
        </p:spPr>
      </p:sp>
      <p:sp>
        <p:nvSpPr>
          <p:cNvPr id="25" name="Shape 23"/>
          <p:cNvSpPr/>
          <p:nvPr/>
        </p:nvSpPr>
        <p:spPr bwMode="auto">
          <a:xfrm>
            <a:off x="6208776" y="1115568"/>
            <a:ext cx="457200" cy="292608"/>
          </a:xfrm>
          <a:prstGeom prst="rect">
            <a:avLst/>
          </a:prstGeom>
          <a:solidFill>
            <a:srgbClr val="FBBF24">
              <a:alpha val="70000"/>
            </a:srgbClr>
          </a:solidFill>
        </p:spPr>
      </p:sp>
      <p:sp>
        <p:nvSpPr>
          <p:cNvPr id="26" name="Text 24"/>
          <p:cNvSpPr/>
          <p:nvPr/>
        </p:nvSpPr>
        <p:spPr bwMode="auto">
          <a:xfrm>
            <a:off x="6208776" y="1115568"/>
            <a:ext cx="457200" cy="274320"/>
          </a:xfrm>
          <a:prstGeom prst="rect">
            <a:avLst/>
          </a:prstGeom>
          <a:noFill/>
        </p:spPr>
        <p:txBody>
          <a:bodyPr wrap="square" rtlCol="0" anchor="ctr"/>
          <a:lstStyle/>
          <a:p>
            <a:pPr marL="0" indent="0" algn="ctr">
              <a:buNone/>
              <a:defRPr/>
            </a:pPr>
            <a:r>
              <a:rPr lang="en-US" sz="1100" b="1">
                <a:solidFill>
                  <a:srgbClr val="0D1117"/>
                </a:solidFill>
              </a:rPr>
              <a:t>#3</a:t>
            </a:r>
            <a:endParaRPr lang="en-US" sz="1100"/>
          </a:p>
        </p:txBody>
      </p:sp>
      <p:sp>
        <p:nvSpPr>
          <p:cNvPr id="27" name="Text 25"/>
          <p:cNvSpPr/>
          <p:nvPr/>
        </p:nvSpPr>
        <p:spPr bwMode="auto">
          <a:xfrm>
            <a:off x="6739128" y="1115568"/>
            <a:ext cx="1645920" cy="292608"/>
          </a:xfrm>
          <a:prstGeom prst="rect">
            <a:avLst/>
          </a:prstGeom>
          <a:noFill/>
        </p:spPr>
        <p:txBody>
          <a:bodyPr wrap="square" rtlCol="0" anchor="ctr"/>
          <a:lstStyle/>
          <a:p>
            <a:pPr marL="0" indent="0">
              <a:buNone/>
              <a:defRPr/>
            </a:pPr>
            <a:r>
              <a:rPr lang="en-US" sz="1500" b="1">
                <a:solidFill>
                  <a:srgbClr val="FBBF24"/>
                </a:solidFill>
              </a:rPr>
              <a:t>Cl0p</a:t>
            </a:r>
            <a:endParaRPr lang="en-US" sz="1500"/>
          </a:p>
        </p:txBody>
      </p:sp>
      <p:sp>
        <p:nvSpPr>
          <p:cNvPr id="28" name="Text 26"/>
          <p:cNvSpPr/>
          <p:nvPr/>
        </p:nvSpPr>
        <p:spPr bwMode="auto">
          <a:xfrm>
            <a:off x="8220456" y="1133856"/>
            <a:ext cx="685800" cy="256032"/>
          </a:xfrm>
          <a:prstGeom prst="rect">
            <a:avLst/>
          </a:prstGeom>
          <a:noFill/>
        </p:spPr>
        <p:txBody>
          <a:bodyPr wrap="square" rtlCol="0" anchor="ctr"/>
          <a:lstStyle/>
          <a:p>
            <a:pPr marL="0" indent="0" algn="r">
              <a:buNone/>
              <a:defRPr/>
            </a:pPr>
            <a:r>
              <a:rPr lang="en-US" sz="850">
                <a:solidFill>
                  <a:srgbClr val="6B7280"/>
                </a:solidFill>
              </a:rPr>
              <a:t>2019–hoy</a:t>
            </a:r>
            <a:endParaRPr lang="en-US" sz="850"/>
          </a:p>
        </p:txBody>
      </p:sp>
      <p:sp>
        <p:nvSpPr>
          <p:cNvPr id="29" name="Shape 27"/>
          <p:cNvSpPr/>
          <p:nvPr/>
        </p:nvSpPr>
        <p:spPr bwMode="auto">
          <a:xfrm>
            <a:off x="6208776" y="1453896"/>
            <a:ext cx="1828800" cy="219456"/>
          </a:xfrm>
          <a:prstGeom prst="rect">
            <a:avLst/>
          </a:prstGeom>
          <a:solidFill>
            <a:srgbClr val="FBBF24">
              <a:alpha val="30000"/>
            </a:srgbClr>
          </a:solidFill>
        </p:spPr>
      </p:sp>
      <p:sp>
        <p:nvSpPr>
          <p:cNvPr id="30" name="Text 28"/>
          <p:cNvSpPr/>
          <p:nvPr/>
        </p:nvSpPr>
        <p:spPr bwMode="auto">
          <a:xfrm>
            <a:off x="6227064" y="1463040"/>
            <a:ext cx="1792224" cy="182880"/>
          </a:xfrm>
          <a:prstGeom prst="rect">
            <a:avLst/>
          </a:prstGeom>
          <a:noFill/>
        </p:spPr>
        <p:txBody>
          <a:bodyPr wrap="square" rtlCol="0" anchor="ctr"/>
          <a:lstStyle/>
          <a:p>
            <a:pPr marL="0" indent="0">
              <a:buNone/>
              <a:defRPr/>
            </a:pPr>
            <a:r>
              <a:rPr lang="en-US" sz="800" b="1">
                <a:solidFill>
                  <a:srgbClr val="FBBF24"/>
                </a:solidFill>
              </a:rPr>
              <a:t>Explotación masiva 0-day</a:t>
            </a:r>
            <a:endParaRPr lang="en-US" sz="800"/>
          </a:p>
        </p:txBody>
      </p:sp>
      <p:sp>
        <p:nvSpPr>
          <p:cNvPr id="31" name="Text 29"/>
          <p:cNvSpPr/>
          <p:nvPr/>
        </p:nvSpPr>
        <p:spPr bwMode="auto">
          <a:xfrm>
            <a:off x="6208776" y="1737360"/>
            <a:ext cx="2670048" cy="941832"/>
          </a:xfrm>
          <a:prstGeom prst="rect">
            <a:avLst/>
          </a:prstGeom>
          <a:noFill/>
        </p:spPr>
        <p:txBody>
          <a:bodyPr wrap="square" rtlCol="0" anchor="ctr"/>
          <a:lstStyle/>
          <a:p>
            <a:pPr marL="0" indent="0">
              <a:buNone/>
              <a:defRPr/>
            </a:pPr>
            <a:r>
              <a:rPr lang="en-US" sz="900">
                <a:solidFill>
                  <a:srgbClr val="D1D5DB"/>
                </a:solidFill>
              </a:rPr>
              <a:t>Especialista en vulnerabilidades de día cero en software de transferencia de archivos (MOVEit 2023, Cleo 2024). Campañas episódicas de alto impacto global.</a:t>
            </a:r>
            <a:endParaRPr lang="en-US" sz="900"/>
          </a:p>
        </p:txBody>
      </p:sp>
      <p:sp>
        <p:nvSpPr>
          <p:cNvPr id="32" name="Shape 30"/>
          <p:cNvSpPr/>
          <p:nvPr/>
        </p:nvSpPr>
        <p:spPr bwMode="auto">
          <a:xfrm>
            <a:off x="137160" y="2898648"/>
            <a:ext cx="2852928" cy="1719072"/>
          </a:xfrm>
          <a:prstGeom prst="rect">
            <a:avLst/>
          </a:prstGeom>
          <a:solidFill>
            <a:srgbClr val="1F2937"/>
          </a:solidFill>
          <a:ln w="12700">
            <a:solidFill>
              <a:srgbClr val="10B981"/>
            </a:solidFill>
            <a:prstDash val="solid"/>
          </a:ln>
        </p:spPr>
      </p:sp>
      <p:sp>
        <p:nvSpPr>
          <p:cNvPr id="33" name="Shape 31"/>
          <p:cNvSpPr/>
          <p:nvPr/>
        </p:nvSpPr>
        <p:spPr bwMode="auto">
          <a:xfrm>
            <a:off x="137160" y="2898648"/>
            <a:ext cx="2852928" cy="54864"/>
          </a:xfrm>
          <a:prstGeom prst="rect">
            <a:avLst/>
          </a:prstGeom>
          <a:solidFill>
            <a:srgbClr val="10B981"/>
          </a:solidFill>
        </p:spPr>
      </p:sp>
      <p:sp>
        <p:nvSpPr>
          <p:cNvPr id="34" name="Shape 32"/>
          <p:cNvSpPr/>
          <p:nvPr/>
        </p:nvSpPr>
        <p:spPr bwMode="auto">
          <a:xfrm>
            <a:off x="228600" y="2990088"/>
            <a:ext cx="457200" cy="292608"/>
          </a:xfrm>
          <a:prstGeom prst="rect">
            <a:avLst/>
          </a:prstGeom>
          <a:solidFill>
            <a:srgbClr val="10B981">
              <a:alpha val="70000"/>
            </a:srgbClr>
          </a:solidFill>
        </p:spPr>
      </p:sp>
      <p:sp>
        <p:nvSpPr>
          <p:cNvPr id="35" name="Text 33"/>
          <p:cNvSpPr/>
          <p:nvPr/>
        </p:nvSpPr>
        <p:spPr bwMode="auto">
          <a:xfrm>
            <a:off x="228600" y="2990088"/>
            <a:ext cx="457200" cy="274320"/>
          </a:xfrm>
          <a:prstGeom prst="rect">
            <a:avLst/>
          </a:prstGeom>
          <a:noFill/>
        </p:spPr>
        <p:txBody>
          <a:bodyPr wrap="square" rtlCol="0" anchor="ctr"/>
          <a:lstStyle/>
          <a:p>
            <a:pPr marL="0" indent="0" algn="ctr">
              <a:buNone/>
              <a:defRPr/>
            </a:pPr>
            <a:r>
              <a:rPr lang="en-US" sz="1100" b="1">
                <a:solidFill>
                  <a:srgbClr val="0D1117"/>
                </a:solidFill>
              </a:rPr>
              <a:t>#4</a:t>
            </a:r>
            <a:endParaRPr lang="en-US" sz="1100"/>
          </a:p>
        </p:txBody>
      </p:sp>
      <p:sp>
        <p:nvSpPr>
          <p:cNvPr id="36" name="Text 34"/>
          <p:cNvSpPr/>
          <p:nvPr/>
        </p:nvSpPr>
        <p:spPr bwMode="auto">
          <a:xfrm>
            <a:off x="758952" y="2990088"/>
            <a:ext cx="1645920" cy="292608"/>
          </a:xfrm>
          <a:prstGeom prst="rect">
            <a:avLst/>
          </a:prstGeom>
          <a:noFill/>
        </p:spPr>
        <p:txBody>
          <a:bodyPr wrap="square" rtlCol="0" anchor="ctr"/>
          <a:lstStyle/>
          <a:p>
            <a:pPr marL="0" indent="0">
              <a:buNone/>
              <a:defRPr/>
            </a:pPr>
            <a:r>
              <a:rPr lang="en-US" sz="1500" b="1">
                <a:solidFill>
                  <a:srgbClr val="10B981"/>
                </a:solidFill>
              </a:rPr>
              <a:t>DragonForce</a:t>
            </a:r>
            <a:endParaRPr lang="en-US" sz="1500"/>
          </a:p>
        </p:txBody>
      </p:sp>
      <p:sp>
        <p:nvSpPr>
          <p:cNvPr id="37" name="Text 35"/>
          <p:cNvSpPr/>
          <p:nvPr/>
        </p:nvSpPr>
        <p:spPr bwMode="auto">
          <a:xfrm>
            <a:off x="2240280" y="3008376"/>
            <a:ext cx="685800" cy="256032"/>
          </a:xfrm>
          <a:prstGeom prst="rect">
            <a:avLst/>
          </a:prstGeom>
          <a:noFill/>
        </p:spPr>
        <p:txBody>
          <a:bodyPr wrap="square" rtlCol="0" anchor="ctr"/>
          <a:lstStyle/>
          <a:p>
            <a:pPr marL="0" indent="0" algn="r">
              <a:buNone/>
              <a:defRPr/>
            </a:pPr>
            <a:r>
              <a:rPr lang="en-US" sz="850">
                <a:solidFill>
                  <a:srgbClr val="6B7280"/>
                </a:solidFill>
              </a:rPr>
              <a:t>2023–hoy</a:t>
            </a:r>
            <a:endParaRPr lang="en-US" sz="850"/>
          </a:p>
        </p:txBody>
      </p:sp>
      <p:sp>
        <p:nvSpPr>
          <p:cNvPr id="38" name="Shape 36"/>
          <p:cNvSpPr/>
          <p:nvPr/>
        </p:nvSpPr>
        <p:spPr bwMode="auto">
          <a:xfrm>
            <a:off x="228600" y="3328416"/>
            <a:ext cx="1828800" cy="219456"/>
          </a:xfrm>
          <a:prstGeom prst="rect">
            <a:avLst/>
          </a:prstGeom>
          <a:solidFill>
            <a:srgbClr val="10B981">
              <a:alpha val="30000"/>
            </a:srgbClr>
          </a:solidFill>
        </p:spPr>
      </p:sp>
      <p:sp>
        <p:nvSpPr>
          <p:cNvPr id="39" name="Text 37"/>
          <p:cNvSpPr/>
          <p:nvPr/>
        </p:nvSpPr>
        <p:spPr bwMode="auto">
          <a:xfrm>
            <a:off x="246888" y="3337560"/>
            <a:ext cx="1792224" cy="182880"/>
          </a:xfrm>
          <a:prstGeom prst="rect">
            <a:avLst/>
          </a:prstGeom>
          <a:noFill/>
        </p:spPr>
        <p:txBody>
          <a:bodyPr wrap="square" rtlCol="0" anchor="ctr"/>
          <a:lstStyle/>
          <a:p>
            <a:pPr marL="0" indent="0">
              <a:buNone/>
              <a:defRPr/>
            </a:pPr>
            <a:r>
              <a:rPr lang="en-US" sz="800" b="1">
                <a:solidFill>
                  <a:srgbClr val="10B981"/>
                </a:solidFill>
              </a:rPr>
              <a:t>Heredero de RansomHub</a:t>
            </a:r>
            <a:endParaRPr lang="en-US" sz="800"/>
          </a:p>
        </p:txBody>
      </p:sp>
      <p:sp>
        <p:nvSpPr>
          <p:cNvPr id="40" name="Text 38"/>
          <p:cNvSpPr/>
          <p:nvPr/>
        </p:nvSpPr>
        <p:spPr bwMode="auto">
          <a:xfrm>
            <a:off x="228600" y="3611880"/>
            <a:ext cx="2670048" cy="941832"/>
          </a:xfrm>
          <a:prstGeom prst="rect">
            <a:avLst/>
          </a:prstGeom>
          <a:noFill/>
        </p:spPr>
        <p:txBody>
          <a:bodyPr wrap="square" rtlCol="0" anchor="ctr"/>
          <a:lstStyle/>
          <a:p>
            <a:pPr marL="0" indent="0">
              <a:buNone/>
              <a:defRPr/>
            </a:pPr>
            <a:r>
              <a:rPr lang="en-US" sz="900">
                <a:solidFill>
                  <a:srgbClr val="D1D5DB"/>
                </a:solidFill>
              </a:rPr>
              <a:t>Absorbió infraestructura de RansomHub. Partnerships con Scattered Spider. Ofrece 'auditoría de datos robados' a afiliados para maximizar extorsión.</a:t>
            </a:r>
            <a:endParaRPr lang="en-US" sz="900"/>
          </a:p>
        </p:txBody>
      </p:sp>
      <p:sp>
        <p:nvSpPr>
          <p:cNvPr id="41" name="Shape 39"/>
          <p:cNvSpPr/>
          <p:nvPr/>
        </p:nvSpPr>
        <p:spPr bwMode="auto">
          <a:xfrm>
            <a:off x="3127248" y="2898648"/>
            <a:ext cx="2852928" cy="1719072"/>
          </a:xfrm>
          <a:prstGeom prst="rect">
            <a:avLst/>
          </a:prstGeom>
          <a:solidFill>
            <a:srgbClr val="1F2937"/>
          </a:solidFill>
          <a:ln w="12700">
            <a:solidFill>
              <a:srgbClr val="60A5FA"/>
            </a:solidFill>
            <a:prstDash val="solid"/>
          </a:ln>
        </p:spPr>
      </p:sp>
      <p:sp>
        <p:nvSpPr>
          <p:cNvPr id="42" name="Shape 40"/>
          <p:cNvSpPr/>
          <p:nvPr/>
        </p:nvSpPr>
        <p:spPr bwMode="auto">
          <a:xfrm>
            <a:off x="3127248" y="2898648"/>
            <a:ext cx="2852928" cy="54864"/>
          </a:xfrm>
          <a:prstGeom prst="rect">
            <a:avLst/>
          </a:prstGeom>
          <a:solidFill>
            <a:srgbClr val="60A5FA"/>
          </a:solidFill>
        </p:spPr>
      </p:sp>
      <p:sp>
        <p:nvSpPr>
          <p:cNvPr id="43" name="Shape 41"/>
          <p:cNvSpPr/>
          <p:nvPr/>
        </p:nvSpPr>
        <p:spPr bwMode="auto">
          <a:xfrm>
            <a:off x="3218688" y="2990088"/>
            <a:ext cx="457200" cy="292608"/>
          </a:xfrm>
          <a:prstGeom prst="rect">
            <a:avLst/>
          </a:prstGeom>
          <a:solidFill>
            <a:srgbClr val="60A5FA">
              <a:alpha val="70000"/>
            </a:srgbClr>
          </a:solidFill>
        </p:spPr>
      </p:sp>
      <p:sp>
        <p:nvSpPr>
          <p:cNvPr id="44" name="Text 42"/>
          <p:cNvSpPr/>
          <p:nvPr/>
        </p:nvSpPr>
        <p:spPr bwMode="auto">
          <a:xfrm>
            <a:off x="3218688" y="2990088"/>
            <a:ext cx="457200" cy="274320"/>
          </a:xfrm>
          <a:prstGeom prst="rect">
            <a:avLst/>
          </a:prstGeom>
          <a:noFill/>
        </p:spPr>
        <p:txBody>
          <a:bodyPr wrap="square" rtlCol="0" anchor="ctr"/>
          <a:lstStyle/>
          <a:p>
            <a:pPr marL="0" indent="0" algn="ctr">
              <a:buNone/>
              <a:defRPr/>
            </a:pPr>
            <a:r>
              <a:rPr lang="en-US" sz="1100" b="1">
                <a:solidFill>
                  <a:srgbClr val="0D1117"/>
                </a:solidFill>
              </a:rPr>
              <a:t>#5</a:t>
            </a:r>
            <a:endParaRPr lang="en-US" sz="1100"/>
          </a:p>
        </p:txBody>
      </p:sp>
      <p:sp>
        <p:nvSpPr>
          <p:cNvPr id="45" name="Text 43"/>
          <p:cNvSpPr/>
          <p:nvPr/>
        </p:nvSpPr>
        <p:spPr bwMode="auto">
          <a:xfrm>
            <a:off x="3749040" y="2990088"/>
            <a:ext cx="1645920" cy="292608"/>
          </a:xfrm>
          <a:prstGeom prst="rect">
            <a:avLst/>
          </a:prstGeom>
          <a:noFill/>
        </p:spPr>
        <p:txBody>
          <a:bodyPr wrap="square" rtlCol="0" anchor="ctr"/>
          <a:lstStyle/>
          <a:p>
            <a:pPr marL="0" indent="0">
              <a:buNone/>
              <a:defRPr/>
            </a:pPr>
            <a:r>
              <a:rPr lang="en-US" sz="1500" b="1">
                <a:solidFill>
                  <a:srgbClr val="60A5FA"/>
                </a:solidFill>
              </a:rPr>
              <a:t>Play</a:t>
            </a:r>
            <a:endParaRPr lang="en-US" sz="1500"/>
          </a:p>
        </p:txBody>
      </p:sp>
      <p:sp>
        <p:nvSpPr>
          <p:cNvPr id="46" name="Text 44"/>
          <p:cNvSpPr/>
          <p:nvPr/>
        </p:nvSpPr>
        <p:spPr bwMode="auto">
          <a:xfrm>
            <a:off x="5230368" y="3008376"/>
            <a:ext cx="685800" cy="256032"/>
          </a:xfrm>
          <a:prstGeom prst="rect">
            <a:avLst/>
          </a:prstGeom>
          <a:noFill/>
        </p:spPr>
        <p:txBody>
          <a:bodyPr wrap="square" rtlCol="0" anchor="ctr"/>
          <a:lstStyle/>
          <a:p>
            <a:pPr marL="0" indent="0" algn="r">
              <a:buNone/>
              <a:defRPr/>
            </a:pPr>
            <a:r>
              <a:rPr lang="en-US" sz="850">
                <a:solidFill>
                  <a:srgbClr val="6B7280"/>
                </a:solidFill>
              </a:rPr>
              <a:t>2022–hoy</a:t>
            </a:r>
            <a:endParaRPr lang="en-US" sz="850"/>
          </a:p>
        </p:txBody>
      </p:sp>
      <p:sp>
        <p:nvSpPr>
          <p:cNvPr id="47" name="Shape 45"/>
          <p:cNvSpPr/>
          <p:nvPr/>
        </p:nvSpPr>
        <p:spPr bwMode="auto">
          <a:xfrm>
            <a:off x="3218688" y="3328416"/>
            <a:ext cx="1828800" cy="219456"/>
          </a:xfrm>
          <a:prstGeom prst="rect">
            <a:avLst/>
          </a:prstGeom>
          <a:solidFill>
            <a:srgbClr val="60A5FA">
              <a:alpha val="30000"/>
            </a:srgbClr>
          </a:solidFill>
        </p:spPr>
      </p:sp>
      <p:sp>
        <p:nvSpPr>
          <p:cNvPr id="48" name="Text 46"/>
          <p:cNvSpPr/>
          <p:nvPr/>
        </p:nvSpPr>
        <p:spPr bwMode="auto">
          <a:xfrm>
            <a:off x="3236976" y="3337560"/>
            <a:ext cx="1792224" cy="182880"/>
          </a:xfrm>
          <a:prstGeom prst="rect">
            <a:avLst/>
          </a:prstGeom>
          <a:noFill/>
        </p:spPr>
        <p:txBody>
          <a:bodyPr wrap="square" rtlCol="0" anchor="ctr"/>
          <a:lstStyle/>
          <a:p>
            <a:pPr marL="0" indent="0">
              <a:buNone/>
              <a:defRPr/>
            </a:pPr>
            <a:r>
              <a:rPr lang="en-US" sz="800" b="1">
                <a:solidFill>
                  <a:srgbClr val="60A5FA"/>
                </a:solidFill>
              </a:rPr>
              <a:t>Operaciones sostenidas</a:t>
            </a:r>
            <a:endParaRPr lang="en-US" sz="800"/>
          </a:p>
        </p:txBody>
      </p:sp>
      <p:sp>
        <p:nvSpPr>
          <p:cNvPr id="49" name="Text 47"/>
          <p:cNvSpPr/>
          <p:nvPr/>
        </p:nvSpPr>
        <p:spPr bwMode="auto">
          <a:xfrm>
            <a:off x="3218688" y="3611880"/>
            <a:ext cx="2670048" cy="941832"/>
          </a:xfrm>
          <a:prstGeom prst="rect">
            <a:avLst/>
          </a:prstGeom>
          <a:noFill/>
        </p:spPr>
        <p:txBody>
          <a:bodyPr wrap="square" rtlCol="0" anchor="ctr"/>
          <a:lstStyle/>
          <a:p>
            <a:pPr marL="0" indent="0">
              <a:buNone/>
              <a:defRPr/>
            </a:pPr>
            <a:r>
              <a:rPr lang="en-US" sz="900">
                <a:solidFill>
                  <a:srgbClr val="D1D5DB"/>
                </a:solidFill>
              </a:rPr>
              <a:t>369 víctimas en 2024, modelo silencioso sin teatralidad. CISA: ~900 entidades impactadas a mayo 2025. Doble extorsión, acceso via RDP comprometido.</a:t>
            </a:r>
            <a:endParaRPr lang="en-US" sz="900"/>
          </a:p>
        </p:txBody>
      </p:sp>
      <p:sp>
        <p:nvSpPr>
          <p:cNvPr id="50" name="Shape 48"/>
          <p:cNvSpPr/>
          <p:nvPr/>
        </p:nvSpPr>
        <p:spPr bwMode="auto">
          <a:xfrm>
            <a:off x="6117336" y="2898648"/>
            <a:ext cx="2852928" cy="1719072"/>
          </a:xfrm>
          <a:prstGeom prst="rect">
            <a:avLst/>
          </a:prstGeom>
          <a:solidFill>
            <a:srgbClr val="1F2937"/>
          </a:solidFill>
          <a:ln w="12700">
            <a:solidFill>
              <a:srgbClr val="A78BFA"/>
            </a:solidFill>
            <a:prstDash val="solid"/>
          </a:ln>
        </p:spPr>
      </p:sp>
      <p:sp>
        <p:nvSpPr>
          <p:cNvPr id="51" name="Shape 49"/>
          <p:cNvSpPr/>
          <p:nvPr/>
        </p:nvSpPr>
        <p:spPr bwMode="auto">
          <a:xfrm>
            <a:off x="6117336" y="2898648"/>
            <a:ext cx="2852928" cy="54864"/>
          </a:xfrm>
          <a:prstGeom prst="rect">
            <a:avLst/>
          </a:prstGeom>
          <a:solidFill>
            <a:srgbClr val="A78BFA"/>
          </a:solidFill>
        </p:spPr>
      </p:sp>
      <p:sp>
        <p:nvSpPr>
          <p:cNvPr id="52" name="Shape 50"/>
          <p:cNvSpPr/>
          <p:nvPr/>
        </p:nvSpPr>
        <p:spPr bwMode="auto">
          <a:xfrm>
            <a:off x="6208776" y="2990088"/>
            <a:ext cx="457200" cy="292608"/>
          </a:xfrm>
          <a:prstGeom prst="rect">
            <a:avLst/>
          </a:prstGeom>
          <a:solidFill>
            <a:srgbClr val="A78BFA">
              <a:alpha val="70000"/>
            </a:srgbClr>
          </a:solidFill>
        </p:spPr>
      </p:sp>
      <p:sp>
        <p:nvSpPr>
          <p:cNvPr id="53" name="Text 51"/>
          <p:cNvSpPr/>
          <p:nvPr/>
        </p:nvSpPr>
        <p:spPr bwMode="auto">
          <a:xfrm>
            <a:off x="6208776" y="2990088"/>
            <a:ext cx="457200" cy="274320"/>
          </a:xfrm>
          <a:prstGeom prst="rect">
            <a:avLst/>
          </a:prstGeom>
          <a:noFill/>
        </p:spPr>
        <p:txBody>
          <a:bodyPr wrap="square" rtlCol="0" anchor="ctr"/>
          <a:lstStyle/>
          <a:p>
            <a:pPr marL="0" indent="0" algn="ctr">
              <a:buNone/>
              <a:defRPr/>
            </a:pPr>
            <a:r>
              <a:rPr lang="en-US" sz="1100" b="1">
                <a:solidFill>
                  <a:srgbClr val="0D1117"/>
                </a:solidFill>
              </a:rPr>
              <a:t>#6</a:t>
            </a:r>
            <a:endParaRPr lang="en-US" sz="1100"/>
          </a:p>
        </p:txBody>
      </p:sp>
      <p:sp>
        <p:nvSpPr>
          <p:cNvPr id="54" name="Text 52"/>
          <p:cNvSpPr/>
          <p:nvPr/>
        </p:nvSpPr>
        <p:spPr bwMode="auto">
          <a:xfrm>
            <a:off x="6739128" y="2990088"/>
            <a:ext cx="1645920" cy="292608"/>
          </a:xfrm>
          <a:prstGeom prst="rect">
            <a:avLst/>
          </a:prstGeom>
          <a:noFill/>
        </p:spPr>
        <p:txBody>
          <a:bodyPr wrap="square" rtlCol="0" anchor="ctr"/>
          <a:lstStyle/>
          <a:p>
            <a:pPr marL="0" indent="0">
              <a:buNone/>
              <a:defRPr/>
            </a:pPr>
            <a:r>
              <a:rPr lang="en-US" sz="1500" b="1">
                <a:solidFill>
                  <a:srgbClr val="A78BFA"/>
                </a:solidFill>
              </a:rPr>
              <a:t>LockBit 5.0</a:t>
            </a:r>
            <a:endParaRPr lang="en-US" sz="1500"/>
          </a:p>
        </p:txBody>
      </p:sp>
      <p:sp>
        <p:nvSpPr>
          <p:cNvPr id="55" name="Text 53"/>
          <p:cNvSpPr/>
          <p:nvPr/>
        </p:nvSpPr>
        <p:spPr bwMode="auto">
          <a:xfrm>
            <a:off x="8220456" y="3008376"/>
            <a:ext cx="685800" cy="256032"/>
          </a:xfrm>
          <a:prstGeom prst="rect">
            <a:avLst/>
          </a:prstGeom>
          <a:noFill/>
        </p:spPr>
        <p:txBody>
          <a:bodyPr wrap="square" rtlCol="0" anchor="ctr"/>
          <a:lstStyle/>
          <a:p>
            <a:pPr marL="0" indent="0" algn="r">
              <a:buNone/>
              <a:defRPr/>
            </a:pPr>
            <a:r>
              <a:rPr lang="en-US" sz="850">
                <a:solidFill>
                  <a:srgbClr val="6B7280"/>
                </a:solidFill>
              </a:rPr>
              <a:t>2019–hoy</a:t>
            </a:r>
            <a:endParaRPr lang="en-US" sz="850"/>
          </a:p>
        </p:txBody>
      </p:sp>
      <p:sp>
        <p:nvSpPr>
          <p:cNvPr id="56" name="Shape 54"/>
          <p:cNvSpPr/>
          <p:nvPr/>
        </p:nvSpPr>
        <p:spPr bwMode="auto">
          <a:xfrm>
            <a:off x="6208776" y="3328416"/>
            <a:ext cx="1828800" cy="219456"/>
          </a:xfrm>
          <a:prstGeom prst="rect">
            <a:avLst/>
          </a:prstGeom>
          <a:solidFill>
            <a:srgbClr val="A78BFA">
              <a:alpha val="30000"/>
            </a:srgbClr>
          </a:solidFill>
        </p:spPr>
      </p:sp>
      <p:sp>
        <p:nvSpPr>
          <p:cNvPr id="57" name="Text 55"/>
          <p:cNvSpPr/>
          <p:nvPr/>
        </p:nvSpPr>
        <p:spPr bwMode="auto">
          <a:xfrm>
            <a:off x="6227064" y="3337560"/>
            <a:ext cx="1792224" cy="182880"/>
          </a:xfrm>
          <a:prstGeom prst="rect">
            <a:avLst/>
          </a:prstGeom>
          <a:noFill/>
        </p:spPr>
        <p:txBody>
          <a:bodyPr wrap="square" rtlCol="0" anchor="ctr"/>
          <a:lstStyle/>
          <a:p>
            <a:pPr marL="0" indent="0">
              <a:buNone/>
              <a:defRPr/>
            </a:pPr>
            <a:r>
              <a:rPr lang="en-US" sz="800" b="1">
                <a:solidFill>
                  <a:srgbClr val="A78BFA"/>
                </a:solidFill>
              </a:rPr>
              <a:t>Regresa sep 2025</a:t>
            </a:r>
            <a:endParaRPr lang="en-US" sz="800"/>
          </a:p>
        </p:txBody>
      </p:sp>
      <p:sp>
        <p:nvSpPr>
          <p:cNvPr id="58" name="Text 56"/>
          <p:cNvSpPr/>
          <p:nvPr/>
        </p:nvSpPr>
        <p:spPr bwMode="auto">
          <a:xfrm>
            <a:off x="6208776" y="3611880"/>
            <a:ext cx="2670048" cy="941832"/>
          </a:xfrm>
          <a:prstGeom prst="rect">
            <a:avLst/>
          </a:prstGeom>
          <a:noFill/>
        </p:spPr>
        <p:txBody>
          <a:bodyPr wrap="square" rtlCol="0" anchor="ctr"/>
          <a:lstStyle/>
          <a:p>
            <a:pPr marL="0" indent="0">
              <a:buNone/>
              <a:defRPr/>
            </a:pPr>
            <a:r>
              <a:rPr lang="en-US" sz="900">
                <a:solidFill>
                  <a:srgbClr val="D1D5DB"/>
                </a:solidFill>
              </a:rPr>
              <a:t>Desmantelado en Op. Cronos (feb 2024). Líder 'LockBitSupp' nunca capturado. Relanzó LockBit 5.0 en septiembre 2025. Historia: $91M en pagos 2024.</a:t>
            </a:r>
            <a:endParaRPr lang="en-US" sz="90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CONCLUSIONES</a:t>
            </a:r>
            <a:endParaRPr lang="en-US" sz="2200"/>
          </a:p>
        </p:txBody>
      </p:sp>
      <p:sp>
        <p:nvSpPr>
          <p:cNvPr id="5" name="Shape 3"/>
          <p:cNvSpPr/>
          <p:nvPr/>
        </p:nvSpPr>
        <p:spPr bwMode="auto">
          <a:xfrm>
            <a:off x="274320" y="1005840"/>
            <a:ext cx="8595360" cy="658368"/>
          </a:xfrm>
          <a:prstGeom prst="rect">
            <a:avLst/>
          </a:prstGeom>
          <a:solidFill>
            <a:srgbClr val="1F2937"/>
          </a:solidFill>
        </p:spPr>
      </p:sp>
      <p:sp>
        <p:nvSpPr>
          <p:cNvPr id="6" name="Shape 4"/>
          <p:cNvSpPr/>
          <p:nvPr/>
        </p:nvSpPr>
        <p:spPr bwMode="auto">
          <a:xfrm>
            <a:off x="274320" y="1005840"/>
            <a:ext cx="54864" cy="658368"/>
          </a:xfrm>
          <a:prstGeom prst="rect">
            <a:avLst/>
          </a:prstGeom>
          <a:solidFill>
            <a:srgbClr val="EF4444"/>
          </a:solidFill>
        </p:spPr>
      </p:sp>
      <p:sp>
        <p:nvSpPr>
          <p:cNvPr id="7" name="Text 5"/>
          <p:cNvSpPr/>
          <p:nvPr/>
        </p:nvSpPr>
        <p:spPr bwMode="auto">
          <a:xfrm>
            <a:off x="384048" y="1097280"/>
            <a:ext cx="548640" cy="411480"/>
          </a:xfrm>
          <a:prstGeom prst="rect">
            <a:avLst/>
          </a:prstGeom>
          <a:noFill/>
        </p:spPr>
        <p:txBody>
          <a:bodyPr wrap="square" rtlCol="0" anchor="ctr"/>
          <a:lstStyle/>
          <a:p>
            <a:pPr marL="0" indent="0">
              <a:buNone/>
              <a:defRPr/>
            </a:pPr>
            <a:r>
              <a:rPr lang="en-US" sz="2000" b="1">
                <a:solidFill>
                  <a:srgbClr val="EF4444"/>
                </a:solidFill>
                <a:latin typeface="Impact" panose="020B0806030902050204"/>
                <a:ea typeface="Impact" panose="020B0806030902050204"/>
                <a:cs typeface="Impact" panose="020B0806030902050204"/>
              </a:rPr>
              <a:t>01</a:t>
            </a:r>
            <a:endParaRPr lang="en-US" sz="2000"/>
          </a:p>
        </p:txBody>
      </p:sp>
      <p:sp>
        <p:nvSpPr>
          <p:cNvPr id="8" name="Text 6"/>
          <p:cNvSpPr/>
          <p:nvPr/>
        </p:nvSpPr>
        <p:spPr bwMode="auto">
          <a:xfrm>
            <a:off x="1005840" y="1060704"/>
            <a:ext cx="4114800" cy="274320"/>
          </a:xfrm>
          <a:prstGeom prst="rect">
            <a:avLst/>
          </a:prstGeom>
          <a:noFill/>
        </p:spPr>
        <p:txBody>
          <a:bodyPr wrap="square" rtlCol="0" anchor="ctr"/>
          <a:lstStyle/>
          <a:p>
            <a:pPr marL="0" indent="0">
              <a:buNone/>
              <a:defRPr/>
            </a:pPr>
            <a:r>
              <a:rPr lang="en-US" sz="1200" b="1">
                <a:solidFill>
                  <a:srgbClr val="EF4444"/>
                </a:solidFill>
              </a:rPr>
              <a:t>Ecosistema criminal en constante reconfiguración</a:t>
            </a:r>
            <a:endParaRPr lang="en-US" sz="1200"/>
          </a:p>
        </p:txBody>
      </p:sp>
      <p:sp>
        <p:nvSpPr>
          <p:cNvPr id="9" name="Text 7"/>
          <p:cNvSpPr/>
          <p:nvPr/>
        </p:nvSpPr>
        <p:spPr bwMode="auto">
          <a:xfrm>
            <a:off x="1005840" y="1335024"/>
            <a:ext cx="7726680" cy="274320"/>
          </a:xfrm>
          <a:prstGeom prst="rect">
            <a:avLst/>
          </a:prstGeom>
          <a:noFill/>
        </p:spPr>
        <p:txBody>
          <a:bodyPr wrap="square" rtlCol="0" anchor="ctr"/>
          <a:lstStyle/>
          <a:p>
            <a:pPr marL="0" indent="0">
              <a:buNone/>
              <a:defRPr/>
            </a:pPr>
            <a:r>
              <a:rPr lang="en-US" sz="950">
                <a:solidFill>
                  <a:srgbClr val="D1D5DB"/>
                </a:solidFill>
              </a:rPr>
              <a:t>La caída de LockBit (2024) no detuvo el ransomware: Qilin emergió con 1,001 víctimas en 2025. El RaaS es resiliente, se fragmenta pero no colapsa ante operaciones policiales.</a:t>
            </a:r>
            <a:endParaRPr lang="en-US" sz="950"/>
          </a:p>
        </p:txBody>
      </p:sp>
      <p:sp>
        <p:nvSpPr>
          <p:cNvPr id="10" name="Shape 8"/>
          <p:cNvSpPr/>
          <p:nvPr/>
        </p:nvSpPr>
        <p:spPr bwMode="auto">
          <a:xfrm>
            <a:off x="274320" y="1764792"/>
            <a:ext cx="8595360" cy="658368"/>
          </a:xfrm>
          <a:prstGeom prst="rect">
            <a:avLst/>
          </a:prstGeom>
          <a:solidFill>
            <a:srgbClr val="1F2937"/>
          </a:solidFill>
        </p:spPr>
      </p:sp>
      <p:sp>
        <p:nvSpPr>
          <p:cNvPr id="11" name="Shape 9"/>
          <p:cNvSpPr/>
          <p:nvPr/>
        </p:nvSpPr>
        <p:spPr bwMode="auto">
          <a:xfrm>
            <a:off x="274320" y="1764792"/>
            <a:ext cx="54864" cy="658368"/>
          </a:xfrm>
          <a:prstGeom prst="rect">
            <a:avLst/>
          </a:prstGeom>
          <a:solidFill>
            <a:srgbClr val="F97316"/>
          </a:solidFill>
        </p:spPr>
      </p:sp>
      <p:sp>
        <p:nvSpPr>
          <p:cNvPr id="12" name="Text 10"/>
          <p:cNvSpPr/>
          <p:nvPr/>
        </p:nvSpPr>
        <p:spPr bwMode="auto">
          <a:xfrm>
            <a:off x="384048" y="1856232"/>
            <a:ext cx="548640" cy="411480"/>
          </a:xfrm>
          <a:prstGeom prst="rect">
            <a:avLst/>
          </a:prstGeom>
          <a:noFill/>
        </p:spPr>
        <p:txBody>
          <a:bodyPr wrap="square" rtlCol="0" anchor="ctr"/>
          <a:lstStyle/>
          <a:p>
            <a:pPr marL="0" indent="0">
              <a:buNone/>
              <a:defRPr/>
            </a:pPr>
            <a:r>
              <a:rPr lang="en-US" sz="2000" b="1">
                <a:solidFill>
                  <a:srgbClr val="F97316"/>
                </a:solidFill>
                <a:latin typeface="Impact" panose="020B0806030902050204"/>
                <a:ea typeface="Impact" panose="020B0806030902050204"/>
                <a:cs typeface="Impact" panose="020B0806030902050204"/>
              </a:rPr>
              <a:t>02</a:t>
            </a:r>
            <a:endParaRPr lang="en-US" sz="2000"/>
          </a:p>
        </p:txBody>
      </p:sp>
      <p:sp>
        <p:nvSpPr>
          <p:cNvPr id="13" name="Text 11"/>
          <p:cNvSpPr/>
          <p:nvPr/>
        </p:nvSpPr>
        <p:spPr bwMode="auto">
          <a:xfrm>
            <a:off x="1005840" y="1819656"/>
            <a:ext cx="4114800" cy="274320"/>
          </a:xfrm>
          <a:prstGeom prst="rect">
            <a:avLst/>
          </a:prstGeom>
          <a:noFill/>
        </p:spPr>
        <p:txBody>
          <a:bodyPr wrap="square" rtlCol="0" anchor="ctr"/>
          <a:lstStyle/>
          <a:p>
            <a:pPr marL="0" indent="0">
              <a:buNone/>
              <a:defRPr/>
            </a:pPr>
            <a:r>
              <a:rPr lang="en-US" sz="1200" b="1">
                <a:solidFill>
                  <a:srgbClr val="F97316"/>
                </a:solidFill>
              </a:rPr>
              <a:t>El cifrado ya no es el objetivo principal</a:t>
            </a:r>
            <a:endParaRPr lang="en-US" sz="1200"/>
          </a:p>
        </p:txBody>
      </p:sp>
      <p:sp>
        <p:nvSpPr>
          <p:cNvPr id="14" name="Text 12"/>
          <p:cNvSpPr/>
          <p:nvPr/>
        </p:nvSpPr>
        <p:spPr bwMode="auto">
          <a:xfrm>
            <a:off x="1005840" y="2093976"/>
            <a:ext cx="7726680" cy="274320"/>
          </a:xfrm>
          <a:prstGeom prst="rect">
            <a:avLst/>
          </a:prstGeom>
          <a:noFill/>
        </p:spPr>
        <p:txBody>
          <a:bodyPr wrap="square" rtlCol="0" anchor="ctr"/>
          <a:lstStyle/>
          <a:p>
            <a:pPr marL="0" indent="0">
              <a:buNone/>
              <a:defRPr/>
            </a:pPr>
            <a:r>
              <a:rPr lang="en-US" sz="950">
                <a:solidFill>
                  <a:srgbClr val="D1D5DB"/>
                </a:solidFill>
              </a:rPr>
              <a:t>Solo el 50% de ataques 2025 cifran datos (mínimo histórico). La exfiltración + extorsión pública es el nuevo estándar. Las organizaciones deben proteger la confidencialidad, no solo la disponibilidad.</a:t>
            </a:r>
            <a:endParaRPr lang="en-US" sz="950"/>
          </a:p>
        </p:txBody>
      </p:sp>
      <p:sp>
        <p:nvSpPr>
          <p:cNvPr id="15" name="Shape 13"/>
          <p:cNvSpPr/>
          <p:nvPr/>
        </p:nvSpPr>
        <p:spPr bwMode="auto">
          <a:xfrm>
            <a:off x="274320" y="2523744"/>
            <a:ext cx="8595360" cy="658368"/>
          </a:xfrm>
          <a:prstGeom prst="rect">
            <a:avLst/>
          </a:prstGeom>
          <a:solidFill>
            <a:srgbClr val="1F2937"/>
          </a:solidFill>
        </p:spPr>
      </p:sp>
      <p:sp>
        <p:nvSpPr>
          <p:cNvPr id="16" name="Shape 14"/>
          <p:cNvSpPr/>
          <p:nvPr/>
        </p:nvSpPr>
        <p:spPr bwMode="auto">
          <a:xfrm>
            <a:off x="274320" y="2523744"/>
            <a:ext cx="54864" cy="658368"/>
          </a:xfrm>
          <a:prstGeom prst="rect">
            <a:avLst/>
          </a:prstGeom>
          <a:solidFill>
            <a:srgbClr val="FBBF24"/>
          </a:solidFill>
        </p:spPr>
      </p:sp>
      <p:sp>
        <p:nvSpPr>
          <p:cNvPr id="17" name="Text 15"/>
          <p:cNvSpPr/>
          <p:nvPr/>
        </p:nvSpPr>
        <p:spPr bwMode="auto">
          <a:xfrm>
            <a:off x="384048" y="2615184"/>
            <a:ext cx="548640" cy="411480"/>
          </a:xfrm>
          <a:prstGeom prst="rect">
            <a:avLst/>
          </a:prstGeom>
          <a:noFill/>
        </p:spPr>
        <p:txBody>
          <a:bodyPr wrap="square" rtlCol="0" anchor="ctr"/>
          <a:lstStyle/>
          <a:p>
            <a:pPr marL="0" indent="0">
              <a:buNone/>
              <a:defRPr/>
            </a:pPr>
            <a:r>
              <a:rPr lang="en-US" sz="2000" b="1">
                <a:solidFill>
                  <a:srgbClr val="FBBF24"/>
                </a:solidFill>
                <a:latin typeface="Impact" panose="020B0806030902050204"/>
                <a:ea typeface="Impact" panose="020B0806030902050204"/>
                <a:cs typeface="Impact" panose="020B0806030902050204"/>
              </a:rPr>
              <a:t>03</a:t>
            </a:r>
            <a:endParaRPr lang="en-US" sz="2000"/>
          </a:p>
        </p:txBody>
      </p:sp>
      <p:sp>
        <p:nvSpPr>
          <p:cNvPr id="18" name="Text 16"/>
          <p:cNvSpPr/>
          <p:nvPr/>
        </p:nvSpPr>
        <p:spPr bwMode="auto">
          <a:xfrm>
            <a:off x="1005840" y="2578608"/>
            <a:ext cx="4114800" cy="274320"/>
          </a:xfrm>
          <a:prstGeom prst="rect">
            <a:avLst/>
          </a:prstGeom>
          <a:noFill/>
        </p:spPr>
        <p:txBody>
          <a:bodyPr wrap="square" rtlCol="0" anchor="ctr"/>
          <a:lstStyle/>
          <a:p>
            <a:pPr marL="0" indent="0">
              <a:buNone/>
              <a:defRPr/>
            </a:pPr>
            <a:r>
              <a:rPr lang="en-US" sz="1200" b="1">
                <a:solidFill>
                  <a:srgbClr val="FBBF24"/>
                </a:solidFill>
              </a:rPr>
              <a:t>Colombia es un objetivo real y creciente</a:t>
            </a:r>
            <a:endParaRPr lang="en-US" sz="1200"/>
          </a:p>
        </p:txBody>
      </p:sp>
      <p:sp>
        <p:nvSpPr>
          <p:cNvPr id="19" name="Text 17"/>
          <p:cNvSpPr/>
          <p:nvPr/>
        </p:nvSpPr>
        <p:spPr bwMode="auto">
          <a:xfrm>
            <a:off x="1005840" y="2852928"/>
            <a:ext cx="7726680" cy="274320"/>
          </a:xfrm>
          <a:prstGeom prst="rect">
            <a:avLst/>
          </a:prstGeom>
          <a:noFill/>
        </p:spPr>
        <p:txBody>
          <a:bodyPr wrap="square" rtlCol="0" anchor="ctr"/>
          <a:lstStyle/>
          <a:p>
            <a:pPr marL="0" indent="0">
              <a:buNone/>
              <a:defRPr/>
            </a:pPr>
            <a:r>
              <a:rPr lang="en-US" sz="950">
                <a:solidFill>
                  <a:srgbClr val="D1D5DB"/>
                </a:solidFill>
              </a:rPr>
              <a:t>35,000 intentos de ransomware en el último año, top 5 en LATAM. Alertas de COLCERT sobre Medusa, Akira y Ymir activos en el país. El caso IFX (2023) demostró el impacto en infraestructura estatal.</a:t>
            </a:r>
            <a:endParaRPr lang="en-US" sz="950"/>
          </a:p>
        </p:txBody>
      </p:sp>
      <p:sp>
        <p:nvSpPr>
          <p:cNvPr id="20" name="Shape 18"/>
          <p:cNvSpPr/>
          <p:nvPr/>
        </p:nvSpPr>
        <p:spPr bwMode="auto">
          <a:xfrm>
            <a:off x="274320" y="3282696"/>
            <a:ext cx="8595360" cy="658368"/>
          </a:xfrm>
          <a:prstGeom prst="rect">
            <a:avLst/>
          </a:prstGeom>
          <a:solidFill>
            <a:srgbClr val="1F2937"/>
          </a:solidFill>
        </p:spPr>
      </p:sp>
      <p:sp>
        <p:nvSpPr>
          <p:cNvPr id="21" name="Shape 19"/>
          <p:cNvSpPr/>
          <p:nvPr/>
        </p:nvSpPr>
        <p:spPr bwMode="auto">
          <a:xfrm>
            <a:off x="274320" y="3282696"/>
            <a:ext cx="54864" cy="658368"/>
          </a:xfrm>
          <a:prstGeom prst="rect">
            <a:avLst/>
          </a:prstGeom>
          <a:solidFill>
            <a:srgbClr val="10B981"/>
          </a:solidFill>
        </p:spPr>
      </p:sp>
      <p:sp>
        <p:nvSpPr>
          <p:cNvPr id="22" name="Text 20"/>
          <p:cNvSpPr/>
          <p:nvPr/>
        </p:nvSpPr>
        <p:spPr bwMode="auto">
          <a:xfrm>
            <a:off x="384048" y="3374136"/>
            <a:ext cx="548640" cy="411480"/>
          </a:xfrm>
          <a:prstGeom prst="rect">
            <a:avLst/>
          </a:prstGeom>
          <a:noFill/>
        </p:spPr>
        <p:txBody>
          <a:bodyPr wrap="square" rtlCol="0" anchor="ctr"/>
          <a:lstStyle/>
          <a:p>
            <a:pPr marL="0" indent="0">
              <a:buNone/>
              <a:defRPr/>
            </a:pPr>
            <a:r>
              <a:rPr lang="en-US" sz="2000" b="1">
                <a:solidFill>
                  <a:srgbClr val="10B981"/>
                </a:solidFill>
                <a:latin typeface="Impact" panose="020B0806030902050204"/>
                <a:ea typeface="Impact" panose="020B0806030902050204"/>
                <a:cs typeface="Impact" panose="020B0806030902050204"/>
              </a:rPr>
              <a:t>04</a:t>
            </a:r>
            <a:endParaRPr lang="en-US" sz="2000"/>
          </a:p>
        </p:txBody>
      </p:sp>
      <p:sp>
        <p:nvSpPr>
          <p:cNvPr id="23" name="Text 21"/>
          <p:cNvSpPr/>
          <p:nvPr/>
        </p:nvSpPr>
        <p:spPr bwMode="auto">
          <a:xfrm>
            <a:off x="1005840" y="3337560"/>
            <a:ext cx="4114800" cy="274320"/>
          </a:xfrm>
          <a:prstGeom prst="rect">
            <a:avLst/>
          </a:prstGeom>
          <a:noFill/>
        </p:spPr>
        <p:txBody>
          <a:bodyPr wrap="square" rtlCol="0" anchor="ctr"/>
          <a:lstStyle/>
          <a:p>
            <a:pPr marL="0" indent="0">
              <a:buNone/>
              <a:defRPr/>
            </a:pPr>
            <a:r>
              <a:rPr lang="en-US" sz="1200" b="1">
                <a:solidFill>
                  <a:srgbClr val="10B981"/>
                </a:solidFill>
              </a:rPr>
              <a:t>Las defensas están mejorando, pero no suficiente</a:t>
            </a:r>
            <a:endParaRPr lang="en-US" sz="1200"/>
          </a:p>
        </p:txBody>
      </p:sp>
      <p:sp>
        <p:nvSpPr>
          <p:cNvPr id="24" name="Text 22"/>
          <p:cNvSpPr/>
          <p:nvPr/>
        </p:nvSpPr>
        <p:spPr bwMode="auto">
          <a:xfrm>
            <a:off x="1005840" y="3611880"/>
            <a:ext cx="7726680" cy="274320"/>
          </a:xfrm>
          <a:prstGeom prst="rect">
            <a:avLst/>
          </a:prstGeom>
          <a:noFill/>
        </p:spPr>
        <p:txBody>
          <a:bodyPr wrap="square" rtlCol="0" anchor="ctr"/>
          <a:lstStyle/>
          <a:p>
            <a:pPr marL="0" indent="0">
              <a:buNone/>
              <a:defRPr/>
            </a:pPr>
            <a:r>
              <a:rPr lang="en-US" sz="950">
                <a:solidFill>
                  <a:srgbClr val="D1D5DB"/>
                </a:solidFill>
              </a:rPr>
              <a:t>Solo el 23% pagó rescate en Q3 2025 vs 85% en 2019 — señal positiva. Sin embargo, los ataques subieron +34% anual. La inversión en EDR, ZTA y backups es urgente e imprescindible.</a:t>
            </a:r>
            <a:endParaRPr lang="en-US" sz="950"/>
          </a:p>
        </p:txBody>
      </p:sp>
      <p:sp>
        <p:nvSpPr>
          <p:cNvPr id="25" name="Shape 23"/>
          <p:cNvSpPr/>
          <p:nvPr/>
        </p:nvSpPr>
        <p:spPr bwMode="auto">
          <a:xfrm>
            <a:off x="274320" y="4041648"/>
            <a:ext cx="8595360" cy="658368"/>
          </a:xfrm>
          <a:prstGeom prst="rect">
            <a:avLst/>
          </a:prstGeom>
          <a:solidFill>
            <a:srgbClr val="1F2937"/>
          </a:solidFill>
        </p:spPr>
      </p:sp>
      <p:sp>
        <p:nvSpPr>
          <p:cNvPr id="26" name="Shape 24"/>
          <p:cNvSpPr/>
          <p:nvPr/>
        </p:nvSpPr>
        <p:spPr bwMode="auto">
          <a:xfrm>
            <a:off x="274320" y="4041648"/>
            <a:ext cx="54864" cy="658368"/>
          </a:xfrm>
          <a:prstGeom prst="rect">
            <a:avLst/>
          </a:prstGeom>
          <a:solidFill>
            <a:srgbClr val="60A5FA"/>
          </a:solidFill>
        </p:spPr>
      </p:sp>
      <p:sp>
        <p:nvSpPr>
          <p:cNvPr id="27" name="Text 25"/>
          <p:cNvSpPr/>
          <p:nvPr/>
        </p:nvSpPr>
        <p:spPr bwMode="auto">
          <a:xfrm>
            <a:off x="384048" y="4133088"/>
            <a:ext cx="548640" cy="411480"/>
          </a:xfrm>
          <a:prstGeom prst="rect">
            <a:avLst/>
          </a:prstGeom>
          <a:noFill/>
        </p:spPr>
        <p:txBody>
          <a:bodyPr wrap="square" rtlCol="0" anchor="ctr"/>
          <a:lstStyle/>
          <a:p>
            <a:pPr marL="0" indent="0">
              <a:buNone/>
              <a:defRPr/>
            </a:pPr>
            <a:r>
              <a:rPr lang="en-US" sz="2000" b="1">
                <a:solidFill>
                  <a:srgbClr val="60A5FA"/>
                </a:solidFill>
                <a:latin typeface="Impact" panose="020B0806030902050204"/>
                <a:ea typeface="Impact" panose="020B0806030902050204"/>
                <a:cs typeface="Impact" panose="020B0806030902050204"/>
              </a:rPr>
              <a:t>05</a:t>
            </a:r>
            <a:endParaRPr lang="en-US" sz="2000"/>
          </a:p>
        </p:txBody>
      </p:sp>
      <p:sp>
        <p:nvSpPr>
          <p:cNvPr id="28" name="Text 26"/>
          <p:cNvSpPr/>
          <p:nvPr/>
        </p:nvSpPr>
        <p:spPr bwMode="auto">
          <a:xfrm>
            <a:off x="1005840" y="4096512"/>
            <a:ext cx="4114800" cy="274320"/>
          </a:xfrm>
          <a:prstGeom prst="rect">
            <a:avLst/>
          </a:prstGeom>
          <a:noFill/>
        </p:spPr>
        <p:txBody>
          <a:bodyPr wrap="square" rtlCol="0" anchor="ctr"/>
          <a:lstStyle/>
          <a:p>
            <a:pPr marL="0" indent="0">
              <a:buNone/>
              <a:defRPr/>
            </a:pPr>
            <a:r>
              <a:rPr lang="en-US" sz="1200" b="1">
                <a:solidFill>
                  <a:srgbClr val="60A5FA"/>
                </a:solidFill>
              </a:rPr>
              <a:t>La IA amplifica el riesgo a ambos lados</a:t>
            </a:r>
            <a:endParaRPr lang="en-US" sz="1200"/>
          </a:p>
        </p:txBody>
      </p:sp>
      <p:sp>
        <p:nvSpPr>
          <p:cNvPr id="29" name="Text 27"/>
          <p:cNvSpPr/>
          <p:nvPr/>
        </p:nvSpPr>
        <p:spPr bwMode="auto">
          <a:xfrm>
            <a:off x="1005840" y="4370832"/>
            <a:ext cx="7726680" cy="274320"/>
          </a:xfrm>
          <a:prstGeom prst="rect">
            <a:avLst/>
          </a:prstGeom>
          <a:noFill/>
        </p:spPr>
        <p:txBody>
          <a:bodyPr wrap="square" rtlCol="0" anchor="ctr"/>
          <a:lstStyle/>
          <a:p>
            <a:pPr marL="0" indent="0">
              <a:buNone/>
              <a:defRPr/>
            </a:pPr>
            <a:r>
              <a:rPr lang="en-US" sz="950">
                <a:solidFill>
                  <a:srgbClr val="D1D5DB"/>
                </a:solidFill>
              </a:rPr>
              <a:t>Atacantes: phishing ultrapersuasivo, automatización de campañas, deepfakes (WEF: 47% de organizaciones lo señalan como preocupación #1). Defensores: detección comportamental, SOC automatizados.</a:t>
            </a:r>
            <a:endParaRPr lang="en-US" sz="9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bg>
      <p:bgPr>
        <a:solidFill>
          <a:srgbClr val="0D1117"/>
        </a:solidFill>
        <a:effectLst/>
      </p:bgPr>
    </p:bg>
    <p:spTree>
      <p:nvGrpSpPr>
        <p:cNvPr id="1" name=""/>
        <p:cNvGrpSpPr/>
        <p:nvPr/>
      </p:nvGrpSpPr>
      <p:grpSpPr bwMode="auto">
        <a:xfrm>
          <a:off x="0" y="0"/>
          <a:ext cx="0" cy="0"/>
          <a:chOff x="0" y="0"/>
          <a:chExt cx="0" cy="0"/>
        </a:xfrm>
      </p:grpSpPr>
      <p:sp>
        <p:nvSpPr>
          <p:cNvPr id="2" name="Shape 0"/>
          <p:cNvSpPr/>
          <p:nvPr/>
        </p:nvSpPr>
        <p:spPr bwMode="auto">
          <a:xfrm>
            <a:off x="0" y="0"/>
            <a:ext cx="9144000" cy="73152"/>
          </a:xfrm>
          <a:prstGeom prst="rect">
            <a:avLst/>
          </a:prstGeom>
          <a:solidFill>
            <a:srgbClr val="EF4444"/>
          </a:solidFill>
        </p:spPr>
      </p:sp>
      <p:sp>
        <p:nvSpPr>
          <p:cNvPr id="3" name="Shape 1"/>
          <p:cNvSpPr/>
          <p:nvPr/>
        </p:nvSpPr>
        <p:spPr bwMode="auto">
          <a:xfrm>
            <a:off x="0" y="73152"/>
            <a:ext cx="9144000" cy="777240"/>
          </a:xfrm>
          <a:prstGeom prst="rect">
            <a:avLst/>
          </a:prstGeom>
          <a:solidFill>
            <a:srgbClr val="161B22"/>
          </a:solidFill>
        </p:spPr>
      </p:sp>
      <p:sp>
        <p:nvSpPr>
          <p:cNvPr id="4" name="Text 2"/>
          <p:cNvSpPr/>
          <p:nvPr/>
        </p:nvSpPr>
        <p:spPr bwMode="auto">
          <a:xfrm>
            <a:off x="365760" y="91440"/>
            <a:ext cx="8412480" cy="731520"/>
          </a:xfrm>
          <a:prstGeom prst="rect">
            <a:avLst/>
          </a:prstGeom>
          <a:noFill/>
        </p:spPr>
        <p:txBody>
          <a:bodyPr wrap="square" rtlCol="0" anchor="ctr"/>
          <a:lstStyle/>
          <a:p>
            <a:pPr marL="0" indent="0">
              <a:buNone/>
              <a:defRPr/>
            </a:pPr>
            <a:r>
              <a:rPr lang="en-US" sz="2200" b="1">
                <a:solidFill>
                  <a:srgbClr val="FFFFFF"/>
                </a:solidFill>
              </a:rPr>
              <a:t>📚  FUENTES Y BIBLIOGRAFÍA</a:t>
            </a:r>
            <a:endParaRPr lang="en-US" sz="2200"/>
          </a:p>
        </p:txBody>
      </p:sp>
      <p:sp>
        <p:nvSpPr>
          <p:cNvPr id="5" name="Text 3"/>
          <p:cNvSpPr/>
          <p:nvPr/>
        </p:nvSpPr>
        <p:spPr bwMode="auto">
          <a:xfrm>
            <a:off x="365760" y="1005840"/>
            <a:ext cx="8412480" cy="256032"/>
          </a:xfrm>
          <a:prstGeom prst="rect">
            <a:avLst/>
          </a:prstGeom>
          <a:noFill/>
        </p:spPr>
        <p:txBody>
          <a:bodyPr wrap="square" rtlCol="0" anchor="ctr"/>
          <a:lstStyle/>
          <a:p>
            <a:pPr marL="0" indent="0">
              <a:buNone/>
              <a:defRPr/>
            </a:pPr>
            <a:r>
              <a:rPr lang="en-US" sz="1000" b="1" spc="100">
                <a:solidFill>
                  <a:srgbClr val="FF6B35"/>
                </a:solidFill>
              </a:rPr>
              <a:t>ARTÍCULOS ACADÉMICOS</a:t>
            </a:r>
            <a:endParaRPr lang="en-US" sz="1000"/>
          </a:p>
        </p:txBody>
      </p:sp>
      <p:sp>
        <p:nvSpPr>
          <p:cNvPr id="6" name="Shape 4"/>
          <p:cNvSpPr/>
          <p:nvPr/>
        </p:nvSpPr>
        <p:spPr bwMode="auto">
          <a:xfrm>
            <a:off x="274320" y="1325880"/>
            <a:ext cx="8595360" cy="475488"/>
          </a:xfrm>
          <a:prstGeom prst="rect">
            <a:avLst/>
          </a:prstGeom>
          <a:solidFill>
            <a:srgbClr val="1F2937"/>
          </a:solidFill>
          <a:ln w="6350">
            <a:solidFill>
              <a:srgbClr val="FF6B35"/>
            </a:solidFill>
            <a:prstDash val="solid"/>
          </a:ln>
        </p:spPr>
      </p:sp>
      <p:sp>
        <p:nvSpPr>
          <p:cNvPr id="7" name="Shape 5"/>
          <p:cNvSpPr/>
          <p:nvPr/>
        </p:nvSpPr>
        <p:spPr bwMode="auto">
          <a:xfrm>
            <a:off x="274320" y="1325880"/>
            <a:ext cx="45720" cy="475488"/>
          </a:xfrm>
          <a:prstGeom prst="rect">
            <a:avLst/>
          </a:prstGeom>
          <a:solidFill>
            <a:srgbClr val="FF6B35"/>
          </a:solidFill>
        </p:spPr>
      </p:sp>
      <p:sp>
        <p:nvSpPr>
          <p:cNvPr id="8" name="Text 6"/>
          <p:cNvSpPr/>
          <p:nvPr/>
        </p:nvSpPr>
        <p:spPr bwMode="auto">
          <a:xfrm>
            <a:off x="457200" y="1380744"/>
            <a:ext cx="8275320" cy="384048"/>
          </a:xfrm>
          <a:prstGeom prst="rect">
            <a:avLst/>
          </a:prstGeom>
          <a:noFill/>
        </p:spPr>
        <p:txBody>
          <a:bodyPr wrap="square" rtlCol="0" anchor="ctr"/>
          <a:lstStyle/>
          <a:p>
            <a:pPr marL="0" indent="0">
              <a:buNone/>
              <a:defRPr/>
            </a:pPr>
            <a:r>
              <a:rPr lang="en-US" sz="900">
                <a:solidFill>
                  <a:srgbClr val="D1D5DB"/>
                </a:solidFill>
              </a:rPr>
              <a:t>[1]  Oz, H., Aris, A., Levi, A., &amp; Uluagac, A. S. (2022). A Survey on Ransomware: Evolution, Taxonomy, and Defense Solutions. ACM Computing Surveys, 54(11s), 1–37. https://doi.org/10.1145/3514229</a:t>
            </a:r>
            <a:endParaRPr lang="en-US" sz="900"/>
          </a:p>
        </p:txBody>
      </p:sp>
      <p:sp>
        <p:nvSpPr>
          <p:cNvPr id="9" name="Shape 7"/>
          <p:cNvSpPr/>
          <p:nvPr/>
        </p:nvSpPr>
        <p:spPr bwMode="auto">
          <a:xfrm>
            <a:off x="274320" y="1874520"/>
            <a:ext cx="8595360" cy="475488"/>
          </a:xfrm>
          <a:prstGeom prst="rect">
            <a:avLst/>
          </a:prstGeom>
          <a:solidFill>
            <a:srgbClr val="1F2937"/>
          </a:solidFill>
          <a:ln w="6350">
            <a:solidFill>
              <a:srgbClr val="FF6B35"/>
            </a:solidFill>
            <a:prstDash val="solid"/>
          </a:ln>
        </p:spPr>
      </p:sp>
      <p:sp>
        <p:nvSpPr>
          <p:cNvPr id="10" name="Shape 8"/>
          <p:cNvSpPr/>
          <p:nvPr/>
        </p:nvSpPr>
        <p:spPr bwMode="auto">
          <a:xfrm>
            <a:off x="274320" y="1874520"/>
            <a:ext cx="45720" cy="475488"/>
          </a:xfrm>
          <a:prstGeom prst="rect">
            <a:avLst/>
          </a:prstGeom>
          <a:solidFill>
            <a:srgbClr val="FF6B35"/>
          </a:solidFill>
        </p:spPr>
      </p:sp>
      <p:sp>
        <p:nvSpPr>
          <p:cNvPr id="11" name="Text 9"/>
          <p:cNvSpPr/>
          <p:nvPr/>
        </p:nvSpPr>
        <p:spPr bwMode="auto">
          <a:xfrm>
            <a:off x="457200" y="1929384"/>
            <a:ext cx="8275320" cy="384048"/>
          </a:xfrm>
          <a:prstGeom prst="rect">
            <a:avLst/>
          </a:prstGeom>
          <a:noFill/>
        </p:spPr>
        <p:txBody>
          <a:bodyPr wrap="square" rtlCol="0" anchor="ctr"/>
          <a:lstStyle/>
          <a:p>
            <a:pPr marL="0" indent="0">
              <a:buNone/>
              <a:defRPr/>
            </a:pPr>
            <a:r>
              <a:rPr lang="en-US" sz="900">
                <a:solidFill>
                  <a:srgbClr val="D1D5DB"/>
                </a:solidFill>
              </a:rPr>
              <a:t>[2]  Connolly, L. Y., &amp; Wall, D. S. (2019). The rise of crypto-ransomware in a changing cybercrime landscape. Computers &amp; Security, 87, 101568. https://doi.org/10.1016/j.cose.2019.101568</a:t>
            </a:r>
            <a:endParaRPr lang="en-US" sz="900"/>
          </a:p>
        </p:txBody>
      </p:sp>
      <p:sp>
        <p:nvSpPr>
          <p:cNvPr id="12" name="Shape 10"/>
          <p:cNvSpPr/>
          <p:nvPr/>
        </p:nvSpPr>
        <p:spPr bwMode="auto">
          <a:xfrm>
            <a:off x="274320" y="2423160"/>
            <a:ext cx="8595360" cy="475488"/>
          </a:xfrm>
          <a:prstGeom prst="rect">
            <a:avLst/>
          </a:prstGeom>
          <a:solidFill>
            <a:srgbClr val="1F2937"/>
          </a:solidFill>
          <a:ln w="6350">
            <a:solidFill>
              <a:srgbClr val="FF6B35"/>
            </a:solidFill>
            <a:prstDash val="solid"/>
          </a:ln>
        </p:spPr>
      </p:sp>
      <p:sp>
        <p:nvSpPr>
          <p:cNvPr id="13" name="Shape 11"/>
          <p:cNvSpPr/>
          <p:nvPr/>
        </p:nvSpPr>
        <p:spPr bwMode="auto">
          <a:xfrm>
            <a:off x="274320" y="2423160"/>
            <a:ext cx="45720" cy="475488"/>
          </a:xfrm>
          <a:prstGeom prst="rect">
            <a:avLst/>
          </a:prstGeom>
          <a:solidFill>
            <a:srgbClr val="FF6B35"/>
          </a:solidFill>
        </p:spPr>
      </p:sp>
      <p:sp>
        <p:nvSpPr>
          <p:cNvPr id="14" name="Text 12"/>
          <p:cNvSpPr/>
          <p:nvPr/>
        </p:nvSpPr>
        <p:spPr bwMode="auto">
          <a:xfrm>
            <a:off x="457200" y="2478024"/>
            <a:ext cx="8275320" cy="384048"/>
          </a:xfrm>
          <a:prstGeom prst="rect">
            <a:avLst/>
          </a:prstGeom>
          <a:noFill/>
        </p:spPr>
        <p:txBody>
          <a:bodyPr wrap="square" rtlCol="0" anchor="ctr"/>
          <a:lstStyle/>
          <a:p>
            <a:pPr marL="0" indent="0">
              <a:buNone/>
              <a:defRPr/>
            </a:pPr>
            <a:r>
              <a:rPr lang="en-US" sz="900">
                <a:solidFill>
                  <a:srgbClr val="D1D5DB"/>
                </a:solidFill>
              </a:rPr>
              <a:t>[3]  Dargahi, T. et al. (2019). A Cyber-Kill-Chain based taxonomy of crypto-ransomware features. Journal of Computer Virology and Hacking Techniques, 15(4), 277–305. https://doi.org/10.1007/s11416-019-00338-7</a:t>
            </a:r>
            <a:endParaRPr lang="en-US" sz="900"/>
          </a:p>
        </p:txBody>
      </p:sp>
      <p:sp>
        <p:nvSpPr>
          <p:cNvPr id="15" name="Text 13"/>
          <p:cNvSpPr/>
          <p:nvPr/>
        </p:nvSpPr>
        <p:spPr bwMode="auto">
          <a:xfrm>
            <a:off x="365760" y="3063240"/>
            <a:ext cx="8412480" cy="256032"/>
          </a:xfrm>
          <a:prstGeom prst="rect">
            <a:avLst/>
          </a:prstGeom>
          <a:noFill/>
        </p:spPr>
        <p:txBody>
          <a:bodyPr wrap="square" rtlCol="0" anchor="ctr"/>
          <a:lstStyle/>
          <a:p>
            <a:pPr marL="0" indent="0">
              <a:buNone/>
              <a:defRPr/>
            </a:pPr>
            <a:r>
              <a:rPr lang="en-US" sz="1000" b="1" spc="100">
                <a:solidFill>
                  <a:srgbClr val="60A5FA"/>
                </a:solidFill>
              </a:rPr>
              <a:t>INFORMES Y FUENTES INSTITUCIONALES 2024–2025</a:t>
            </a:r>
            <a:endParaRPr lang="en-US" sz="1000"/>
          </a:p>
        </p:txBody>
      </p:sp>
      <p:sp>
        <p:nvSpPr>
          <p:cNvPr id="16" name="Text 14"/>
          <p:cNvSpPr/>
          <p:nvPr/>
        </p:nvSpPr>
        <p:spPr bwMode="auto">
          <a:xfrm>
            <a:off x="457200" y="3383280"/>
            <a:ext cx="8321039" cy="219456"/>
          </a:xfrm>
          <a:prstGeom prst="rect">
            <a:avLst/>
          </a:prstGeom>
          <a:noFill/>
        </p:spPr>
        <p:txBody>
          <a:bodyPr wrap="square" rtlCol="0" anchor="ctr"/>
          <a:lstStyle/>
          <a:p>
            <a:pPr marL="0" indent="0">
              <a:buNone/>
              <a:defRPr/>
            </a:pPr>
            <a:r>
              <a:rPr lang="en-US" sz="850">
                <a:solidFill>
                  <a:srgbClr val="D1D5DB"/>
                </a:solidFill>
              </a:rPr>
              <a:t>[4]  Sophos. (2025). The State of Ransomware 2025. Sophos Whitepaper. https://www.sophos.com/en-us/content/state-of-ransomware</a:t>
            </a:r>
            <a:endParaRPr lang="en-US" sz="850"/>
          </a:p>
        </p:txBody>
      </p:sp>
      <p:sp>
        <p:nvSpPr>
          <p:cNvPr id="17" name="Text 15"/>
          <p:cNvSpPr/>
          <p:nvPr/>
        </p:nvSpPr>
        <p:spPr bwMode="auto">
          <a:xfrm>
            <a:off x="457200" y="3639312"/>
            <a:ext cx="8321039" cy="219456"/>
          </a:xfrm>
          <a:prstGeom prst="rect">
            <a:avLst/>
          </a:prstGeom>
          <a:noFill/>
        </p:spPr>
        <p:txBody>
          <a:bodyPr wrap="square" rtlCol="0" anchor="ctr"/>
          <a:lstStyle/>
          <a:p>
            <a:pPr marL="0" indent="0">
              <a:buNone/>
              <a:defRPr/>
            </a:pPr>
            <a:r>
              <a:rPr lang="en-US" sz="850">
                <a:solidFill>
                  <a:srgbClr val="D1D5DB"/>
                </a:solidFill>
              </a:rPr>
              <a:t>[5]  CTIIC / DNI. (2025, febrero). Worldwide Ransomware 2024: Increasing Rate of Attacks. https://www.dni.gov/files/CTIIC/documents/products/Worldwide_Ransomware_2024.pdf</a:t>
            </a:r>
            <a:endParaRPr lang="en-US" sz="850"/>
          </a:p>
        </p:txBody>
      </p:sp>
      <p:sp>
        <p:nvSpPr>
          <p:cNvPr id="18" name="Text 16"/>
          <p:cNvSpPr/>
          <p:nvPr/>
        </p:nvSpPr>
        <p:spPr bwMode="auto">
          <a:xfrm>
            <a:off x="457200" y="3895343"/>
            <a:ext cx="8321039" cy="219456"/>
          </a:xfrm>
          <a:prstGeom prst="rect">
            <a:avLst/>
          </a:prstGeom>
          <a:noFill/>
        </p:spPr>
        <p:txBody>
          <a:bodyPr wrap="square" rtlCol="0" anchor="ctr"/>
          <a:lstStyle/>
          <a:p>
            <a:pPr marL="0" indent="0">
              <a:buNone/>
              <a:defRPr/>
            </a:pPr>
            <a:r>
              <a:rPr lang="en-US" sz="850">
                <a:solidFill>
                  <a:srgbClr val="D1D5DB"/>
                </a:solidFill>
              </a:rPr>
              <a:t>[6]  Check Point Research. (2025, noviembre). The State of Ransomware Q3 2025. https://research.checkpoint.com/2025/the-state-of-ransomware-q3-2025/</a:t>
            </a:r>
            <a:endParaRPr lang="en-US" sz="850"/>
          </a:p>
        </p:txBody>
      </p:sp>
      <p:sp>
        <p:nvSpPr>
          <p:cNvPr id="19" name="Text 17"/>
          <p:cNvSpPr/>
          <p:nvPr/>
        </p:nvSpPr>
        <p:spPr bwMode="auto">
          <a:xfrm>
            <a:off x="457200" y="4151376"/>
            <a:ext cx="8321039" cy="219456"/>
          </a:xfrm>
          <a:prstGeom prst="rect">
            <a:avLst/>
          </a:prstGeom>
          <a:noFill/>
        </p:spPr>
        <p:txBody>
          <a:bodyPr wrap="square" rtlCol="0" anchor="ctr"/>
          <a:lstStyle/>
          <a:p>
            <a:pPr marL="0" indent="0">
              <a:buNone/>
              <a:defRPr/>
            </a:pPr>
            <a:r>
              <a:rPr lang="en-US" sz="850">
                <a:solidFill>
                  <a:srgbClr val="D1D5DB"/>
                </a:solidFill>
              </a:rPr>
              <a:t>[7]  Kaspersky. (2025). Panorama de Amenazas Latinoamérica 2025. https://latam.kaspersky.com — Colombia: Top 5 con 35,000 intentos.</a:t>
            </a:r>
            <a:endParaRPr lang="en-US" sz="850"/>
          </a:p>
        </p:txBody>
      </p:sp>
      <p:sp>
        <p:nvSpPr>
          <p:cNvPr id="20" name="Text 18"/>
          <p:cNvSpPr/>
          <p:nvPr/>
        </p:nvSpPr>
        <p:spPr bwMode="auto">
          <a:xfrm>
            <a:off x="457200" y="4407408"/>
            <a:ext cx="8321039" cy="219456"/>
          </a:xfrm>
          <a:prstGeom prst="rect">
            <a:avLst/>
          </a:prstGeom>
          <a:noFill/>
        </p:spPr>
        <p:txBody>
          <a:bodyPr wrap="square" rtlCol="0" anchor="ctr"/>
          <a:lstStyle/>
          <a:p>
            <a:pPr marL="0" indent="0">
              <a:buNone/>
              <a:defRPr/>
            </a:pPr>
            <a:r>
              <a:rPr lang="en-US" sz="850">
                <a:solidFill>
                  <a:srgbClr val="D1D5DB"/>
                </a:solidFill>
              </a:rPr>
              <a:t>[8]  COLCERT. (2025). Boletines de alertas ransomware: Medusa, Phobos, Akira, Ymir. https://www.colcert.gov.co — MinTIC Colombia.</a:t>
            </a:r>
            <a:endParaRPr lang="en-US" sz="850"/>
          </a:p>
        </p:txBody>
      </p:sp>
      <p:sp>
        <p:nvSpPr>
          <p:cNvPr id="21" name="Text 19"/>
          <p:cNvSpPr/>
          <p:nvPr/>
        </p:nvSpPr>
        <p:spPr bwMode="auto">
          <a:xfrm>
            <a:off x="457200" y="4663440"/>
            <a:ext cx="8321039" cy="219456"/>
          </a:xfrm>
          <a:prstGeom prst="rect">
            <a:avLst/>
          </a:prstGeom>
          <a:noFill/>
        </p:spPr>
        <p:txBody>
          <a:bodyPr wrap="square" rtlCol="0" anchor="ctr"/>
          <a:lstStyle/>
          <a:p>
            <a:pPr marL="0" indent="0">
              <a:buNone/>
              <a:defRPr/>
            </a:pPr>
            <a:r>
              <a:rPr lang="en-US" sz="850">
                <a:solidFill>
                  <a:srgbClr val="D1D5DB"/>
                </a:solidFill>
              </a:rPr>
              <a:t>[9]  Infosecurity Magazine. (2025, diciembre). Top Ransomware Trends of 2025. https://www.infosecurity-magazine.com</a:t>
            </a:r>
            <a:endParaRPr lang="en-US" sz="8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tags/tag1.xml><?xml version="1.0" encoding="utf-8"?>
<p:tagLst xmlns:p="http://schemas.openxmlformats.org/presentationml/2006/main">
  <p:tag name="KSO_WM_DIAGRAM_VIRTUALLY_FRAME" val="{&quot;height&quot;:245.51999999999998,&quot;left&quot;:14.4,&quot;top&quot;:80.64,&quot;width&quot;:658.8}"/>
</p:tagLst>
</file>

<file path=ppt/tags/tag2.xml><?xml version="1.0" encoding="utf-8"?>
<p:tagLst xmlns:p="http://schemas.openxmlformats.org/presentationml/2006/main">
  <p:tag name="KSO_WM_DIAGRAM_VIRTUALLY_FRAME" val="{&quot;height&quot;:245.51999999999998,&quot;left&quot;:14.4,&quot;top&quot;:80.64,&quot;width&quot;:658.8}"/>
</p:tagLst>
</file>

<file path=ppt/tags/tag3.xml><?xml version="1.0" encoding="utf-8"?>
<p:tagLst xmlns:p="http://schemas.openxmlformats.org/presentationml/2006/main">
  <p:tag name="KSO_WM_DIAGRAM_VIRTUALLY_FRAME" val="{&quot;height&quot;:245.51999999999998,&quot;left&quot;:14.4,&quot;top&quot;:80.64,&quot;width&quot;:658.8}"/>
</p:tagLst>
</file>

<file path=ppt/tags/tag4.xml><?xml version="1.0" encoding="utf-8"?>
<p:tagLst xmlns:p="http://schemas.openxmlformats.org/presentationml/2006/main">
  <p:tag name="KSO_WM_DIAGRAM_VIRTUALLY_FRAME" val="{&quot;height&quot;:245.51999999999998,&quot;left&quot;:14.4,&quot;top&quot;:80.64,&quot;width&quot;:658.8}"/>
</p:tagLst>
</file>

<file path=ppt/tags/tag5.xml><?xml version="1.0" encoding="utf-8"?>
<p:tagLst xmlns:p="http://schemas.openxmlformats.org/presentationml/2006/main">
  <p:tag name="KSO_WM_DIAGRAM_VIRTUALLY_FRAME" val="{&quot;height&quot;:245.51999999999998,&quot;left&quot;:14.4,&quot;top&quot;:80.64,&quot;width&quot;:658.8}"/>
</p:tagLst>
</file>

<file path=ppt/tags/tag6.xml><?xml version="1.0" encoding="utf-8"?>
<p:tagLst xmlns:p="http://schemas.openxmlformats.org/presentationml/2006/main">
  <p:tag name="KSO_WM_DIAGRAM_VIRTUALLY_FRAME" val="{&quot;height&quot;:245.51999999999998,&quot;left&quot;:14.4,&quot;top&quot;:80.64,&quot;width&quot;:658.8}"/>
</p:tagLst>
</file>

<file path=ppt/tags/tag7.xml><?xml version="1.0" encoding="utf-8"?>
<p:tagLst xmlns:p="http://schemas.openxmlformats.org/presentationml/2006/main">
  <p:tag name="KSO_WM_DIAGRAM_VIRTUALLY_FRAME" val="{&quot;height&quot;:245.51999999999998,&quot;left&quot;:14.4,&quot;top&quot;:80.64,&quot;width&quot;:658.8}"/>
</p:tagLst>
</file>

<file path=ppt/tags/tag8.xml><?xml version="1.0" encoding="utf-8"?>
<p:tagLst xmlns:p="http://schemas.openxmlformats.org/presentationml/2006/main">
  <p:tag name="KSO_WM_DIAGRAM_VIRTUALLY_FRAME" val="{&quot;height&quot;:245.51999999999998,&quot;left&quot;:14.4,&quot;top&quot;:80.64,&quot;width&quot;:658.8}"/>
</p:tagLst>
</file>

<file path=ppt/tags/tag9.xml><?xml version="1.0" encoding="utf-8"?>
<p:tagLst xmlns:p="http://schemas.openxmlformats.org/presentationml/2006/main">
  <p:tag name="KSO_WM_DIAGRAM_VIRTUALLY_FRAME" val="{&quot;height&quot;:245.51999999999998,&quot;left&quot;:14.4,&quot;top&quot;:80.64,&quot;width&quot;:658.8}"/>
</p:tagLst>
</file>

<file path=ppt/tags/tag10.xml><?xml version="1.0" encoding="utf-8"?>
<p:tagLst xmlns:p="http://schemas.openxmlformats.org/presentationml/2006/main">
  <p:tag name="KSO_WM_DIAGRAM_VIRTUALLY_FRAME" val="{&quot;height&quot;:245.51999999999998,&quot;left&quot;:14.4,&quot;top&quot;:80.64,&quot;width&quot;:658.8}"/>
</p:tagLst>
</file>

<file path=ppt/tags/tag11.xml><?xml version="1.0" encoding="utf-8"?>
<p:tagLst xmlns:p="http://schemas.openxmlformats.org/presentationml/2006/main">
  <p:tag name="KSO_WM_DIAGRAM_VIRTUALLY_FRAME" val="{&quot;height&quot;:245.51999999999998,&quot;left&quot;:14.4,&quot;top&quot;:80.64,&quot;width&quot;:658.8}"/>
</p:tagLst>
</file>

<file path=ppt/tags/tag12.xml><?xml version="1.0" encoding="utf-8"?>
<p:tagLst xmlns:p="http://schemas.openxmlformats.org/presentationml/2006/main">
  <p:tag name="KSO_WM_DIAGRAM_VIRTUALLY_FRAME" val="{&quot;height&quot;:245.51999999999998,&quot;left&quot;:14.4,&quot;top&quot;:80.64,&quot;width&quot;:658.8}"/>
</p:tagLst>
</file>

<file path=ppt/tags/tag13.xml><?xml version="1.0" encoding="utf-8"?>
<p:tagLst xmlns:p="http://schemas.openxmlformats.org/presentationml/2006/main">
  <p:tag name="KSO_WM_DIAGRAM_VIRTUALLY_FRAME" val="{&quot;height&quot;:245.51999999999998,&quot;left&quot;:14.4,&quot;top&quot;:80.64,&quot;width&quot;:658.8}"/>
</p:tagLst>
</file>

<file path=ppt/tags/tag14.xml><?xml version="1.0" encoding="utf-8"?>
<p:tagLst xmlns:p="http://schemas.openxmlformats.org/presentationml/2006/main">
  <p:tag name="KSO_WM_DIAGRAM_VIRTUALLY_FRAME" val="{&quot;height&quot;:245.51999999999998,&quot;left&quot;:14.4,&quot;top&quot;:80.64,&quot;width&quot;:658.8}"/>
</p:tagLst>
</file>

<file path=ppt/tags/tag15.xml><?xml version="1.0" encoding="utf-8"?>
<p:tagLst xmlns:p="http://schemas.openxmlformats.org/presentationml/2006/main">
  <p:tag name="KSO_WM_DIAGRAM_VIRTUALLY_FRAME" val="{&quot;height&quot;:245.51999999999998,&quot;left&quot;:14.4,&quot;top&quot;:80.64,&quot;width&quot;:658.8}"/>
</p:tagLst>
</file>

<file path=ppt/tags/tag16.xml><?xml version="1.0" encoding="utf-8"?>
<p:tagLst xmlns:p="http://schemas.openxmlformats.org/presentationml/2006/main">
  <p:tag name="KSO_WM_DIAGRAM_VIRTUALLY_FRAME" val="{&quot;height&quot;:245.51999999999998,&quot;left&quot;:14.4,&quot;top&quot;:80.64,&quot;width&quot;:658.8}"/>
</p:tagLst>
</file>

<file path=ppt/tags/tag17.xml><?xml version="1.0" encoding="utf-8"?>
<p:tagLst xmlns:p="http://schemas.openxmlformats.org/presentationml/2006/main">
  <p:tag name="KSO_WM_DIAGRAM_VIRTUALLY_FRAME" val="{&quot;height&quot;:245.51999999999998,&quot;left&quot;:14.4,&quot;top&quot;:80.64,&quot;width&quot;:658.8}"/>
</p:tagLst>
</file>

<file path=ppt/tags/tag18.xml><?xml version="1.0" encoding="utf-8"?>
<p:tagLst xmlns:p="http://schemas.openxmlformats.org/presentationml/2006/main">
  <p:tag name="KSO_WM_DIAGRAM_VIRTUALLY_FRAME" val="{&quot;height&quot;:245.51999999999998,&quot;left&quot;:14.4,&quot;top&quot;:80.64,&quot;width&quot;:658.8}"/>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Lines">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Times New Roman">
      <a:majorFont>
        <a:latin typeface="Times New Roman"/>
        <a:ea typeface="Arial"/>
        <a:cs typeface="Arial"/>
      </a:majorFont>
      <a:minorFont>
        <a:latin typeface="Times New Roman"/>
        <a:ea typeface="Arial"/>
        <a:cs typeface="Arial"/>
      </a:minorFont>
    </a:fontScheme>
    <a:fmtScheme name="Hardcover">
      <a:fillStyleLst>
        <a:solidFill>
          <a:schemeClr val="phClr"/>
        </a:solidFill>
        <a:solidFill>
          <a:schemeClr val="phClr">
            <a:tint val="68000"/>
            <a:shade val="94000"/>
            <a:satMod val="300000"/>
            <a:lumMod val="110000"/>
          </a:schemeClr>
        </a:solidFill>
        <a:gradFill>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tint val="96000"/>
            <a:lumMod val="110000"/>
          </a:schemeClr>
        </a:solidFill>
        <a:blipFill>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a:blip xmlns:r="http://schemas.openxmlformats.org/officeDocument/2006/relationships" r:embed="rId1">
            <a:duotone>
              <a:schemeClr val="phClr">
                <a:shade val="50000"/>
                <a:satMod val="340000"/>
                <a:lumMod val="40000"/>
              </a:schemeClr>
              <a:schemeClr val="phClr">
                <a:tint val="92000"/>
                <a:shade val="94000"/>
                <a:hueMod val="110000"/>
                <a:satMod val="236000"/>
                <a:lumMod val="120000"/>
              </a:schemeClr>
            </a:duotone>
          </a:blip>
          <a:stretch>
            <a:fillRect/>
          </a:stretch>
        </a:blipFill>
      </a:bgFillStyleLst>
    </a:fmtScheme>
  </a:themeElements>
  <a:objectDefaults>
    <a:spDef>
      <a:spPr bwMode="auto"/>
      <a:bodyPr/>
      <a:lstStyle/>
    </a:spDef>
  </a:objectDefaults>
  <a:extraClrSchemeLst>
    <a:extraClrScheme>
      <a:clrScheme name="Lines">
        <a:dk1>
          <a:sysClr val="windowText" lastClr="000000"/>
        </a:dk1>
        <a:lt1>
          <a:srgbClr val="D4735E"/>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330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11957</Words>
  <Application>WPS Presentation</Application>
  <PresentationFormat>On-screen Show (4:3)</PresentationFormat>
  <Paragraphs>468</Paragraphs>
  <Slides>14</Slides>
  <Notes>13</Notes>
  <HiddenSlides>0</HiddenSlides>
  <MMClips>2</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SimSun</vt:lpstr>
      <vt:lpstr>Wingdings</vt:lpstr>
      <vt:lpstr>Arial</vt:lpstr>
      <vt:lpstr>Times New Roman</vt:lpstr>
      <vt:lpstr>Wingdings</vt:lpstr>
      <vt:lpstr>Impact</vt:lpstr>
      <vt:lpstr>Microsoft YaHei</vt:lpstr>
      <vt:lpstr>Arial Unicode MS</vt:lpstr>
      <vt:lpstr>Calibri</vt:lpstr>
      <vt:lpstr>Times New Roman</vt:lpstr>
      <vt:lpstr>Lines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Act2 Ransomware 2025</dc:title>
  <dc:creator>PptxGenJS</dc:creator>
  <dc:subject>PptxGenJS Presentation</dc:subject>
  <cp:lastModifiedBy>Usuario</cp:lastModifiedBy>
  <cp:revision>6</cp:revision>
  <dcterms:created xsi:type="dcterms:W3CDTF">2026-02-28T23:50:00Z</dcterms:created>
  <dcterms:modified xsi:type="dcterms:W3CDTF">2026-03-04T18:06:02Z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23EA9C4587E74C48A405A6A7CC5DAD32_13</vt:lpwstr>
  </property>
  <property fmtid="{D5CDD505-2E9C-101B-9397-08002B2CF9AE}" pid="3" name="KSOProductBuildVer">
    <vt:lpwstr>2058-12.2.0.23196</vt:lpwstr>
  </property>
</Properties>
</file>